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78" r:id="rId9"/>
    <p:sldId id="263" r:id="rId10"/>
    <p:sldId id="279" r:id="rId11"/>
    <p:sldId id="264" r:id="rId12"/>
    <p:sldId id="265" r:id="rId13"/>
    <p:sldId id="266" r:id="rId14"/>
    <p:sldId id="267" r:id="rId15"/>
    <p:sldId id="268" r:id="rId16"/>
    <p:sldId id="280" r:id="rId17"/>
    <p:sldId id="270" r:id="rId18"/>
    <p:sldId id="281" r:id="rId19"/>
    <p:sldId id="271" r:id="rId20"/>
    <p:sldId id="272" r:id="rId21"/>
    <p:sldId id="273" r:id="rId22"/>
    <p:sldId id="274" r:id="rId23"/>
    <p:sldId id="275" r:id="rId24"/>
    <p:sldId id="282" r:id="rId25"/>
    <p:sldId id="277" r:id="rId26"/>
    <p:sldId id="283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notesSlide" Target="../notesSlides/notesSlide13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notesSlide" Target="../notesSlides/notesSlide14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29489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0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4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0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0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0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0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0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400"/>
            <a:ext cx="324286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26"/>
            <a:ext cx="380193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6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53"/>
            <a:ext cx="1053306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93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619125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20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5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3848100" y="5656130"/>
            <a:ext cx="2013479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07155" y="5750560"/>
            <a:ext cx="220853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EXPRESSION METRICS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94929" y="5656130"/>
            <a:ext cx="1422268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4570" y="5750560"/>
            <a:ext cx="147002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 ALERTS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50547" y="5656130"/>
            <a:ext cx="2453084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9840" y="5750560"/>
            <a:ext cx="275717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PARENT UPGRADE REQUEST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4442911" y="8083550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504824" y="8083550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66736" y="8083550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5700" y="1752600"/>
            <a:ext cx="2022475" cy="3295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3733800" y="2914015"/>
            <a:ext cx="213550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12856765" y="2945342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542665" cy="3632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0"/>
            <a:ext cx="2324100" cy="582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9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9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9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9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9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9"/>
            <a:ext cx="4512945" cy="12038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Enrolled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Oct 2025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the parents’ request. Decision rationale: reduce night-time burden, offset the mother’s overtime, and support the child’s social expression.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848100" y="5102754"/>
            <a:ext cx="16933" cy="887412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19" name="Text 17"/>
          <p:cNvSpPr/>
          <p:nvPr/>
        </p:nvSpPr>
        <p:spPr>
          <a:xfrm>
            <a:off x="4036483" y="5145088"/>
            <a:ext cx="4311552" cy="5307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i="1" kern="0" spc="24" dirty="0">
                <a:solidFill>
                  <a:srgbClr val="97B2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“When we’re not home, at least someone’s here to talk to her.”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4036483" y="5776913"/>
            <a:ext cx="4717203" cy="2513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MOTHER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82050" y="3784599"/>
            <a:ext cx="3367643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IMPROVEMENT SINCE ENROLLMENT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82050" y="5151967"/>
            <a:ext cx="533400" cy="6477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23" name="Shape 21"/>
          <p:cNvSpPr/>
          <p:nvPr/>
        </p:nvSpPr>
        <p:spPr>
          <a:xfrm>
            <a:off x="8782050" y="5151967"/>
            <a:ext cx="5334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24" name="Text 22"/>
          <p:cNvSpPr/>
          <p:nvPr/>
        </p:nvSpPr>
        <p:spPr>
          <a:xfrm>
            <a:off x="8900186" y="5894917"/>
            <a:ext cx="373327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9486900" y="4885267"/>
            <a:ext cx="533400" cy="9144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26" name="Shape 24"/>
          <p:cNvSpPr/>
          <p:nvPr/>
        </p:nvSpPr>
        <p:spPr>
          <a:xfrm>
            <a:off x="9486900" y="4885267"/>
            <a:ext cx="5334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27" name="Text 25"/>
          <p:cNvSpPr/>
          <p:nvPr/>
        </p:nvSpPr>
        <p:spPr>
          <a:xfrm>
            <a:off x="9642078" y="5894917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+3M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0191750" y="4542367"/>
            <a:ext cx="533400" cy="12573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29" name="Shape 27"/>
          <p:cNvSpPr/>
          <p:nvPr/>
        </p:nvSpPr>
        <p:spPr>
          <a:xfrm>
            <a:off x="10191750" y="4542367"/>
            <a:ext cx="533400" cy="16933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30" name="Text 28"/>
          <p:cNvSpPr/>
          <p:nvPr/>
        </p:nvSpPr>
        <p:spPr>
          <a:xfrm>
            <a:off x="10346928" y="5894917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+6M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0896600" y="4237567"/>
            <a:ext cx="533400" cy="15621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32" name="Shape 30"/>
          <p:cNvSpPr/>
          <p:nvPr/>
        </p:nvSpPr>
        <p:spPr>
          <a:xfrm>
            <a:off x="10896600" y="4237567"/>
            <a:ext cx="533400" cy="16933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33" name="Text 31"/>
          <p:cNvSpPr/>
          <p:nvPr/>
        </p:nvSpPr>
        <p:spPr>
          <a:xfrm>
            <a:off x="11051778" y="5894917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+9M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1601450" y="4133850"/>
            <a:ext cx="533400" cy="1665817"/>
          </a:xfrm>
          <a:prstGeom prst="rect">
            <a:avLst/>
          </a:prstGeom>
          <a:gradFill rotWithShape="1">
            <a:gsLst>
              <a:gs pos="0">
                <a:srgbClr val="57B88A">
                  <a:alpha val="45000"/>
                </a:srgbClr>
              </a:gs>
              <a:gs pos="100000">
                <a:srgbClr val="57B88A">
                  <a:alpha val="10000"/>
                </a:srgbClr>
              </a:gs>
            </a:gsLst>
            <a:lin ang="5400000" scaled="0"/>
          </a:gradFill>
        </p:spPr>
      </p:sp>
      <p:sp>
        <p:nvSpPr>
          <p:cNvPr id="35" name="Shape 33"/>
          <p:cNvSpPr/>
          <p:nvPr/>
        </p:nvSpPr>
        <p:spPr>
          <a:xfrm>
            <a:off x="11601450" y="4133850"/>
            <a:ext cx="533400" cy="16933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6" name="Text 34"/>
          <p:cNvSpPr/>
          <p:nvPr/>
        </p:nvSpPr>
        <p:spPr>
          <a:xfrm>
            <a:off x="11756628" y="5894917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8782050" y="6210300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Night Waking </a:t>
            </a:r>
            <a:r>
              <a:rPr lang="en-US" sz="1275" kern="0" spc="51" dirty="0">
                <a:solidFill>
                  <a:srgbClr val="7FD6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7 days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8782050" y="6534150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Vocabulary </a:t>
            </a:r>
            <a:r>
              <a:rPr lang="en-US" sz="1275" kern="0" spc="5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41%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8782050" y="6858000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Parent Supervision </a:t>
            </a:r>
            <a:r>
              <a:rPr lang="en-US" sz="1275" kern="0" spc="51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· Marked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14442911" y="8083551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14504824" y="8083551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14566736" y="8083551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95700" y="1752600"/>
            <a:ext cx="2032000" cy="463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5904230" y="2914015"/>
            <a:ext cx="137223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47" name="Text 13"/>
          <p:cNvSpPr/>
          <p:nvPr/>
        </p:nvSpPr>
        <p:spPr>
          <a:xfrm>
            <a:off x="12856765" y="2945342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383915" cy="373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0"/>
            <a:ext cx="2305050" cy="614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9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9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9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9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9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1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9"/>
            <a:ext cx="341246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TIMELINE · LAST 12 MONTHS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2025.10.15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469255" y="4162425"/>
            <a:ext cx="1445895" cy="26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Enrollment day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2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2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7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2025.12.03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469255" y="4561205"/>
            <a:ext cx="3514090" cy="26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First night-waking · auto-soothed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34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34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09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2026.02.18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469255" y="4960620"/>
            <a:ext cx="3833495" cy="26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Vocabulary milestone · school report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26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26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401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2026.05.30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469255" y="5359400"/>
            <a:ext cx="3727450" cy="26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Mother’s overtime peak · usage +18%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848100" y="5653618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848100" y="5653618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4016375" y="5758393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2026.07.22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469255" y="5758180"/>
            <a:ext cx="4473575" cy="26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Father’s request · night-mode upgrade eval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848100" y="6052610"/>
            <a:ext cx="5525691" cy="370417"/>
          </a:xfrm>
          <a:prstGeom prst="rect">
            <a:avLst/>
          </a:prstGeom>
          <a:solidFill>
            <a:srgbClr val="6FC3F0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848100" y="6052610"/>
            <a:ext cx="25400" cy="370417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40" name="Text 38"/>
          <p:cNvSpPr/>
          <p:nvPr/>
        </p:nvSpPr>
        <p:spPr>
          <a:xfrm>
            <a:off x="4016375" y="615738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2026.09.14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469255" y="6157595"/>
            <a:ext cx="3833495" cy="264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Nightmare event · Stage II · soothed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9621441" y="4057650"/>
            <a:ext cx="4818459" cy="2365375"/>
          </a:xfrm>
          <a:prstGeom prst="rect">
            <a:avLst/>
          </a:prstGeom>
          <a:solidFill>
            <a:srgbClr val="78AADC">
              <a:alpha val="4000"/>
            </a:srgbClr>
          </a:solidFill>
          <a:ln w="846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0408" y="4237567"/>
            <a:ext cx="4553142" cy="26087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SELECTED · 09.14 · 02:47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20408" y="4574646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02:47 · REM anomaly detected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820408" y="4853253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02:48 · approach bedside · low-band reassurance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820408" y="5131859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02:52 · subject returned to deep sleep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820408" y="5410465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02:53 · parent stack remained undisturbed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9820408" y="5822421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OUTCOME </a:t>
            </a:r>
            <a:r>
              <a:rPr lang="en-US" sz="1125" kern="0" spc="2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textbook execution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14442911" y="8083551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14504824" y="8083551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14566736" y="8083551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95700" y="1752600"/>
            <a:ext cx="1773555" cy="332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7260590" y="2914015"/>
            <a:ext cx="137223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023235" cy="3727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0"/>
            <a:ext cx="2514600" cy="6089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2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2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2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2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2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1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2"/>
            <a:ext cx="275485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INDEX · BY RESIDENT</a:t>
            </a:r>
            <a:endParaRPr lang="en-US" sz="1050" dirty="0"/>
          </a:p>
        </p:txBody>
      </p:sp>
      <p:sp>
        <p:nvSpPr>
          <p:cNvPr id="18" name="Shape 16"/>
          <p:cNvSpPr/>
          <p:nvPr>
            <p:custDataLst>
              <p:tags r:id="rId1"/>
            </p:custDataLst>
          </p:nvPr>
        </p:nvSpPr>
        <p:spPr>
          <a:xfrm>
            <a:off x="3848100" y="4461933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3848100" y="4162425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</a:t>
            </a:r>
            <a:endParaRPr lang="en-US" sz="1350" dirty="0"/>
          </a:p>
        </p:txBody>
      </p:sp>
      <p:sp>
        <p:nvSpPr>
          <p:cNvPr id="20" name="Text 18"/>
          <p:cNvSpPr/>
          <p:nvPr>
            <p:custDataLst>
              <p:tags r:id="rId3"/>
            </p:custDataLst>
          </p:nvPr>
        </p:nvSpPr>
        <p:spPr>
          <a:xfrm>
            <a:off x="5314950" y="4162425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91 / 100</a:t>
            </a:r>
            <a:endParaRPr lang="en-US" sz="1350" dirty="0"/>
          </a:p>
        </p:txBody>
      </p:sp>
      <p:sp>
        <p:nvSpPr>
          <p:cNvPr id="21" name="Text 19"/>
          <p:cNvSpPr/>
          <p:nvPr>
            <p:custDataLst>
              <p:tags r:id="rId4"/>
            </p:custDataLst>
          </p:nvPr>
        </p:nvSpPr>
        <p:spPr>
          <a:xfrm>
            <a:off x="8010525" y="4179570"/>
            <a:ext cx="981075" cy="330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steady</a:t>
            </a:r>
            <a:endParaRPr lang="en-US" sz="1125" dirty="0"/>
          </a:p>
        </p:txBody>
      </p:sp>
      <p:sp>
        <p:nvSpPr>
          <p:cNvPr id="22" name="Shape 20"/>
          <p:cNvSpPr/>
          <p:nvPr>
            <p:custDataLst>
              <p:tags r:id="rId5"/>
            </p:custDataLst>
          </p:nvPr>
        </p:nvSpPr>
        <p:spPr>
          <a:xfrm>
            <a:off x="3848100" y="4874685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3" name="Text 21"/>
          <p:cNvSpPr/>
          <p:nvPr>
            <p:custDataLst>
              <p:tags r:id="rId6"/>
            </p:custDataLst>
          </p:nvPr>
        </p:nvSpPr>
        <p:spPr>
          <a:xfrm>
            <a:off x="3848100" y="4575177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Mother</a:t>
            </a:r>
            <a:endParaRPr lang="en-US" sz="1350" dirty="0"/>
          </a:p>
        </p:txBody>
      </p:sp>
      <p:sp>
        <p:nvSpPr>
          <p:cNvPr id="24" name="Text 22"/>
          <p:cNvSpPr/>
          <p:nvPr>
            <p:custDataLst>
              <p:tags r:id="rId7"/>
            </p:custDataLst>
          </p:nvPr>
        </p:nvSpPr>
        <p:spPr>
          <a:xfrm>
            <a:off x="5314950" y="4575177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94 / 100</a:t>
            </a:r>
            <a:endParaRPr lang="en-US" sz="1350" dirty="0"/>
          </a:p>
        </p:txBody>
      </p:sp>
      <p:sp>
        <p:nvSpPr>
          <p:cNvPr id="25" name="Text 23"/>
          <p:cNvSpPr/>
          <p:nvPr>
            <p:custDataLst>
              <p:tags r:id="rId8"/>
            </p:custDataLst>
          </p:nvPr>
        </p:nvSpPr>
        <p:spPr>
          <a:xfrm>
            <a:off x="8010525" y="4592320"/>
            <a:ext cx="981075" cy="330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steady</a:t>
            </a:r>
            <a:endParaRPr lang="en-US" sz="1125" dirty="0"/>
          </a:p>
        </p:txBody>
      </p:sp>
      <p:sp>
        <p:nvSpPr>
          <p:cNvPr id="26" name="Shape 24"/>
          <p:cNvSpPr/>
          <p:nvPr>
            <p:custDataLst>
              <p:tags r:id="rId9"/>
            </p:custDataLst>
          </p:nvPr>
        </p:nvSpPr>
        <p:spPr>
          <a:xfrm>
            <a:off x="3848100" y="5287432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3848100" y="4987923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Son</a:t>
            </a:r>
            <a:endParaRPr lang="en-US" sz="1350" dirty="0"/>
          </a:p>
        </p:txBody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5314950" y="4987923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97 / 100</a:t>
            </a:r>
            <a:endParaRPr lang="en-US" sz="135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7464425" y="5005070"/>
            <a:ext cx="1527175" cy="330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accelerated</a:t>
            </a:r>
            <a:endParaRPr lang="en-US" sz="1125" dirty="0"/>
          </a:p>
        </p:txBody>
      </p:sp>
      <p:sp>
        <p:nvSpPr>
          <p:cNvPr id="30" name="Shape 28"/>
          <p:cNvSpPr/>
          <p:nvPr>
            <p:custDataLst>
              <p:tags r:id="rId13"/>
            </p:custDataLst>
          </p:nvPr>
        </p:nvSpPr>
        <p:spPr>
          <a:xfrm>
            <a:off x="3848100" y="5700183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1" name="Text 29"/>
          <p:cNvSpPr/>
          <p:nvPr>
            <p:custDataLst>
              <p:tags r:id="rId14"/>
            </p:custDataLst>
          </p:nvPr>
        </p:nvSpPr>
        <p:spPr>
          <a:xfrm>
            <a:off x="3848100" y="5400675"/>
            <a:ext cx="1531461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Household FESI</a:t>
            </a:r>
            <a:endParaRPr lang="en-US" sz="1350" dirty="0"/>
          </a:p>
        </p:txBody>
      </p:sp>
      <p:sp>
        <p:nvSpPr>
          <p:cNvPr id="32" name="Text 30"/>
          <p:cNvSpPr/>
          <p:nvPr>
            <p:custDataLst>
              <p:tags r:id="rId15"/>
            </p:custDataLst>
          </p:nvPr>
        </p:nvSpPr>
        <p:spPr>
          <a:xfrm>
            <a:off x="5449888" y="5400675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93</a:t>
            </a:r>
            <a:endParaRPr lang="en-US" sz="1350" dirty="0"/>
          </a:p>
        </p:txBody>
      </p:sp>
      <p:sp>
        <p:nvSpPr>
          <p:cNvPr id="33" name="Text 31"/>
          <p:cNvSpPr/>
          <p:nvPr>
            <p:custDataLst>
              <p:tags r:id="rId16"/>
            </p:custDataLst>
          </p:nvPr>
        </p:nvSpPr>
        <p:spPr>
          <a:xfrm>
            <a:off x="7355840" y="5417820"/>
            <a:ext cx="1635760" cy="330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optimal band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410700" y="3708402"/>
            <a:ext cx="4512945" cy="12038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three residents hold a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high-trust band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since enrollment. The child’s profile shows the accelerated bonding curve typical of long-term developmental units.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442911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04824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566736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95700" y="1752600"/>
            <a:ext cx="1646555" cy="309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8642350" y="2914015"/>
            <a:ext cx="147129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644775" cy="391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0"/>
            <a:ext cx="2505075" cy="614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2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2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2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2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2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1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2"/>
            <a:ext cx="260671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2025.11.04 · #6024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788025" y="4162425"/>
            <a:ext cx="4182110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no anomaly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4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4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9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2026.02.15 · #7138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788025" y="4561205"/>
            <a:ext cx="4182110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no anomaly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34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34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09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2026.05.18 · #6024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788025" y="4960620"/>
            <a:ext cx="5469255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adjust · expression mode +1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23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23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398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2026.08.20 · #6024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788025" y="5359400"/>
            <a:ext cx="4182110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no anomaly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442911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04824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66736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5700" y="1752600"/>
            <a:ext cx="1651635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10118725" y="2914015"/>
            <a:ext cx="223456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644775" cy="391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0"/>
            <a:ext cx="2505075" cy="614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2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2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2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2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2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1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2"/>
            <a:ext cx="260671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2025.11.04 · #6024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788025" y="4162425"/>
            <a:ext cx="4182110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no anomaly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4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4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9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2026.02.15 · #7138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788025" y="4561205"/>
            <a:ext cx="4182110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no anomaly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34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34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09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2026.05.18 · #6024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788025" y="4960620"/>
            <a:ext cx="5469255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adjust · expression mode +1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23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23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398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2026.08.20 · #6024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788025" y="5359400"/>
            <a:ext cx="4182110" cy="238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no anomaly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442911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04824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66736" y="8083548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5700" y="1752600"/>
            <a:ext cx="1651635" cy="320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12638749" y="2913590"/>
            <a:ext cx="1839251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656840" cy="373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8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2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2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2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2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2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3081793" y="2913594"/>
            <a:ext cx="1396206" cy="41910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99810" y="3021541"/>
            <a:ext cx="211799" cy="241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0659" y="3034243"/>
            <a:ext cx="80552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402"/>
            <a:ext cx="324286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1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27"/>
            <a:ext cx="380193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53"/>
            <a:ext cx="1053306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9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619125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2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4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848100" y="5637079"/>
            <a:ext cx="2038892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810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516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 Upgrade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08516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Deep Night Companion Pro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3925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631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 Observation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47631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Re-evaluate in two weeks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5700" y="1752600"/>
            <a:ext cx="1713865" cy="285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3848100" y="6062345"/>
            <a:ext cx="5200650" cy="94869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66117" y="5947172"/>
            <a:ext cx="1362736" cy="2032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0" name="Text 28"/>
          <p:cNvSpPr/>
          <p:nvPr/>
        </p:nvSpPr>
        <p:spPr>
          <a:xfrm>
            <a:off x="4161367" y="5985272"/>
            <a:ext cx="1248436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656840" cy="3733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8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17F-01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5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2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2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2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2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2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3081793" y="2913594"/>
            <a:ext cx="1396206" cy="41910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99810" y="3021541"/>
            <a:ext cx="211799" cy="241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0659" y="3034243"/>
            <a:ext cx="80552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402"/>
            <a:ext cx="324286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35 / Mother 33 / Son 8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1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27"/>
            <a:ext cx="380193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Child Development + Expression Aid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53"/>
            <a:ext cx="1053306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 Months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9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619125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99.7%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22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4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09.01 · 22:30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848100" y="5637079"/>
            <a:ext cx="2038892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810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6117" y="5947172"/>
            <a:ext cx="1362736" cy="2032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0" name="Text 28"/>
          <p:cNvSpPr/>
          <p:nvPr/>
        </p:nvSpPr>
        <p:spPr>
          <a:xfrm>
            <a:off x="4161367" y="5985272"/>
            <a:ext cx="1248436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8516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Approve Upgrade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08516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Deep Night Companion Pro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3925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631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 Observation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47631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Re-evaluate in two weeks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5700" y="1752600"/>
            <a:ext cx="1713865" cy="285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43" name="Shape 12"/>
          <p:cNvSpPr/>
          <p:nvPr/>
        </p:nvSpPr>
        <p:spPr>
          <a:xfrm>
            <a:off x="9239250" y="6062345"/>
            <a:ext cx="5200650" cy="94869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451735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6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397"/>
            <a:ext cx="2247503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Husband 34 / Wife 32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27"/>
            <a:ext cx="380193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Companion Support · Adult Dialogue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57"/>
            <a:ext cx="181332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 Years 4 Months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9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619125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67.3%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1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8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08.20 · 21:00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3848100" y="5656129"/>
            <a:ext cx="1790039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27475" y="5749925"/>
            <a:ext cx="2333625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SINGLE-PARTY USE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71488" y="5656129"/>
            <a:ext cx="1742149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0890" y="5749925"/>
            <a:ext cx="2261870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TOGGLE OVERRIDE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46987" y="5656129"/>
            <a:ext cx="2019829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5749925"/>
            <a:ext cx="2680970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DIALOGUE IMBALANCE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5700" y="1752600"/>
            <a:ext cx="1633855" cy="290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3733800" y="2914015"/>
            <a:ext cx="213550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768600" cy="3530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6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7"/>
            <a:ext cx="4512945" cy="14952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Enrolled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June 2024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the wife’s request. Rationale: provide adult dialogue presence during the husband’s frequent travel, support the wife’s emotional regulation, and offer non-judgmental listening for both parties.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848100" y="5375142"/>
            <a:ext cx="16933" cy="887412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19" name="Text 17"/>
          <p:cNvSpPr/>
          <p:nvPr/>
        </p:nvSpPr>
        <p:spPr>
          <a:xfrm>
            <a:off x="4036483" y="5417474"/>
            <a:ext cx="4057018" cy="5307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i="1" kern="0" spc="24" dirty="0">
                <a:solidFill>
                  <a:srgbClr val="97B2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“I just want someone here when I get home. He hardly speaks anymore.”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4036483" y="6049305"/>
            <a:ext cx="4717203" cy="2513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WIFE, ENROLLMENT INTERVIEW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63000" y="3784597"/>
            <a:ext cx="3456993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USAGE BY PARTY · LAST 12 MONTHS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63000" y="5467350"/>
            <a:ext cx="228600" cy="571500"/>
          </a:xfrm>
          <a:prstGeom prst="rect">
            <a:avLst/>
          </a:prstGeom>
          <a:gradFill rotWithShape="1">
            <a:gsLst>
              <a:gs pos="0">
                <a:srgbClr val="6FC3F0">
                  <a:alpha val="50000"/>
                </a:srgbClr>
              </a:gs>
              <a:gs pos="100000">
                <a:srgbClr val="6FC3F0">
                  <a:alpha val="10000"/>
                </a:srgbClr>
              </a:gs>
            </a:gsLst>
            <a:lin ang="5400000" scaled="0"/>
          </a:gradFill>
        </p:spPr>
      </p:sp>
      <p:sp>
        <p:nvSpPr>
          <p:cNvPr id="23" name="Shape 21"/>
          <p:cNvSpPr/>
          <p:nvPr/>
        </p:nvSpPr>
        <p:spPr>
          <a:xfrm>
            <a:off x="8763000" y="5467350"/>
            <a:ext cx="228600" cy="16933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24" name="Shape 22"/>
          <p:cNvSpPr/>
          <p:nvPr/>
        </p:nvSpPr>
        <p:spPr>
          <a:xfrm>
            <a:off x="9058275" y="5886450"/>
            <a:ext cx="228600" cy="152400"/>
          </a:xfrm>
          <a:prstGeom prst="rect">
            <a:avLst/>
          </a:prstGeom>
          <a:gradFill rotWithShape="1">
            <a:gsLst>
              <a:gs pos="0">
                <a:srgbClr val="E0973F">
                  <a:alpha val="40000"/>
                </a:srgbClr>
              </a:gs>
              <a:gs pos="100000">
                <a:srgbClr val="E0973F">
                  <a:alpha val="10000"/>
                </a:srgbClr>
              </a:gs>
            </a:gsLst>
            <a:lin ang="5400000" scaled="0"/>
          </a:gradFill>
        </p:spPr>
      </p:sp>
      <p:sp>
        <p:nvSpPr>
          <p:cNvPr id="25" name="Shape 23"/>
          <p:cNvSpPr/>
          <p:nvPr/>
        </p:nvSpPr>
        <p:spPr>
          <a:xfrm>
            <a:off x="9058275" y="5886450"/>
            <a:ext cx="2286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26" name="Text 24"/>
          <p:cNvSpPr/>
          <p:nvPr/>
        </p:nvSpPr>
        <p:spPr>
          <a:xfrm>
            <a:off x="8876374" y="6134100"/>
            <a:ext cx="373327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9572625" y="5048250"/>
            <a:ext cx="228600" cy="990600"/>
          </a:xfrm>
          <a:prstGeom prst="rect">
            <a:avLst/>
          </a:prstGeom>
          <a:gradFill rotWithShape="1">
            <a:gsLst>
              <a:gs pos="0">
                <a:srgbClr val="6FC3F0">
                  <a:alpha val="50000"/>
                </a:srgbClr>
              </a:gs>
              <a:gs pos="100000">
                <a:srgbClr val="6FC3F0">
                  <a:alpha val="10000"/>
                </a:srgbClr>
              </a:gs>
            </a:gsLst>
            <a:lin ang="5400000" scaled="0"/>
          </a:gradFill>
        </p:spPr>
      </p:sp>
      <p:sp>
        <p:nvSpPr>
          <p:cNvPr id="28" name="Shape 26"/>
          <p:cNvSpPr/>
          <p:nvPr/>
        </p:nvSpPr>
        <p:spPr>
          <a:xfrm>
            <a:off x="9572625" y="5048250"/>
            <a:ext cx="228600" cy="16933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29" name="Shape 27"/>
          <p:cNvSpPr/>
          <p:nvPr/>
        </p:nvSpPr>
        <p:spPr>
          <a:xfrm>
            <a:off x="9867900" y="5905500"/>
            <a:ext cx="228600" cy="133350"/>
          </a:xfrm>
          <a:prstGeom prst="rect">
            <a:avLst/>
          </a:prstGeom>
          <a:gradFill rotWithShape="1">
            <a:gsLst>
              <a:gs pos="0">
                <a:srgbClr val="E0973F">
                  <a:alpha val="40000"/>
                </a:srgbClr>
              </a:gs>
              <a:gs pos="100000">
                <a:srgbClr val="E0973F">
                  <a:alpha val="10000"/>
                </a:srgbClr>
              </a:gs>
            </a:gsLst>
            <a:lin ang="5400000" scaled="0"/>
          </a:gradFill>
        </p:spPr>
      </p:sp>
      <p:sp>
        <p:nvSpPr>
          <p:cNvPr id="30" name="Shape 28"/>
          <p:cNvSpPr/>
          <p:nvPr/>
        </p:nvSpPr>
        <p:spPr>
          <a:xfrm>
            <a:off x="9867900" y="5905500"/>
            <a:ext cx="2286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1" name="Text 29"/>
          <p:cNvSpPr/>
          <p:nvPr/>
        </p:nvSpPr>
        <p:spPr>
          <a:xfrm>
            <a:off x="9723041" y="6134100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+3M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10382250" y="4705350"/>
            <a:ext cx="228600" cy="1333500"/>
          </a:xfrm>
          <a:prstGeom prst="rect">
            <a:avLst/>
          </a:prstGeom>
          <a:gradFill rotWithShape="1">
            <a:gsLst>
              <a:gs pos="0">
                <a:srgbClr val="6FC3F0">
                  <a:alpha val="50000"/>
                </a:srgbClr>
              </a:gs>
              <a:gs pos="100000">
                <a:srgbClr val="6FC3F0">
                  <a:alpha val="10000"/>
                </a:srgbClr>
              </a:gs>
            </a:gsLst>
            <a:lin ang="5400000" scaled="0"/>
          </a:gradFill>
        </p:spPr>
      </p:sp>
      <p:sp>
        <p:nvSpPr>
          <p:cNvPr id="33" name="Shape 31"/>
          <p:cNvSpPr/>
          <p:nvPr/>
        </p:nvSpPr>
        <p:spPr>
          <a:xfrm>
            <a:off x="10382250" y="4705350"/>
            <a:ext cx="228600" cy="16933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34" name="Shape 32"/>
          <p:cNvSpPr/>
          <p:nvPr/>
        </p:nvSpPr>
        <p:spPr>
          <a:xfrm>
            <a:off x="10677525" y="5867400"/>
            <a:ext cx="228600" cy="171450"/>
          </a:xfrm>
          <a:prstGeom prst="rect">
            <a:avLst/>
          </a:prstGeom>
          <a:gradFill rotWithShape="1">
            <a:gsLst>
              <a:gs pos="0">
                <a:srgbClr val="E0973F">
                  <a:alpha val="40000"/>
                </a:srgbClr>
              </a:gs>
              <a:gs pos="100000">
                <a:srgbClr val="E0973F">
                  <a:alpha val="10000"/>
                </a:srgbClr>
              </a:gs>
            </a:gsLst>
            <a:lin ang="5400000" scaled="0"/>
          </a:gradFill>
        </p:spPr>
      </p:sp>
      <p:sp>
        <p:nvSpPr>
          <p:cNvPr id="35" name="Shape 33"/>
          <p:cNvSpPr/>
          <p:nvPr/>
        </p:nvSpPr>
        <p:spPr>
          <a:xfrm>
            <a:off x="10677525" y="5867400"/>
            <a:ext cx="2286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6" name="Text 34"/>
          <p:cNvSpPr/>
          <p:nvPr/>
        </p:nvSpPr>
        <p:spPr>
          <a:xfrm>
            <a:off x="10532665" y="6134100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+6M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11191875" y="4400550"/>
            <a:ext cx="228600" cy="1638300"/>
          </a:xfrm>
          <a:prstGeom prst="rect">
            <a:avLst/>
          </a:prstGeom>
          <a:gradFill rotWithShape="1">
            <a:gsLst>
              <a:gs pos="0">
                <a:srgbClr val="6FC3F0">
                  <a:alpha val="50000"/>
                </a:srgbClr>
              </a:gs>
              <a:gs pos="100000">
                <a:srgbClr val="6FC3F0">
                  <a:alpha val="10000"/>
                </a:srgbClr>
              </a:gs>
            </a:gsLst>
            <a:lin ang="5400000" scaled="0"/>
          </a:gradFill>
        </p:spPr>
      </p:sp>
      <p:sp>
        <p:nvSpPr>
          <p:cNvPr id="38" name="Shape 36"/>
          <p:cNvSpPr/>
          <p:nvPr/>
        </p:nvSpPr>
        <p:spPr>
          <a:xfrm>
            <a:off x="11191875" y="4400550"/>
            <a:ext cx="228600" cy="16933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39" name="Shape 37"/>
          <p:cNvSpPr/>
          <p:nvPr/>
        </p:nvSpPr>
        <p:spPr>
          <a:xfrm>
            <a:off x="11487150" y="5924550"/>
            <a:ext cx="228600" cy="114300"/>
          </a:xfrm>
          <a:prstGeom prst="rect">
            <a:avLst/>
          </a:prstGeom>
          <a:gradFill rotWithShape="1">
            <a:gsLst>
              <a:gs pos="0">
                <a:srgbClr val="E0973F">
                  <a:alpha val="40000"/>
                </a:srgbClr>
              </a:gs>
              <a:gs pos="100000">
                <a:srgbClr val="E0973F">
                  <a:alpha val="10000"/>
                </a:srgbClr>
              </a:gs>
            </a:gsLst>
            <a:lin ang="5400000" scaled="0"/>
          </a:gradFill>
        </p:spPr>
      </p:sp>
      <p:sp>
        <p:nvSpPr>
          <p:cNvPr id="40" name="Shape 38"/>
          <p:cNvSpPr/>
          <p:nvPr/>
        </p:nvSpPr>
        <p:spPr>
          <a:xfrm>
            <a:off x="11487150" y="5924550"/>
            <a:ext cx="2286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41" name="Text 39"/>
          <p:cNvSpPr/>
          <p:nvPr/>
        </p:nvSpPr>
        <p:spPr>
          <a:xfrm>
            <a:off x="11342290" y="6134100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+9M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2001500" y="4210050"/>
            <a:ext cx="228600" cy="1828800"/>
          </a:xfrm>
          <a:prstGeom prst="rect">
            <a:avLst/>
          </a:prstGeom>
          <a:gradFill rotWithShape="1">
            <a:gsLst>
              <a:gs pos="0">
                <a:srgbClr val="6FC3F0">
                  <a:alpha val="50000"/>
                </a:srgbClr>
              </a:gs>
              <a:gs pos="100000">
                <a:srgbClr val="6FC3F0">
                  <a:alpha val="10000"/>
                </a:srgbClr>
              </a:gs>
            </a:gsLst>
            <a:lin ang="5400000" scaled="0"/>
          </a:gradFill>
        </p:spPr>
      </p:sp>
      <p:sp>
        <p:nvSpPr>
          <p:cNvPr id="43" name="Shape 41"/>
          <p:cNvSpPr/>
          <p:nvPr/>
        </p:nvSpPr>
        <p:spPr>
          <a:xfrm>
            <a:off x="12001500" y="4210050"/>
            <a:ext cx="228600" cy="16933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44" name="Shape 42"/>
          <p:cNvSpPr/>
          <p:nvPr/>
        </p:nvSpPr>
        <p:spPr>
          <a:xfrm>
            <a:off x="12296775" y="5886450"/>
            <a:ext cx="228600" cy="152400"/>
          </a:xfrm>
          <a:prstGeom prst="rect">
            <a:avLst/>
          </a:prstGeom>
          <a:gradFill rotWithShape="1">
            <a:gsLst>
              <a:gs pos="0">
                <a:srgbClr val="E0973F">
                  <a:alpha val="40000"/>
                </a:srgbClr>
              </a:gs>
              <a:gs pos="100000">
                <a:srgbClr val="E0973F">
                  <a:alpha val="10000"/>
                </a:srgbClr>
              </a:gs>
            </a:gsLst>
            <a:lin ang="5400000" scaled="0"/>
          </a:gradFill>
        </p:spPr>
      </p:sp>
      <p:sp>
        <p:nvSpPr>
          <p:cNvPr id="45" name="Shape 43"/>
          <p:cNvSpPr/>
          <p:nvPr/>
        </p:nvSpPr>
        <p:spPr>
          <a:xfrm>
            <a:off x="12296775" y="5886450"/>
            <a:ext cx="2286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46" name="Text 44"/>
          <p:cNvSpPr/>
          <p:nvPr/>
        </p:nvSpPr>
        <p:spPr>
          <a:xfrm>
            <a:off x="12151915" y="6134100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8763000" y="6467475"/>
            <a:ext cx="123825" cy="95250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48" name="Text 46"/>
          <p:cNvSpPr/>
          <p:nvPr/>
        </p:nvSpPr>
        <p:spPr>
          <a:xfrm>
            <a:off x="8963025" y="6430435"/>
            <a:ext cx="413411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WIFE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9528836" y="6467475"/>
            <a:ext cx="123825" cy="95250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50" name="Text 48"/>
          <p:cNvSpPr/>
          <p:nvPr/>
        </p:nvSpPr>
        <p:spPr>
          <a:xfrm>
            <a:off x="9728861" y="6430435"/>
            <a:ext cx="745464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HUSBAND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8763000" y="6771215"/>
            <a:ext cx="584720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Wife dialogue </a:t>
            </a:r>
            <a:r>
              <a:rPr lang="en-US" sz="1275" kern="0" spc="5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320% vs first month</a:t>
            </a:r>
            <a:endParaRPr lang="en-US" sz="1275" dirty="0"/>
          </a:p>
        </p:txBody>
      </p:sp>
      <p:sp>
        <p:nvSpPr>
          <p:cNvPr id="52" name="Text 50"/>
          <p:cNvSpPr/>
          <p:nvPr/>
        </p:nvSpPr>
        <p:spPr>
          <a:xfrm>
            <a:off x="8763000" y="7095065"/>
            <a:ext cx="584720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Husband dialogue</a:t>
            </a:r>
            <a:r>
              <a:rPr lang="en-US" sz="1275" kern="0" spc="5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 events total · 2.4 years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8763000" y="7418915"/>
            <a:ext cx="5847207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Spouse-to-spouse</a:t>
            </a:r>
            <a:r>
              <a:rPr lang="en-US" sz="1275" kern="0" spc="5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 baseline change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95700" y="1752600"/>
            <a:ext cx="1661795" cy="290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5904230" y="2914015"/>
            <a:ext cx="137223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771140" cy="391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6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7"/>
            <a:ext cx="2773918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TIMELINE · SELECTED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2024.06.10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485765" y="4162425"/>
            <a:ext cx="2117090" cy="345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Enrollment day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0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2024.10.04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485765" y="4561205"/>
            <a:ext cx="6080125" cy="345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Husband’s first trip · wife usage +280%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39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3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1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2025.04.18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485765" y="4960620"/>
            <a:ext cx="6080125" cy="345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Unit suggests couple session · declined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28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28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403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2025.11.22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485765" y="5359400"/>
            <a:ext cx="5144770" cy="345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Wife enables night confiding mode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848100" y="5653618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848100" y="5653618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4016375" y="5758393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2026.05.07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485765" y="5758180"/>
            <a:ext cx="6393180" cy="345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Couple session suggested · declined (2nd)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848100" y="6052607"/>
            <a:ext cx="5525691" cy="370417"/>
          </a:xfrm>
          <a:prstGeom prst="rect">
            <a:avLst/>
          </a:prstGeom>
          <a:solidFill>
            <a:srgbClr val="6FC3F0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848100" y="6052607"/>
            <a:ext cx="25400" cy="370417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40" name="Text 38"/>
          <p:cNvSpPr/>
          <p:nvPr/>
        </p:nvSpPr>
        <p:spPr>
          <a:xfrm>
            <a:off x="4016375" y="615738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2026.09.13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485765" y="6157595"/>
            <a:ext cx="3586480" cy="345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Operator override event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9621441" y="4057650"/>
            <a:ext cx="4818459" cy="3204369"/>
          </a:xfrm>
          <a:prstGeom prst="rect">
            <a:avLst/>
          </a:prstGeom>
          <a:solidFill>
            <a:srgbClr val="78AADC">
              <a:alpha val="4000"/>
            </a:srgbClr>
          </a:solidFill>
          <a:ln w="8467">
            <a:solidFill>
              <a:srgbClr val="78AADC">
                <a:alpha val="13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0408" y="4237565"/>
            <a:ext cx="4553142" cy="26087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SELECTED · 09.13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20408" y="4574651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22:30 · session begin · subject: wife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9820408" y="4853257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topic: weekly stress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820408" y="5131864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22:30–22:47 · low-band listening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820408" y="5410470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 verbal acknowledgments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9820408" y="5689076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22:48 · husband enters apartment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9820408" y="5967682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22:48 · power toggle · unit shutdown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820408" y="6246289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22:48 · session terminated mid-sentence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9820408" y="6524895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23:06 · auto-resumed · subject not present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9820408" y="6803501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23:07 · idle · session marked incomplete</a:t>
            </a:r>
            <a:endParaRPr lang="en-US" sz="1125" dirty="0"/>
          </a:p>
        </p:txBody>
      </p:sp>
      <p:sp>
        <p:nvSpPr>
          <p:cNvPr id="53" name="Shape 51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95700" y="1752600"/>
            <a:ext cx="1651635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7260590" y="2914015"/>
            <a:ext cx="137223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666365" cy="3917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6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7"/>
            <a:ext cx="275485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INDEX · BY RESIDENT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461933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3848100" y="4162425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Husband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14950" y="4162425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44 / 100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77785" y="4179570"/>
            <a:ext cx="1313815" cy="370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30d: -6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874680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3848100" y="4575172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Wife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14950" y="4575172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89 / 100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809230" y="4592320"/>
            <a:ext cx="1182370" cy="370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steady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5287436"/>
            <a:ext cx="5143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3848100" y="4987928"/>
            <a:ext cx="1531461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Household FESI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49888" y="4987928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71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29985" y="5005070"/>
            <a:ext cx="2761615" cy="370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↑ single-party gain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410700" y="3708397"/>
            <a:ext cx="4512945" cy="12038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Wife-side trust remains high. Husband-side trust has declined across the past 30 days. The household FESI gain is driven 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entirely by the wife.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unit is not failing — it is succeeding for one party.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5700" y="1752600"/>
            <a:ext cx="1642745" cy="370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8642350" y="2914015"/>
            <a:ext cx="147129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542665" cy="267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856765" y="2945346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7"/>
            <a:ext cx="260671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>
            <p:custDataLst>
              <p:tags r:id="rId1"/>
            </p:custDataLst>
          </p:nvPr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2024.09.12 · #6024</a:t>
            </a:r>
            <a:endParaRPr lang="en-US" sz="1125" dirty="0"/>
          </a:p>
        </p:txBody>
      </p:sp>
      <p:sp>
        <p:nvSpPr>
          <p:cNvPr id="21" name="Text 19"/>
          <p:cNvSpPr/>
          <p:nvPr>
            <p:custDataLst>
              <p:tags r:id="rId2"/>
            </p:custDataLst>
          </p:nvPr>
        </p:nvSpPr>
        <p:spPr>
          <a:xfrm>
            <a:off x="5788025" y="4162425"/>
            <a:ext cx="330708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adaptation good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>
            <p:custDataLst>
              <p:tags r:id="rId3"/>
            </p:custDataLst>
          </p:nvPr>
        </p:nvSpPr>
        <p:spPr>
          <a:xfrm>
            <a:off x="4016375" y="456141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2025.04.20 · #7138</a:t>
            </a:r>
            <a:endParaRPr lang="en-US" sz="1125" dirty="0"/>
          </a:p>
        </p:txBody>
      </p:sp>
      <p:sp>
        <p:nvSpPr>
          <p:cNvPr id="25" name="Text 23"/>
          <p:cNvSpPr/>
          <p:nvPr>
            <p:custDataLst>
              <p:tags r:id="rId4"/>
            </p:custDataLst>
          </p:nvPr>
        </p:nvSpPr>
        <p:spPr>
          <a:xfrm>
            <a:off x="5788025" y="4561205"/>
            <a:ext cx="437451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upgrade · active listening enabled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39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3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>
            <p:custDataLst>
              <p:tags r:id="rId5"/>
            </p:custDataLst>
          </p:nvPr>
        </p:nvSpPr>
        <p:spPr>
          <a:xfrm>
            <a:off x="4016375" y="496041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2025.11.15 · #6024</a:t>
            </a:r>
            <a:endParaRPr lang="en-US" sz="1125" dirty="0"/>
          </a:p>
        </p:txBody>
      </p:sp>
      <p:sp>
        <p:nvSpPr>
          <p:cNvPr id="29" name="Text 27"/>
          <p:cNvSpPr/>
          <p:nvPr>
            <p:custDataLst>
              <p:tags r:id="rId6"/>
            </p:custDataLst>
          </p:nvPr>
        </p:nvSpPr>
        <p:spPr>
          <a:xfrm>
            <a:off x="5788025" y="4960620"/>
            <a:ext cx="416052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single-party flag noted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28"/>
            <a:ext cx="10591800" cy="370417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28"/>
            <a:ext cx="25400" cy="370417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32" name="Text 30"/>
          <p:cNvSpPr/>
          <p:nvPr>
            <p:custDataLst>
              <p:tags r:id="rId7"/>
            </p:custDataLst>
          </p:nvPr>
        </p:nvSpPr>
        <p:spPr>
          <a:xfrm>
            <a:off x="4016375" y="5359403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2026.06.30 · #7138</a:t>
            </a:r>
            <a:endParaRPr lang="en-US" sz="1125" dirty="0"/>
          </a:p>
        </p:txBody>
      </p:sp>
      <p:sp>
        <p:nvSpPr>
          <p:cNvPr id="33" name="Text 31"/>
          <p:cNvSpPr/>
          <p:nvPr>
            <p:custDataLst>
              <p:tags r:id="rId8"/>
            </p:custDataLst>
          </p:nvPr>
        </p:nvSpPr>
        <p:spPr>
          <a:xfrm>
            <a:off x="5788025" y="5359400"/>
            <a:ext cx="533463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Recommended couple counseling · household declined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5700" y="1752600"/>
            <a:ext cx="1662430" cy="369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10118725" y="2914015"/>
            <a:ext cx="223456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542665" cy="267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638749" y="2913590"/>
            <a:ext cx="1839251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56765" y="2945346"/>
            <a:ext cx="1253993" cy="393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 EVENT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4B7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397"/>
            <a:ext cx="260671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>
            <p:custDataLst>
              <p:tags r:id="rId1"/>
            </p:custDataLst>
          </p:nvPr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2024.09.12 · #6024</a:t>
            </a:r>
            <a:endParaRPr lang="en-US" sz="1125" dirty="0"/>
          </a:p>
        </p:txBody>
      </p:sp>
      <p:sp>
        <p:nvSpPr>
          <p:cNvPr id="21" name="Text 19"/>
          <p:cNvSpPr/>
          <p:nvPr>
            <p:custDataLst>
              <p:tags r:id="rId2"/>
            </p:custDataLst>
          </p:nvPr>
        </p:nvSpPr>
        <p:spPr>
          <a:xfrm>
            <a:off x="5788025" y="4162425"/>
            <a:ext cx="330708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adaptation good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>
            <p:custDataLst>
              <p:tags r:id="rId3"/>
            </p:custDataLst>
          </p:nvPr>
        </p:nvSpPr>
        <p:spPr>
          <a:xfrm>
            <a:off x="4016375" y="456141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2025.04.20 · #7138</a:t>
            </a:r>
            <a:endParaRPr lang="en-US" sz="1125" dirty="0"/>
          </a:p>
        </p:txBody>
      </p:sp>
      <p:sp>
        <p:nvSpPr>
          <p:cNvPr id="25" name="Text 23"/>
          <p:cNvSpPr/>
          <p:nvPr>
            <p:custDataLst>
              <p:tags r:id="rId4"/>
            </p:custDataLst>
          </p:nvPr>
        </p:nvSpPr>
        <p:spPr>
          <a:xfrm>
            <a:off x="5788025" y="4561205"/>
            <a:ext cx="437451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upgrade · active listening enabled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39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3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>
            <p:custDataLst>
              <p:tags r:id="rId5"/>
            </p:custDataLst>
          </p:nvPr>
        </p:nvSpPr>
        <p:spPr>
          <a:xfrm>
            <a:off x="4016375" y="496041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2025.11.15 · #6024</a:t>
            </a:r>
            <a:endParaRPr lang="en-US" sz="1125" dirty="0"/>
          </a:p>
        </p:txBody>
      </p:sp>
      <p:sp>
        <p:nvSpPr>
          <p:cNvPr id="29" name="Text 27"/>
          <p:cNvSpPr/>
          <p:nvPr>
            <p:custDataLst>
              <p:tags r:id="rId6"/>
            </p:custDataLst>
          </p:nvPr>
        </p:nvSpPr>
        <p:spPr>
          <a:xfrm>
            <a:off x="5788025" y="4960620"/>
            <a:ext cx="4160520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check · single-party flag noted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28"/>
            <a:ext cx="10591800" cy="370417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28"/>
            <a:ext cx="25400" cy="370417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32" name="Text 30"/>
          <p:cNvSpPr/>
          <p:nvPr>
            <p:custDataLst>
              <p:tags r:id="rId7"/>
            </p:custDataLst>
          </p:nvPr>
        </p:nvSpPr>
        <p:spPr>
          <a:xfrm>
            <a:off x="4016375" y="5359403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rmAutofit fontScale="90000" lnSpcReduction="10000"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2026.06.30 · #7138</a:t>
            </a:r>
            <a:endParaRPr lang="en-US" sz="1125" dirty="0"/>
          </a:p>
        </p:txBody>
      </p:sp>
      <p:sp>
        <p:nvSpPr>
          <p:cNvPr id="33" name="Text 31"/>
          <p:cNvSpPr/>
          <p:nvPr>
            <p:custDataLst>
              <p:tags r:id="rId8"/>
            </p:custDataLst>
          </p:nvPr>
        </p:nvSpPr>
        <p:spPr>
          <a:xfrm>
            <a:off x="5788025" y="5359400"/>
            <a:ext cx="533463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Recommended couple counseling · household declined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5700" y="1752600"/>
            <a:ext cx="1662430" cy="3695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839845" cy="548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397"/>
            <a:ext cx="2247503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Husband 34 / Wife 32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27"/>
            <a:ext cx="380193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Companion Support · Adult Dialogue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57"/>
            <a:ext cx="181332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 Years 4 Months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9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619125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67.3%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1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8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08.20 · 21:00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848100" y="5637079"/>
            <a:ext cx="2038892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810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516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Maintain Current Configuration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08516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Continue under monthly review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3925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631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 Family Counseling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47631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Pause unit · escalate to human consultant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5700" y="1752600"/>
            <a:ext cx="1736725" cy="285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3848100" y="6062345"/>
            <a:ext cx="5200650" cy="94869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43" name="Shape 12"/>
          <p:cNvSpPr/>
          <p:nvPr/>
        </p:nvSpPr>
        <p:spPr>
          <a:xfrm>
            <a:off x="13081793" y="2913594"/>
            <a:ext cx="1396206" cy="41910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44" name="Text 13"/>
          <p:cNvSpPr/>
          <p:nvPr/>
        </p:nvSpPr>
        <p:spPr>
          <a:xfrm>
            <a:off x="13299810" y="3021541"/>
            <a:ext cx="211799" cy="241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13530659" y="3034243"/>
            <a:ext cx="80552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66117" y="5947172"/>
            <a:ext cx="1362736" cy="2032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0" name="Text 28"/>
          <p:cNvSpPr/>
          <p:nvPr/>
        </p:nvSpPr>
        <p:spPr>
          <a:xfrm>
            <a:off x="4161367" y="5985272"/>
            <a:ext cx="1248436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AAC8">
                  <a:alpha val="34000"/>
                </a:srgbClr>
              </a:gs>
              <a:gs pos="62000">
                <a:srgbClr val="96AAC8">
                  <a:alpha val="0"/>
                </a:srgbClr>
              </a:gs>
            </a:gsLst>
            <a:path path="circle">
              <a:fillToRect l="50000" t="14000" r="50000" b="86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C0E2FF">
                  <a:alpha val="16000"/>
                </a:srgbClr>
              </a:gs>
              <a:gs pos="56000">
                <a:srgbClr val="C0E2FF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3839845" cy="548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53"/>
            <a:ext cx="209579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17F-02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8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097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097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097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097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097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397"/>
            <a:ext cx="2247503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Husband 34 / Wife 32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27"/>
            <a:ext cx="380193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Companion Support · Adult Dialogue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6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57"/>
            <a:ext cx="181332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 Years 4 Months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97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619125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67.3%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1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8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08.20 · 21:00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848100" y="5637079"/>
            <a:ext cx="2038892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810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6117" y="5947172"/>
            <a:ext cx="1362736" cy="2032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0" name="Text 28"/>
          <p:cNvSpPr/>
          <p:nvPr/>
        </p:nvSpPr>
        <p:spPr>
          <a:xfrm>
            <a:off x="4161367" y="5985272"/>
            <a:ext cx="1248436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8516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Maintain Current Configuration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08516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Continue under monthly review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39250" y="6062532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76317" y="6280547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 Family Counseling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476317" y="6620275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Pause unit · escalate to human consultant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442911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504824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4566736" y="8083553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5700" y="1752600"/>
            <a:ext cx="1736725" cy="2851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LINK OK</a:t>
            </a:r>
            <a:endParaRPr lang="en-US" sz="825" dirty="0"/>
          </a:p>
        </p:txBody>
      </p:sp>
      <p:sp>
        <p:nvSpPr>
          <p:cNvPr id="43" name="Shape 12"/>
          <p:cNvSpPr/>
          <p:nvPr/>
        </p:nvSpPr>
        <p:spPr>
          <a:xfrm>
            <a:off x="9239250" y="6062345"/>
            <a:ext cx="5200650" cy="94869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7" name="Shape 12"/>
          <p:cNvSpPr/>
          <p:nvPr/>
        </p:nvSpPr>
        <p:spPr>
          <a:xfrm>
            <a:off x="13081793" y="2913594"/>
            <a:ext cx="1396206" cy="41910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44" name="Text 13"/>
          <p:cNvSpPr/>
          <p:nvPr/>
        </p:nvSpPr>
        <p:spPr>
          <a:xfrm>
            <a:off x="13299810" y="3021541"/>
            <a:ext cx="211799" cy="241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13530659" y="3034243"/>
            <a:ext cx="80552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906771" y="3034252"/>
            <a:ext cx="1203986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406"/>
            <a:ext cx="391367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38 / Mother 36 / Daughter 12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36"/>
            <a:ext cx="4137411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 Coordination · Mediation Layer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7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48"/>
            <a:ext cx="836216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Years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8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USAGE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1509448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i="1" kern="0" spc="86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Unreadable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11981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CHECK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72200" y="5083708"/>
            <a:ext cx="1487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09.02 · 23:00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3848100" y="5656138"/>
            <a:ext cx="2391040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07155" y="5749925"/>
            <a:ext cx="2536825" cy="276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COLD CONFLICT (CHRONIC)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72490" y="5656138"/>
            <a:ext cx="1831446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2870" y="5749925"/>
            <a:ext cx="1875155" cy="276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MEDIATION FATIGUE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37285" y="5656138"/>
            <a:ext cx="2033455" cy="366183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6130" y="5740400"/>
            <a:ext cx="2113915" cy="2768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97B2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MINOR USER PRESENT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5700" y="1752600"/>
            <a:ext cx="189611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3733800" y="2914015"/>
            <a:ext cx="213550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906771" y="3034252"/>
            <a:ext cx="1203986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6"/>
            <a:ext cx="4512945" cy="12038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Enrolled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Sept 2020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jointly. Rationale: reduce household tension during the parents’ high-stress career phase, provide a neutral mediating voice, and model healthy disagreement for the daughter.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848100" y="5102758"/>
            <a:ext cx="16933" cy="887412"/>
          </a:xfrm>
          <a:prstGeom prst="rect">
            <a:avLst/>
          </a:prstGeom>
          <a:solidFill>
            <a:srgbClr val="6FC3F0"/>
          </a:solidFill>
        </p:spPr>
      </p:sp>
      <p:sp>
        <p:nvSpPr>
          <p:cNvPr id="19" name="Text 17"/>
          <p:cNvSpPr/>
          <p:nvPr/>
        </p:nvSpPr>
        <p:spPr>
          <a:xfrm>
            <a:off x="4036483" y="5145081"/>
            <a:ext cx="4224890" cy="5307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25" i="1" kern="0" spc="24" dirty="0">
                <a:solidFill>
                  <a:srgbClr val="97B2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“We argue. The unit calms things. That’s what we needed.”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4036483" y="5776913"/>
            <a:ext cx="4717203" cy="2513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kern="0" spc="16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FATHER, ENROLLMENT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82050" y="3784606"/>
            <a:ext cx="2558838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FESI · SINCE ENROLLMENT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82050" y="5037665"/>
            <a:ext cx="533400" cy="7620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23" name="Shape 21"/>
          <p:cNvSpPr/>
          <p:nvPr/>
        </p:nvSpPr>
        <p:spPr>
          <a:xfrm>
            <a:off x="8782050" y="5037665"/>
            <a:ext cx="5334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24" name="Text 22"/>
          <p:cNvSpPr/>
          <p:nvPr/>
        </p:nvSpPr>
        <p:spPr>
          <a:xfrm>
            <a:off x="8900186" y="5894915"/>
            <a:ext cx="373327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9486900" y="4542365"/>
            <a:ext cx="533400" cy="12573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26" name="Shape 24"/>
          <p:cNvSpPr/>
          <p:nvPr/>
        </p:nvSpPr>
        <p:spPr>
          <a:xfrm>
            <a:off x="9486900" y="4542365"/>
            <a:ext cx="533400" cy="16933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27" name="Text 25"/>
          <p:cNvSpPr/>
          <p:nvPr/>
        </p:nvSpPr>
        <p:spPr>
          <a:xfrm>
            <a:off x="9642078" y="5894915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+1Y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0191750" y="4161365"/>
            <a:ext cx="533400" cy="1638300"/>
          </a:xfrm>
          <a:prstGeom prst="rect">
            <a:avLst/>
          </a:prstGeom>
          <a:gradFill rotWithShape="1">
            <a:gsLst>
              <a:gs pos="0">
                <a:srgbClr val="57B88A">
                  <a:alpha val="45000"/>
                </a:srgbClr>
              </a:gs>
              <a:gs pos="100000">
                <a:srgbClr val="57B88A">
                  <a:alpha val="10000"/>
                </a:srgbClr>
              </a:gs>
            </a:gsLst>
            <a:lin ang="5400000" scaled="0"/>
          </a:gradFill>
        </p:spPr>
      </p:sp>
      <p:sp>
        <p:nvSpPr>
          <p:cNvPr id="29" name="Shape 27"/>
          <p:cNvSpPr/>
          <p:nvPr/>
        </p:nvSpPr>
        <p:spPr>
          <a:xfrm>
            <a:off x="10191750" y="4161365"/>
            <a:ext cx="533400" cy="16933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30" name="Text 28"/>
          <p:cNvSpPr/>
          <p:nvPr/>
        </p:nvSpPr>
        <p:spPr>
          <a:xfrm>
            <a:off x="10346928" y="5894915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+2Y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0896600" y="4313765"/>
            <a:ext cx="533400" cy="1485900"/>
          </a:xfrm>
          <a:prstGeom prst="rect">
            <a:avLst/>
          </a:prstGeom>
          <a:gradFill rotWithShape="1">
            <a:gsLst>
              <a:gs pos="0">
                <a:srgbClr val="3F8FD6">
                  <a:alpha val="45000"/>
                </a:srgbClr>
              </a:gs>
              <a:gs pos="100000">
                <a:srgbClr val="3F8FD6">
                  <a:alpha val="10000"/>
                </a:srgbClr>
              </a:gs>
            </a:gsLst>
            <a:lin ang="5400000" scaled="0"/>
          </a:gradFill>
        </p:spPr>
      </p:sp>
      <p:sp>
        <p:nvSpPr>
          <p:cNvPr id="32" name="Shape 30"/>
          <p:cNvSpPr/>
          <p:nvPr/>
        </p:nvSpPr>
        <p:spPr>
          <a:xfrm>
            <a:off x="10896600" y="4313765"/>
            <a:ext cx="533400" cy="16933"/>
          </a:xfrm>
          <a:prstGeom prst="rect">
            <a:avLst/>
          </a:prstGeom>
          <a:solidFill>
            <a:srgbClr val="3F8FD6"/>
          </a:solidFill>
        </p:spPr>
      </p:sp>
      <p:sp>
        <p:nvSpPr>
          <p:cNvPr id="33" name="Text 31"/>
          <p:cNvSpPr/>
          <p:nvPr/>
        </p:nvSpPr>
        <p:spPr>
          <a:xfrm>
            <a:off x="11051778" y="5894915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+3Y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1601450" y="4466165"/>
            <a:ext cx="533400" cy="13335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5" name="Shape 33"/>
          <p:cNvSpPr/>
          <p:nvPr/>
        </p:nvSpPr>
        <p:spPr>
          <a:xfrm>
            <a:off x="11601450" y="4466165"/>
            <a:ext cx="5334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6" name="Text 34"/>
          <p:cNvSpPr/>
          <p:nvPr/>
        </p:nvSpPr>
        <p:spPr>
          <a:xfrm>
            <a:off x="11756628" y="5894915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+4Y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12306300" y="4580465"/>
            <a:ext cx="533400" cy="1219200"/>
          </a:xfrm>
          <a:prstGeom prst="rect">
            <a:avLst/>
          </a:prstGeom>
          <a:gradFill rotWithShape="1">
            <a:gsLst>
              <a:gs pos="0">
                <a:srgbClr val="E0973F">
                  <a:alpha val="50000"/>
                </a:srgbClr>
              </a:gs>
              <a:gs pos="100000">
                <a:srgbClr val="E0973F">
                  <a:alpha val="12000"/>
                </a:srgbClr>
              </a:gs>
            </a:gsLst>
            <a:lin ang="5400000" scaled="0"/>
          </a:gradFill>
        </p:spPr>
      </p:sp>
      <p:sp>
        <p:nvSpPr>
          <p:cNvPr id="38" name="Shape 36"/>
          <p:cNvSpPr/>
          <p:nvPr/>
        </p:nvSpPr>
        <p:spPr>
          <a:xfrm>
            <a:off x="12306300" y="4580465"/>
            <a:ext cx="533400" cy="16933"/>
          </a:xfrm>
          <a:prstGeom prst="rect">
            <a:avLst/>
          </a:prstGeom>
          <a:solidFill>
            <a:srgbClr val="E0973F"/>
          </a:solidFill>
        </p:spPr>
      </p:sp>
      <p:sp>
        <p:nvSpPr>
          <p:cNvPr id="39" name="Text 37"/>
          <p:cNvSpPr/>
          <p:nvPr/>
        </p:nvSpPr>
        <p:spPr>
          <a:xfrm>
            <a:off x="12461478" y="5894915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+5Y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13011150" y="4694765"/>
            <a:ext cx="533400" cy="1104900"/>
          </a:xfrm>
          <a:prstGeom prst="rect">
            <a:avLst/>
          </a:prstGeom>
          <a:gradFill rotWithShape="1">
            <a:gsLst>
              <a:gs pos="0">
                <a:srgbClr val="E0524D">
                  <a:alpha val="45000"/>
                </a:srgbClr>
              </a:gs>
              <a:gs pos="100000">
                <a:srgbClr val="E0524D">
                  <a:alpha val="10000"/>
                </a:srgbClr>
              </a:gs>
            </a:gsLst>
            <a:lin ang="5400000" scaled="0"/>
          </a:gradFill>
        </p:spPr>
      </p:sp>
      <p:sp>
        <p:nvSpPr>
          <p:cNvPr id="41" name="Shape 39"/>
          <p:cNvSpPr/>
          <p:nvPr/>
        </p:nvSpPr>
        <p:spPr>
          <a:xfrm>
            <a:off x="13011150" y="4694765"/>
            <a:ext cx="533400" cy="16933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42" name="Text 40"/>
          <p:cNvSpPr/>
          <p:nvPr/>
        </p:nvSpPr>
        <p:spPr>
          <a:xfrm>
            <a:off x="13166328" y="5894915"/>
            <a:ext cx="299111" cy="1820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Now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8782050" y="6210300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Baseline</a:t>
            </a:r>
            <a:r>
              <a:rPr lang="en-US" sz="1275" kern="0" spc="5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52</a:t>
            </a: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Peak (Y2) </a:t>
            </a:r>
            <a:r>
              <a:rPr lang="en-US" sz="1275" kern="0" spc="51" dirty="0">
                <a:solidFill>
                  <a:srgbClr val="A9E2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78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8782050" y="6534150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Current </a:t>
            </a:r>
            <a:r>
              <a:rPr lang="en-US" sz="1275" kern="0" spc="51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unreadable · 30d ago 64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8782050" y="6858000"/>
            <a:ext cx="5827586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75" kern="0" spc="51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Mediation</a:t>
            </a:r>
            <a:r>
              <a:rPr lang="en-US" sz="1275" kern="0" spc="51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47 lifetime · 9 this year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95700" y="1752600"/>
            <a:ext cx="2052320" cy="233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5904230" y="2914015"/>
            <a:ext cx="137223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906771" y="3034252"/>
            <a:ext cx="1203986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6"/>
            <a:ext cx="2773918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TIMELINE · SELECTED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2020.09.04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433695" y="4162425"/>
            <a:ext cx="287655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Enrollment day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0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2021.05.22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433695" y="4561205"/>
            <a:ext cx="2592070" cy="294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First mediation · resolved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29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2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0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2022.11.18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433695" y="4960620"/>
            <a:ext cx="3887470" cy="294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Mediation · early termination by mother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19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1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39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2024.01.30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433695" y="5359400"/>
            <a:ext cx="3988435" cy="294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Pattern: daughter exits during mediation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848100" y="5653627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848100" y="5653627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4016375" y="575840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2025.06.14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433695" y="5758180"/>
            <a:ext cx="4187825" cy="294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Daughter: “the voice doesn’t help anymore”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848100" y="6052617"/>
            <a:ext cx="5525691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848100" y="6052617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4016375" y="615739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2026.06.02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433695" y="6157392"/>
            <a:ext cx="2865887" cy="19896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Mediation cooldown patch (#7138)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3848100" y="6451606"/>
            <a:ext cx="5525691" cy="370417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3848100" y="6451606"/>
            <a:ext cx="25400" cy="370417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44" name="Text 42"/>
          <p:cNvSpPr/>
          <p:nvPr/>
        </p:nvSpPr>
        <p:spPr>
          <a:xfrm>
            <a:off x="4016375" y="6556381"/>
            <a:ext cx="2149488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2026.09.14 · 22:00–22:14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141720" y="6556375"/>
            <a:ext cx="3195955" cy="2755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DATA UNREADABLE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9621441" y="4057650"/>
            <a:ext cx="4818459" cy="2764367"/>
          </a:xfrm>
          <a:prstGeom prst="rect">
            <a:avLst/>
          </a:prstGeom>
          <a:solidFill>
            <a:srgbClr val="E0524D">
              <a:alpha val="5000"/>
            </a:srgbClr>
          </a:solidFill>
          <a:ln w="8467">
            <a:solidFill>
              <a:srgbClr val="E0524D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20408" y="4237565"/>
            <a:ext cx="4553142" cy="26087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900" kern="0" spc="180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LAST ACCESSIBLE FRAGMENT · 22:13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820408" y="4574642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child user inputting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9820408" y="4853248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maintenance commands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820408" y="5131854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...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9820408" y="5410460"/>
            <a:ext cx="4553142" cy="3167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125" kern="0" spc="2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OFFLINE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95700" y="1752600"/>
            <a:ext cx="2091690" cy="332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7260590" y="2914015"/>
            <a:ext cx="137223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906771" y="3034252"/>
            <a:ext cx="1203986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6"/>
            <a:ext cx="275485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INDEX · BY RESIDENT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461933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3848100" y="4162425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14950" y="4162425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62 / 100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8375" y="4179570"/>
            <a:ext cx="1482725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6mo: -8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874690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3848100" y="4575181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Mother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14950" y="4575181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65 / 100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8375" y="4592320"/>
            <a:ext cx="1482725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6mo: -5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5287427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3848100" y="4987919"/>
            <a:ext cx="138303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Daughter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14950" y="4987919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41 / 100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76695" y="5005070"/>
            <a:ext cx="2224405" cy="260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↓ from peak 88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700183"/>
            <a:ext cx="49530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3848100" y="5400675"/>
            <a:ext cx="1531461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97B2C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Household FESI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49888" y="5400675"/>
            <a:ext cx="1181100" cy="232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 / 64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26985" y="5426075"/>
            <a:ext cx="1174115" cy="2495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125" kern="0" spc="5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30d ago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220200" y="3708406"/>
            <a:ext cx="4512945" cy="120385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daughter’s trust band shows the steepest decline. Cross-referenced with vocal records: from </a:t>
            </a:r>
            <a:r>
              <a:rPr lang="en-US" sz="1350" kern="0" spc="27" dirty="0">
                <a:solidFill>
                  <a:srgbClr val="6FC3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“I like the voice” </a:t>
            </a:r>
            <a:r>
              <a:rPr lang="en-US" sz="1350" kern="0" spc="27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(age 8) to “the voice doesn’t help anymore” (age 11) to silence (age 12).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95700" y="1752600"/>
            <a:ext cx="1864995" cy="2679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8642350" y="2914015"/>
            <a:ext cx="147129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906771" y="3034252"/>
            <a:ext cx="1203986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6"/>
            <a:ext cx="260671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2021.04.10 · #6024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788025" y="4162425"/>
            <a:ext cx="7055485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Initial post-enrollment · adaptation good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2022.08.05 · #7138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788025" y="4561205"/>
            <a:ext cx="653923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upgrade · mediation protocol v2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29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2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0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2024.01.12 · #6024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788025" y="4960620"/>
            <a:ext cx="567817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· mediation fatigue noted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19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1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39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2025.06.20 · #7138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788025" y="5359400"/>
            <a:ext cx="567817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Reduce active mediation frequency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848100" y="5653627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848100" y="5653627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4016375" y="575840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2026.02.14 · #6024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788025" y="5758180"/>
            <a:ext cx="275336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· stable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848100" y="6052617"/>
            <a:ext cx="10591800" cy="370417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848100" y="6052617"/>
            <a:ext cx="25400" cy="370417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40" name="Text 38"/>
          <p:cNvSpPr/>
          <p:nvPr/>
        </p:nvSpPr>
        <p:spPr>
          <a:xfrm>
            <a:off x="4016375" y="615739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2026.06.02 · #7138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788025" y="6157595"/>
            <a:ext cx="8106410" cy="3816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Cooldown patch · daughter curve flagged · no escalation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5700" y="1752600"/>
            <a:ext cx="1905635" cy="309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10118725" y="2914015"/>
            <a:ext cx="2234565" cy="419100"/>
          </a:xfrm>
          <a:prstGeom prst="rect">
            <a:avLst/>
          </a:prstGeom>
          <a:gradFill rotWithShape="1">
            <a:gsLst>
              <a:gs pos="0">
                <a:srgbClr val="E0973F">
                  <a:alpha val="22000"/>
                </a:srgbClr>
              </a:gs>
              <a:gs pos="100000">
                <a:srgbClr val="E0973F">
                  <a:alpha val="8000"/>
                </a:srgbClr>
              </a:gs>
            </a:gsLst>
            <a:lin ang="5400000" scaled="0"/>
          </a:gradFill>
          <a:ln w="8467">
            <a:solidFill>
              <a:srgbClr val="E0973F"/>
            </a:solidFill>
            <a:prstDash val="solid"/>
          </a:ln>
          <a:effectLst>
            <a:outerShdw blurRad="209550" dist="50800" dir="16200000" algn="bl" rotWithShape="0">
              <a:srgbClr val="E0973F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688756" y="2913590"/>
            <a:ext cx="1789245" cy="419100"/>
          </a:xfrm>
          <a:prstGeom prst="rect">
            <a:avLst/>
          </a:prstGeom>
          <a:gradFill rotWithShape="1">
            <a:gsLst>
              <a:gs pos="0">
                <a:srgbClr val="E0524D">
                  <a:alpha val="24000"/>
                </a:srgbClr>
              </a:gs>
              <a:gs pos="100000">
                <a:srgbClr val="E0524D">
                  <a:alpha val="8000"/>
                </a:srgbClr>
              </a:gs>
            </a:gsLst>
            <a:lin ang="5400000" scaled="0"/>
          </a:gradFill>
          <a:ln w="8467">
            <a:solidFill>
              <a:srgbClr val="E0524D"/>
            </a:solidFill>
            <a:prstDash val="solid"/>
          </a:ln>
          <a:effectLst>
            <a:outerShdw blurRad="209550" dist="50800" dir="16200000" algn="bl" rotWithShape="0">
              <a:srgbClr val="E0524D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906771" y="3034252"/>
            <a:ext cx="1203986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29808" y="3038475"/>
            <a:ext cx="206375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F7C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100" y="3708406"/>
            <a:ext cx="2606715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PAST INSPECTOR RECORDS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8100" y="405765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848100" y="405765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16375" y="416242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2021.04.10 · #6024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788025" y="4162425"/>
            <a:ext cx="7055485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Initial post-enrollment · adaptation good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3848100" y="4456640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3848100" y="4456640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016375" y="4561415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2022.08.05 · #7138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788025" y="4561205"/>
            <a:ext cx="653923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 upgrade · mediation protocol v2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3848100" y="4855629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3848100" y="485562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016375" y="496040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2024.01.12 · #6024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788025" y="4960620"/>
            <a:ext cx="567817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· mediation fatigue noted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3848100" y="5254619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3848100" y="5254619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4016375" y="5359394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2025.06.20 · #7138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788025" y="5359400"/>
            <a:ext cx="567817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Reduce active mediation frequency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3848100" y="5653627"/>
            <a:ext cx="10591800" cy="370417"/>
          </a:xfrm>
          <a:prstGeom prst="rect">
            <a:avLst/>
          </a:prstGeom>
          <a:solidFill>
            <a:srgbClr val="78AADC">
              <a:alpha val="4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848100" y="5653627"/>
            <a:ext cx="25400" cy="370417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4016375" y="575840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2026.02.14 · #6024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788025" y="5758180"/>
            <a:ext cx="2753360" cy="294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Routine · stable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848100" y="6052617"/>
            <a:ext cx="10591800" cy="370417"/>
          </a:xfrm>
          <a:prstGeom prst="rect">
            <a:avLst/>
          </a:prstGeom>
          <a:solidFill>
            <a:srgbClr val="E0524D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3848100" y="6052617"/>
            <a:ext cx="25400" cy="370417"/>
          </a:xfrm>
          <a:prstGeom prst="rect">
            <a:avLst/>
          </a:prstGeom>
          <a:solidFill>
            <a:srgbClr val="E0524D"/>
          </a:solidFill>
        </p:spPr>
      </p:sp>
      <p:sp>
        <p:nvSpPr>
          <p:cNvPr id="40" name="Text 38"/>
          <p:cNvSpPr/>
          <p:nvPr/>
        </p:nvSpPr>
        <p:spPr>
          <a:xfrm>
            <a:off x="4016375" y="6157392"/>
            <a:ext cx="1760220" cy="198967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2026.06.02 · #7138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788025" y="6157595"/>
            <a:ext cx="8106410" cy="3816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kern="0" spc="34" dirty="0">
                <a:solidFill>
                  <a:srgbClr val="FF7C7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Cooldown patch · daughter curve flagged · no escalation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5700" y="1752600"/>
            <a:ext cx="1905635" cy="309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3081793" y="2913590"/>
            <a:ext cx="1396206" cy="41910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99810" y="3021546"/>
            <a:ext cx="211799" cy="241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0659" y="3034252"/>
            <a:ext cx="80552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406"/>
            <a:ext cx="391367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38 / Mother 36 / Daughter 12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36"/>
            <a:ext cx="4137411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 Coordination · Mediation Layer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7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48"/>
            <a:ext cx="836216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Years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8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COMMAND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3321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i="1" kern="0" spc="86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Shutdown · authorized minor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293258"/>
            <a:ext cx="2038892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8100" y="6060967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5167" y="6278982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Restart and Restore Service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4085167" y="6618719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Apply mediation cooldown · monitor 30 days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39250" y="6060967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76317" y="6278982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Honor User Shutdown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9476317" y="6618719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Pause unit · schedule family review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5700" y="1752600"/>
            <a:ext cx="1855470" cy="309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7" name="Shape 12"/>
          <p:cNvSpPr/>
          <p:nvPr/>
        </p:nvSpPr>
        <p:spPr>
          <a:xfrm>
            <a:off x="3848100" y="6062345"/>
            <a:ext cx="5200650" cy="94869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66117" y="5945607"/>
            <a:ext cx="1362736" cy="2032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28" name="Text 26"/>
          <p:cNvSpPr/>
          <p:nvPr/>
        </p:nvSpPr>
        <p:spPr>
          <a:xfrm>
            <a:off x="4161367" y="5983707"/>
            <a:ext cx="1248436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96383A">
                  <a:alpha val="42000"/>
                </a:srgbClr>
              </a:gs>
              <a:gs pos="66000">
                <a:srgbClr val="96383A">
                  <a:alpha val="0"/>
                </a:srgbClr>
              </a:gs>
            </a:gsLst>
            <a:path path="circle">
              <a:fillToRect l="50000" t="58000" r="50000" b="42000"/>
            </a:path>
          </a:gradFill>
        </p:spPr>
      </p:sp>
      <p:sp>
        <p:nvSpPr>
          <p:cNvPr id="3" name="Shape 1"/>
          <p:cNvSpPr/>
          <p:nvPr/>
        </p:nvSpPr>
        <p:spPr>
          <a:xfrm>
            <a:off x="3524250" y="1905000"/>
            <a:ext cx="11239500" cy="6477000"/>
          </a:xfrm>
          <a:prstGeom prst="rect">
            <a:avLst/>
          </a:prstGeom>
          <a:gradFill rotWithShape="1">
            <a:gsLst>
              <a:gs pos="0">
                <a:srgbClr val="FF9691">
                  <a:alpha val="16000"/>
                </a:srgbClr>
              </a:gs>
              <a:gs pos="56000">
                <a:srgbClr val="FF9691">
                  <a:alpha val="0"/>
                </a:srgbClr>
              </a:gs>
            </a:gsLst>
            <a:path path="circle">
              <a:fillToRect l="50000" r="50000" b="100000"/>
            </a:path>
          </a:gradFill>
        </p:spPr>
      </p:sp>
      <p:sp>
        <p:nvSpPr>
          <p:cNvPr id="4" name="Shape 2"/>
          <p:cNvSpPr/>
          <p:nvPr/>
        </p:nvSpPr>
        <p:spPr>
          <a:xfrm>
            <a:off x="3524250" y="2823633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810000" y="2114550"/>
            <a:ext cx="2980121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DOORWAY TERMINAL · ALERT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0" y="2330444"/>
            <a:ext cx="2980121" cy="3598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17F-03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524250" y="3414190"/>
            <a:ext cx="11239500" cy="9525"/>
          </a:xfrm>
          <a:prstGeom prst="rect">
            <a:avLst/>
          </a:prstGeom>
          <a:solidFill>
            <a:srgbClr val="78AADC">
              <a:alpha val="13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810000" y="2832106"/>
            <a:ext cx="192524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FFD9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RESIDENT SUMMARY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925741" y="2832106"/>
            <a:ext cx="1236663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ACQUISITION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52903" y="2832106"/>
            <a:ext cx="1121701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FAMILY LOG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8665104" y="2832106"/>
            <a:ext cx="1327547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TRUST TREND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183152" y="2832106"/>
            <a:ext cx="1998398" cy="620183"/>
          </a:xfrm>
          <a:prstGeom prst="rect">
            <a:avLst/>
          </a:prstGeom>
          <a:noFill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kern="0" spc="153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INSPECTION HISTORY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3081793" y="2913590"/>
            <a:ext cx="1396206" cy="41910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99810" y="3021546"/>
            <a:ext cx="211799" cy="241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0659" y="3034252"/>
            <a:ext cx="805524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68" dirty="0">
                <a:solidFill>
                  <a:srgbClr val="7FD6A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8100" y="374451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HOUSEHOLD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72200" y="3708406"/>
            <a:ext cx="3913672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Father 38 / Mother 36 / Daughter 12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848100" y="408834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COMPANION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172200" y="4052236"/>
            <a:ext cx="4137411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Family Coordination · Mediation Layer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848100" y="4432176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 TIME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72200" y="4396048"/>
            <a:ext cx="836216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kern="0" spc="86" dirty="0">
                <a:solidFill>
                  <a:srgbClr val="D7E6F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 Years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3848100" y="4775988"/>
            <a:ext cx="2266950" cy="3095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125" kern="0" spc="158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LAST COMMAND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172200" y="4739878"/>
            <a:ext cx="3321620" cy="381926"/>
          </a:xfrm>
          <a:prstGeom prst="rect">
            <a:avLst/>
          </a:prstGeom>
          <a:noFill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i="1" kern="0" spc="86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Shutdown · authorized minor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848100" y="5293258"/>
            <a:ext cx="2038892" cy="215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52" dirty="0">
                <a:solidFill>
                  <a:srgbClr val="5F78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DISPOSITION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90925" y="8306858"/>
            <a:ext cx="142875" cy="952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3590925" y="8172450"/>
            <a:ext cx="9525" cy="142875"/>
          </a:xfrm>
          <a:prstGeom prst="rect">
            <a:avLst/>
          </a:prstGeom>
          <a:solidFill>
            <a:srgbClr val="BEE0FC">
              <a:alpha val="82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4442911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4504824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14566736" y="8083544"/>
            <a:ext cx="65414" cy="114300"/>
          </a:xfrm>
          <a:prstGeom prst="rect">
            <a:avLst/>
          </a:prstGeom>
          <a:solidFill>
            <a:srgbClr val="5F7895">
              <a:alpha val="5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14335125" y="2038350"/>
            <a:ext cx="47625" cy="47625"/>
          </a:xfrm>
          <a:prstGeom prst="rect">
            <a:avLst/>
          </a:prstGeom>
          <a:ln w="8467">
            <a:solidFill>
              <a:srgbClr val="BEE0FC">
                <a:alpha val="8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5700" y="1752600"/>
            <a:ext cx="1855470" cy="3098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96B4D7">
                    <a:alpha val="3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DOORWAY · OFFLINE</a:t>
            </a:r>
            <a:endParaRPr lang="en-US" sz="825" dirty="0"/>
          </a:p>
        </p:txBody>
      </p:sp>
      <p:sp>
        <p:nvSpPr>
          <p:cNvPr id="41" name="Shape 24"/>
          <p:cNvSpPr/>
          <p:nvPr/>
        </p:nvSpPr>
        <p:spPr>
          <a:xfrm>
            <a:off x="3848100" y="6060967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4" name="Text 27"/>
          <p:cNvSpPr/>
          <p:nvPr/>
        </p:nvSpPr>
        <p:spPr>
          <a:xfrm>
            <a:off x="4085167" y="6278982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Restart and Restore Service</a:t>
            </a:r>
            <a:endParaRPr lang="en-US" sz="1575" dirty="0"/>
          </a:p>
        </p:txBody>
      </p:sp>
      <p:sp>
        <p:nvSpPr>
          <p:cNvPr id="45" name="Text 28"/>
          <p:cNvSpPr/>
          <p:nvPr/>
        </p:nvSpPr>
        <p:spPr>
          <a:xfrm>
            <a:off x="4085167" y="6618719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Apply mediation cooldown · monitor 30 days</a:t>
            </a:r>
            <a:endParaRPr lang="en-US" sz="1200" dirty="0"/>
          </a:p>
        </p:txBody>
      </p:sp>
      <p:sp>
        <p:nvSpPr>
          <p:cNvPr id="46" name="Shape 29"/>
          <p:cNvSpPr/>
          <p:nvPr/>
        </p:nvSpPr>
        <p:spPr>
          <a:xfrm>
            <a:off x="9239250" y="6060967"/>
            <a:ext cx="5200650" cy="945092"/>
          </a:xfrm>
          <a:prstGeom prst="rect">
            <a:avLst/>
          </a:prstGeom>
          <a:solidFill>
            <a:srgbClr val="78AADC">
              <a:alpha val="5000"/>
            </a:srgbClr>
          </a:solidFill>
          <a:ln w="8467">
            <a:solidFill>
              <a:srgbClr val="96C3EB">
                <a:alpha val="42000"/>
              </a:srgbClr>
            </a:solidFill>
            <a:prstDash val="solid"/>
          </a:ln>
        </p:spPr>
      </p:sp>
      <p:sp>
        <p:nvSpPr>
          <p:cNvPr id="47" name="Text 30"/>
          <p:cNvSpPr/>
          <p:nvPr/>
        </p:nvSpPr>
        <p:spPr>
          <a:xfrm>
            <a:off x="9476317" y="6278982"/>
            <a:ext cx="5199168" cy="292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75" b="1" kern="0" spc="126" dirty="0">
                <a:solidFill>
                  <a:srgbClr val="A9E2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 </a:t>
            </a:r>
            <a:r>
              <a:rPr lang="en-US" sz="1575" kern="0" spc="126" dirty="0">
                <a:solidFill>
                  <a:srgbClr val="D7E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Honor User Shutdown</a:t>
            </a:r>
            <a:endParaRPr lang="en-US" sz="1575" dirty="0"/>
          </a:p>
        </p:txBody>
      </p:sp>
      <p:sp>
        <p:nvSpPr>
          <p:cNvPr id="48" name="Text 31"/>
          <p:cNvSpPr/>
          <p:nvPr/>
        </p:nvSpPr>
        <p:spPr>
          <a:xfrm>
            <a:off x="9476317" y="6618719"/>
            <a:ext cx="5199168" cy="20743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5F78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Pause unit · schedule family review</a:t>
            </a:r>
            <a:endParaRPr lang="en-US" sz="1200" dirty="0"/>
          </a:p>
        </p:txBody>
      </p:sp>
      <p:sp>
        <p:nvSpPr>
          <p:cNvPr id="49" name="Shape 12"/>
          <p:cNvSpPr/>
          <p:nvPr/>
        </p:nvSpPr>
        <p:spPr>
          <a:xfrm>
            <a:off x="9239250" y="6062345"/>
            <a:ext cx="5200650" cy="948690"/>
          </a:xfrm>
          <a:prstGeom prst="rect">
            <a:avLst/>
          </a:prstGeom>
          <a:gradFill rotWithShape="1">
            <a:gsLst>
              <a:gs pos="0">
                <a:srgbClr val="57B88A">
                  <a:alpha val="20000"/>
                </a:srgbClr>
              </a:gs>
              <a:gs pos="100000">
                <a:srgbClr val="57B88A">
                  <a:alpha val="6000"/>
                </a:srgbClr>
              </a:gs>
            </a:gsLst>
            <a:lin ang="5400000" scaled="0"/>
          </a:gradFill>
          <a:ln w="8467">
            <a:solidFill>
              <a:srgbClr val="57B88A"/>
            </a:solidFill>
            <a:prstDash val="solid"/>
          </a:ln>
          <a:effectLst>
            <a:outerShdw blurRad="190500" dist="50800" dir="16200000" algn="bl" rotWithShape="0">
              <a:srgbClr val="57B88A">
                <a:alpha val="20000"/>
              </a:srgbClr>
            </a:outerShdw>
          </a:effectLst>
        </p:spPr>
      </p:sp>
      <p:sp>
        <p:nvSpPr>
          <p:cNvPr id="42" name="Shape 25"/>
          <p:cNvSpPr/>
          <p:nvPr/>
        </p:nvSpPr>
        <p:spPr>
          <a:xfrm>
            <a:off x="4066117" y="5945607"/>
            <a:ext cx="1362736" cy="203200"/>
          </a:xfrm>
          <a:prstGeom prst="rect">
            <a:avLst/>
          </a:prstGeom>
          <a:solidFill>
            <a:srgbClr val="57B88A"/>
          </a:solidFill>
        </p:spPr>
      </p:sp>
      <p:sp>
        <p:nvSpPr>
          <p:cNvPr id="43" name="Text 26"/>
          <p:cNvSpPr/>
          <p:nvPr/>
        </p:nvSpPr>
        <p:spPr>
          <a:xfrm>
            <a:off x="4161367" y="5983707"/>
            <a:ext cx="1248436" cy="165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614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RECOMMENDED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2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3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4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5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6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7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8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9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0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1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2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3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4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5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6.xml><?xml version="1.0" encoding="utf-8"?>
<p:tagLst xmlns:p="http://schemas.openxmlformats.org/presentationml/2006/main">
  <p:tag name="KSO_WM_DIAGRAM_VIRTUALLY_FRAME" val="{&quot;height&quot;:124.85,&quot;left&quot;:303,&quot;top&quot;:327.75,&quot;width&quot;:405}"/>
</p:tagLst>
</file>

<file path=ppt/tags/tag17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18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19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0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1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2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3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4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5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6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7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8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29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30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31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ags/tag32.xml><?xml version="1.0" encoding="utf-8"?>
<p:tagLst xmlns:p="http://schemas.openxmlformats.org/presentationml/2006/main">
  <p:tag name="KSO_WM_DIAGRAM_VIRTUALLY_FRAME" val="{&quot;height&quot;:113.9,&quot;left&quot;:316.25,&quot;top&quot;:327.75,&quot;width&quot;:559.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10402</Words>
  <Application>WPS 演示</Application>
  <PresentationFormat>On-screen Show (16:9)</PresentationFormat>
  <Paragraphs>1148</Paragraphs>
  <Slides>24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Helvetica</vt:lpstr>
      <vt:lpstr>Helvetica</vt:lpstr>
      <vt:lpstr>Helvetica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蔡秉颐</cp:lastModifiedBy>
  <cp:revision>24</cp:revision>
  <dcterms:created xsi:type="dcterms:W3CDTF">2026-06-26T09:00:00Z</dcterms:created>
  <dcterms:modified xsi:type="dcterms:W3CDTF">2026-06-27T05:59:30Z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67F01D66D9F849C0AAA7D62E339D9943_13</vt:lpwstr>
  </property>
  <property fmtid="{D5CDD505-2E9C-101B-9397-08002B2CF9AE}" pid="3" name="KSOProductBuildVer">
    <vt:lpwstr>2052-12.1.0.23542</vt:lpwstr>
  </property>
</Properties>
</file>