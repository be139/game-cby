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media/image4.svg" ContentType="image/svg+xml"/>
  <Override PartName="/ppt/media/image6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79" r:id="rId16"/>
    <p:sldId id="280" r:id="rId17"/>
    <p:sldId id="281" r:id="rId18"/>
    <p:sldId id="282" r:id="rId19"/>
    <p:sldId id="283" r:id="rId20"/>
    <p:sldId id="284" r:id="rId21"/>
    <p:sldId id="285" r:id="rId22"/>
    <p:sldId id="286" r:id="rId23"/>
    <p:sldId id="287" r:id="rId24"/>
    <p:sldId id="288" r:id="rId25"/>
    <p:sldId id="289" r:id="rId26"/>
    <p:sldId id="290" r:id="rId27"/>
    <p:sldId id="275" r:id="rId28"/>
    <p:sldId id="277" r:id="rId29"/>
    <p:sldId id="278" r:id="rId30"/>
    <p:sldId id="268" r:id="rId31"/>
    <p:sldId id="269" r:id="rId32"/>
    <p:sldId id="270" r:id="rId33"/>
    <p:sldId id="271" r:id="rId34"/>
    <p:sldId id="272" r:id="rId35"/>
    <p:sldId id="273" r:id="rId36"/>
    <p:sldId id="274" r:id="rId37"/>
    <p:sldId id="276" r:id="rId38"/>
    <p:sldId id="292" r:id="rId39"/>
    <p:sldId id="293" r:id="rId40"/>
    <p:sldId id="295" r:id="rId41"/>
    <p:sldId id="297" r:id="rId42"/>
    <p:sldId id="299" r:id="rId43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6" Type="http://schemas.openxmlformats.org/officeDocument/2006/relationships/tableStyles" Target="tableStyles.xml"/><Relationship Id="rId45" Type="http://schemas.openxmlformats.org/officeDocument/2006/relationships/viewProps" Target="viewProps.xml"/><Relationship Id="rId44" Type="http://schemas.openxmlformats.org/officeDocument/2006/relationships/presProps" Target="presProps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sv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svg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5.xml"/><Relationship Id="rId8" Type="http://schemas.openxmlformats.org/officeDocument/2006/relationships/tags" Target="../tags/tag14.xml"/><Relationship Id="rId7" Type="http://schemas.openxmlformats.org/officeDocument/2006/relationships/tags" Target="../tags/tag13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6" Type="http://schemas.openxmlformats.org/officeDocument/2006/relationships/notesSlide" Target="../notesSlides/notesSlide12.xml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2.svg"/><Relationship Id="rId13" Type="http://schemas.openxmlformats.org/officeDocument/2006/relationships/image" Target="../media/image7.png"/><Relationship Id="rId12" Type="http://schemas.openxmlformats.org/officeDocument/2006/relationships/tags" Target="../tags/tag18.xml"/><Relationship Id="rId11" Type="http://schemas.openxmlformats.org/officeDocument/2006/relationships/tags" Target="../tags/tag17.xml"/><Relationship Id="rId10" Type="http://schemas.openxmlformats.org/officeDocument/2006/relationships/tags" Target="../tags/tag16.xml"/><Relationship Id="rId1" Type="http://schemas.openxmlformats.org/officeDocument/2006/relationships/tags" Target="../tags/tag7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svg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svg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svg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svg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svg"/><Relationship Id="rId1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svg"/><Relationship Id="rId1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svg"/><Relationship Id="rId1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36.xml"/><Relationship Id="rId11" Type="http://schemas.openxmlformats.org/officeDocument/2006/relationships/tags" Target="../tags/tag35.xml"/><Relationship Id="rId10" Type="http://schemas.openxmlformats.org/officeDocument/2006/relationships/tags" Target="../tags/tag34.xml"/><Relationship Id="rId1" Type="http://schemas.openxmlformats.org/officeDocument/2006/relationships/tags" Target="../tags/tag2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svg"/><Relationship Id="rId1" Type="http://schemas.openxmlformats.org/officeDocument/2006/relationships/image" Target="../media/image7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svg"/><Relationship Id="rId1" Type="http://schemas.openxmlformats.org/officeDocument/2006/relationships/image" Target="../media/image10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svg"/><Relationship Id="rId1" Type="http://schemas.openxmlformats.org/officeDocument/2006/relationships/image" Target="../media/image8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3400" y="495300"/>
            <a:ext cx="85725" cy="85725"/>
          </a:xfrm>
          <a:prstGeom prst="ellipse">
            <a:avLst/>
          </a:prstGeom>
          <a:solidFill>
            <a:srgbClr val="57B88A"/>
          </a:solidFill>
          <a:effectLst>
            <a:outerShdw blurRad="95250" dist="50800" dir="16200000" algn="bl" rotWithShape="0">
              <a:srgbClr val="57B88A">
                <a:alpha val="100000"/>
              </a:srgbClr>
            </a:outerShdw>
          </a:effectLst>
        </p:spPr>
      </p:sp>
      <p:sp>
        <p:nvSpPr>
          <p:cNvPr id="4" name="Text 1"/>
          <p:cNvSpPr/>
          <p:nvPr/>
        </p:nvSpPr>
        <p:spPr>
          <a:xfrm>
            <a:off x="704850" y="438150"/>
            <a:ext cx="4196080" cy="2381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7B2C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COMPANION UNIT · ACTIVE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33400" y="704850"/>
            <a:ext cx="3057793" cy="323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50" kern="0" spc="270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MIA · 7842</a:t>
            </a:r>
            <a:endParaRPr lang="en-US" sz="22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alphaModFix amt="80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3400" y="1123950"/>
            <a:ext cx="152400" cy="152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62000" y="1104900"/>
            <a:ext cx="2544232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kern="0" spc="180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GAZE TO OPEN WORKSPACE</a:t>
            </a:r>
            <a:endParaRPr lang="en-US" sz="1125" dirty="0"/>
          </a:p>
        </p:txBody>
      </p:sp>
      <p:sp>
        <p:nvSpPr>
          <p:cNvPr id="8" name="Text 4"/>
          <p:cNvSpPr/>
          <p:nvPr/>
        </p:nvSpPr>
        <p:spPr>
          <a:xfrm>
            <a:off x="6875703" y="438150"/>
            <a:ext cx="4536594" cy="266700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1650" kern="0" spc="462" dirty="0">
                <a:solidFill>
                  <a:srgbClr val="97B2C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2026.09.15·MON·18:47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16738402" y="438150"/>
            <a:ext cx="1016198" cy="314325"/>
          </a:xfrm>
          <a:prstGeom prst="rect">
            <a:avLst/>
          </a:prstGeom>
          <a:noFill/>
          <a:effectLst>
            <a:outerShdw blurRad="152400" dist="50800" dir="16200000" algn="bl" rotWithShape="0">
              <a:srgbClr val="6FC3F0">
                <a:alpha val="50000"/>
              </a:srgbClr>
            </a:outerShdw>
          </a:effectLst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buNone/>
            </a:pPr>
            <a:r>
              <a:rPr lang="en-US" sz="1650" kern="0" spc="297" dirty="0">
                <a:solidFill>
                  <a:srgbClr val="A9E2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+1 </a:t>
            </a:r>
            <a:r>
              <a:rPr lang="en-US" sz="1125" kern="0" spc="297" dirty="0">
                <a:solidFill>
                  <a:srgbClr val="97B2C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TRUST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533400" y="9086850"/>
            <a:ext cx="3343632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27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CURRENT TASK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533400" y="9334500"/>
            <a:ext cx="3343632" cy="2762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25" kern="0" spc="142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NIGHT ROUNDS · BLOCK A · 17F</a:t>
            </a:r>
            <a:endParaRPr lang="en-US" sz="1425" dirty="0"/>
          </a:p>
        </p:txBody>
      </p:sp>
      <p:sp>
        <p:nvSpPr>
          <p:cNvPr id="16" name="Text 12"/>
          <p:cNvSpPr/>
          <p:nvPr/>
        </p:nvSpPr>
        <p:spPr>
          <a:xfrm>
            <a:off x="5883124" y="8926860"/>
            <a:ext cx="6521753" cy="333375"/>
          </a:xfrm>
          <a:prstGeom prst="rect">
            <a:avLst/>
          </a:prstGeom>
          <a:noFill/>
          <a:effectLst>
            <a:outerShdw blurRad="95250" dist="19050" dir="5400000" algn="bl" rotWithShape="0">
              <a:srgbClr val="000000">
                <a:alpha val="85000"/>
              </a:srgbClr>
            </a:outerShdw>
          </a:effectLst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2100" kern="0" spc="2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“Inspector — this unit is complete. Next: 17F-02.”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3400" y="495300"/>
            <a:ext cx="85725" cy="85725"/>
          </a:xfrm>
          <a:prstGeom prst="ellipse">
            <a:avLst/>
          </a:prstGeom>
          <a:solidFill>
            <a:srgbClr val="57B88A"/>
          </a:solidFill>
          <a:effectLst>
            <a:outerShdw blurRad="95250" dist="50800" dir="16200000" algn="bl" rotWithShape="0">
              <a:srgbClr val="57B88A">
                <a:alpha val="100000"/>
              </a:srgbClr>
            </a:outerShdw>
          </a:effectLst>
        </p:spPr>
      </p:sp>
      <p:sp>
        <p:nvSpPr>
          <p:cNvPr id="4" name="Text 1"/>
          <p:cNvSpPr/>
          <p:nvPr/>
        </p:nvSpPr>
        <p:spPr>
          <a:xfrm>
            <a:off x="704850" y="438150"/>
            <a:ext cx="4011930" cy="2381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7B2C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COMPANION UNIT · ACTIVE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33400" y="704850"/>
            <a:ext cx="3057793" cy="323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50" kern="0" spc="270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MIA · 7842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6875703" y="438150"/>
            <a:ext cx="4536594" cy="266700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1650" kern="0" spc="462" dirty="0">
                <a:solidFill>
                  <a:srgbClr val="97B2C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2026.09.15·MON·18:32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533400" y="9086850"/>
            <a:ext cx="3553182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27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CURRENT TASK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33400" y="9334500"/>
            <a:ext cx="3553182" cy="2762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25" kern="0" spc="142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NIGHT ROUNDS · TASK RECEIVED</a:t>
            </a:r>
            <a:endParaRPr lang="en-US" sz="1425" dirty="0"/>
          </a:p>
        </p:txBody>
      </p:sp>
      <p:sp>
        <p:nvSpPr>
          <p:cNvPr id="14" name="Shape 11"/>
          <p:cNvSpPr/>
          <p:nvPr/>
        </p:nvSpPr>
        <p:spPr>
          <a:xfrm>
            <a:off x="6191250" y="2934593"/>
            <a:ext cx="5905500" cy="3800475"/>
          </a:xfrm>
          <a:prstGeom prst="rect">
            <a:avLst/>
          </a:prstGeom>
          <a:gradFill rotWithShape="1">
            <a:gsLst>
              <a:gs pos="0">
                <a:srgbClr val="C0E2FF">
                  <a:alpha val="12000"/>
                </a:srgbClr>
              </a:gs>
              <a:gs pos="56000">
                <a:srgbClr val="C0E2FF">
                  <a:alpha val="0"/>
                </a:srgbClr>
              </a:gs>
            </a:gsLst>
            <a:path path="circle">
              <a:fillToRect l="50000" r="50000" b="100000"/>
            </a:path>
          </a:gradFill>
        </p:spPr>
      </p:sp>
      <p:sp>
        <p:nvSpPr>
          <p:cNvPr id="15" name="Text 12"/>
          <p:cNvSpPr/>
          <p:nvPr/>
        </p:nvSpPr>
        <p:spPr>
          <a:xfrm>
            <a:off x="6477000" y="3182243"/>
            <a:ext cx="5867400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294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SYNC TERMINAL · BLOCK A LOBBY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477000" y="3429893"/>
            <a:ext cx="5867400" cy="3714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25" kern="0" spc="122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Tonight’s Rounds</a:t>
            </a:r>
            <a:endParaRPr lang="en-US" sz="2025" dirty="0"/>
          </a:p>
        </p:txBody>
      </p:sp>
      <p:sp>
        <p:nvSpPr>
          <p:cNvPr id="17" name="Text 14"/>
          <p:cNvSpPr/>
          <p:nvPr/>
        </p:nvSpPr>
        <p:spPr>
          <a:xfrm>
            <a:off x="6477000" y="3839210"/>
            <a:ext cx="2914650" cy="2190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252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17F · BLOCK A · 3 UNITS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477000" y="4182368"/>
            <a:ext cx="5334000" cy="495300"/>
          </a:xfrm>
          <a:prstGeom prst="rect">
            <a:avLst/>
          </a:prstGeom>
          <a:solidFill>
            <a:srgbClr val="78AADC">
              <a:alpha val="6000"/>
            </a:srgbClr>
          </a:solidFill>
        </p:spPr>
      </p:sp>
      <p:sp>
        <p:nvSpPr>
          <p:cNvPr id="19" name="Shape 16"/>
          <p:cNvSpPr/>
          <p:nvPr/>
        </p:nvSpPr>
        <p:spPr>
          <a:xfrm>
            <a:off x="6477000" y="4182368"/>
            <a:ext cx="28575" cy="495300"/>
          </a:xfrm>
          <a:prstGeom prst="rect">
            <a:avLst/>
          </a:prstGeom>
          <a:solidFill>
            <a:srgbClr val="3F8FD6"/>
          </a:solidFill>
        </p:spPr>
      </p:sp>
      <p:sp>
        <p:nvSpPr>
          <p:cNvPr id="20" name="Text 17"/>
          <p:cNvSpPr/>
          <p:nvPr/>
        </p:nvSpPr>
        <p:spPr>
          <a:xfrm>
            <a:off x="6677025" y="4334510"/>
            <a:ext cx="1060450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350" kern="0" spc="108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17F-01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9395460" y="4344035"/>
            <a:ext cx="2371090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buNone/>
            </a:pPr>
            <a:r>
              <a:rPr lang="en-US" sz="1050" kern="0" spc="168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ROUTINE CHECK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477000" y="4772918"/>
            <a:ext cx="5334000" cy="495300"/>
          </a:xfrm>
          <a:prstGeom prst="rect">
            <a:avLst/>
          </a:prstGeom>
          <a:solidFill>
            <a:srgbClr val="78AADC">
              <a:alpha val="6000"/>
            </a:srgbClr>
          </a:solidFill>
        </p:spPr>
      </p:sp>
      <p:sp>
        <p:nvSpPr>
          <p:cNvPr id="23" name="Shape 20"/>
          <p:cNvSpPr/>
          <p:nvPr/>
        </p:nvSpPr>
        <p:spPr>
          <a:xfrm>
            <a:off x="6477000" y="4772918"/>
            <a:ext cx="28575" cy="495300"/>
          </a:xfrm>
          <a:prstGeom prst="rect">
            <a:avLst/>
          </a:prstGeom>
          <a:solidFill>
            <a:srgbClr val="3F8FD6"/>
          </a:solidFill>
        </p:spPr>
      </p:sp>
      <p:sp>
        <p:nvSpPr>
          <p:cNvPr id="24" name="Text 21"/>
          <p:cNvSpPr/>
          <p:nvPr/>
        </p:nvSpPr>
        <p:spPr>
          <a:xfrm>
            <a:off x="6677025" y="4925060"/>
            <a:ext cx="1060450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350" kern="0" spc="108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17F-02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9395460" y="4934585"/>
            <a:ext cx="2371090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buNone/>
            </a:pPr>
            <a:r>
              <a:rPr lang="en-US" sz="1050" kern="0" spc="168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ROUTINE CHECK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477000" y="5363468"/>
            <a:ext cx="5334000" cy="495300"/>
          </a:xfrm>
          <a:prstGeom prst="rect">
            <a:avLst/>
          </a:prstGeom>
          <a:solidFill>
            <a:srgbClr val="E0973F">
              <a:alpha val="8000"/>
            </a:srgbClr>
          </a:solidFill>
        </p:spPr>
      </p:sp>
      <p:sp>
        <p:nvSpPr>
          <p:cNvPr id="27" name="Shape 24"/>
          <p:cNvSpPr/>
          <p:nvPr/>
        </p:nvSpPr>
        <p:spPr>
          <a:xfrm>
            <a:off x="6477000" y="5363468"/>
            <a:ext cx="28575" cy="495300"/>
          </a:xfrm>
          <a:prstGeom prst="rect">
            <a:avLst/>
          </a:prstGeom>
          <a:solidFill>
            <a:srgbClr val="E0973F"/>
          </a:solidFill>
        </p:spPr>
      </p:sp>
      <p:sp>
        <p:nvSpPr>
          <p:cNvPr id="28" name="Text 25"/>
          <p:cNvSpPr/>
          <p:nvPr/>
        </p:nvSpPr>
        <p:spPr>
          <a:xfrm>
            <a:off x="6677025" y="5515610"/>
            <a:ext cx="1060450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350" kern="0" spc="108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17F-03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10372090" y="5525135"/>
            <a:ext cx="1390650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buNone/>
            </a:pPr>
            <a:r>
              <a:rPr lang="en-US" sz="1050" kern="0" spc="168" dirty="0">
                <a:solidFill>
                  <a:srgbClr val="F4B7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FLAGGED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10512326" y="6049268"/>
            <a:ext cx="1298674" cy="419100"/>
          </a:xfrm>
          <a:prstGeom prst="rect">
            <a:avLst/>
          </a:prstGeom>
          <a:solidFill>
            <a:srgbClr val="09101C">
              <a:alpha val="84000"/>
            </a:srgbClr>
          </a:solidFill>
          <a:ln w="9525">
            <a:solidFill>
              <a:srgbClr val="BEE0FC">
                <a:alpha val="82000"/>
              </a:srgbClr>
            </a:solidFill>
            <a:prstDash val="solid"/>
          </a:ln>
          <a:effectLst>
            <a:outerShdw blurRad="171450" dist="50800" dir="16200000" algn="bl" rotWithShape="0">
              <a:srgbClr val="6FC3F0">
                <a:alpha val="18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10693301" y="6154043"/>
            <a:ext cx="936724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buNone/>
            </a:pPr>
            <a:r>
              <a:rPr lang="en-US" sz="1200" b="1" kern="0" spc="168" dirty="0">
                <a:solidFill>
                  <a:srgbClr val="A9E2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CONFIRM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6257925" y="6658868"/>
            <a:ext cx="142875" cy="952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33" name="Shape 30"/>
          <p:cNvSpPr/>
          <p:nvPr/>
        </p:nvSpPr>
        <p:spPr>
          <a:xfrm>
            <a:off x="6257925" y="6525518"/>
            <a:ext cx="9525" cy="14287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34" name="Shape 31"/>
          <p:cNvSpPr/>
          <p:nvPr/>
        </p:nvSpPr>
        <p:spPr>
          <a:xfrm>
            <a:off x="6322849" y="6439793"/>
            <a:ext cx="65415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35" name="Shape 32"/>
          <p:cNvSpPr/>
          <p:nvPr/>
        </p:nvSpPr>
        <p:spPr>
          <a:xfrm>
            <a:off x="6384761" y="6439793"/>
            <a:ext cx="65415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36" name="Shape 33"/>
          <p:cNvSpPr/>
          <p:nvPr/>
        </p:nvSpPr>
        <p:spPr>
          <a:xfrm>
            <a:off x="6446674" y="6439793"/>
            <a:ext cx="65415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37" name="Shape 34"/>
          <p:cNvSpPr/>
          <p:nvPr/>
        </p:nvSpPr>
        <p:spPr>
          <a:xfrm>
            <a:off x="11668125" y="3067943"/>
            <a:ext cx="47625" cy="47625"/>
          </a:xfrm>
          <a:prstGeom prst="rect">
            <a:avLst/>
          </a:prstGeom>
          <a:ln w="9525">
            <a:solidFill>
              <a:srgbClr val="BEE0FC">
                <a:alpha val="8200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62700" y="2781935"/>
            <a:ext cx="1555750" cy="1619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825" kern="0" spc="182" dirty="0">
                <a:solidFill>
                  <a:srgbClr val="96B4D7">
                    <a:alpha val="32000"/>
                  </a:srgbClr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SYNC · NODE A</a:t>
            </a:r>
            <a:endParaRPr lang="en-US" sz="825" dirty="0"/>
          </a:p>
        </p:txBody>
      </p:sp>
      <p:sp>
        <p:nvSpPr>
          <p:cNvPr id="39" name="Text 36"/>
          <p:cNvSpPr/>
          <p:nvPr/>
        </p:nvSpPr>
        <p:spPr>
          <a:xfrm>
            <a:off x="6196139" y="8926860"/>
            <a:ext cx="5895722" cy="333375"/>
          </a:xfrm>
          <a:prstGeom prst="rect">
            <a:avLst/>
          </a:prstGeom>
          <a:noFill/>
          <a:effectLst>
            <a:outerShdw blurRad="95250" dist="19050" dir="5400000" algn="bl" rotWithShape="0">
              <a:srgbClr val="000000">
                <a:alpha val="85000"/>
              </a:srgbClr>
            </a:outerShdw>
          </a:effectLst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2100" i="1" kern="0" spc="21" dirty="0">
                <a:solidFill>
                  <a:srgbClr val="FFFFFF">
                    <a:alpha val="62000"/>
                  </a:srgbClr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 sync terminal · tonight’s route received —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33400" y="495300"/>
            <a:ext cx="85725" cy="85725"/>
          </a:xfrm>
          <a:prstGeom prst="ellipse">
            <a:avLst/>
          </a:prstGeom>
          <a:solidFill>
            <a:srgbClr val="57B88A"/>
          </a:solidFill>
          <a:effectLst>
            <a:outerShdw blurRad="95250" dist="50800" dir="16200000" algn="bl" rotWithShape="0">
              <a:srgbClr val="57B88A">
                <a:alpha val="100000"/>
              </a:srgbClr>
            </a:outerShdw>
          </a:effectLst>
        </p:spPr>
      </p:sp>
      <p:sp>
        <p:nvSpPr>
          <p:cNvPr id="4" name="Text 1"/>
          <p:cNvSpPr/>
          <p:nvPr/>
        </p:nvSpPr>
        <p:spPr>
          <a:xfrm>
            <a:off x="704850" y="438150"/>
            <a:ext cx="3491865" cy="2381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7B2C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COMPANION UNIT · ACTIVE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33400" y="704850"/>
            <a:ext cx="3057793" cy="323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50" kern="0" spc="270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MIA · 7842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6875703" y="438150"/>
            <a:ext cx="4536594" cy="266700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1650" kern="0" spc="462" dirty="0">
                <a:solidFill>
                  <a:srgbClr val="97B2C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2026.09.15·MON·18:42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533400" y="9086850"/>
            <a:ext cx="3343632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27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CURRENT TASK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33400" y="9334500"/>
            <a:ext cx="3343632" cy="2762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25" kern="0" spc="142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NIGHT ROUNDS · BLOCK A · 17F</a:t>
            </a:r>
            <a:endParaRPr lang="en-US" sz="1425" dirty="0"/>
          </a:p>
        </p:txBody>
      </p:sp>
      <p:sp>
        <p:nvSpPr>
          <p:cNvPr id="27" name="Text 24"/>
          <p:cNvSpPr/>
          <p:nvPr/>
        </p:nvSpPr>
        <p:spPr>
          <a:xfrm>
            <a:off x="3848100" y="4508153"/>
            <a:ext cx="2266950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125" kern="0" spc="158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HOUSEHOLD</a:t>
            </a:r>
            <a:endParaRPr lang="en-US" sz="1125" dirty="0"/>
          </a:p>
        </p:txBody>
      </p:sp>
      <p:sp>
        <p:nvSpPr>
          <p:cNvPr id="28" name="Text 25"/>
          <p:cNvSpPr/>
          <p:nvPr/>
        </p:nvSpPr>
        <p:spPr>
          <a:xfrm>
            <a:off x="6172200" y="4471988"/>
            <a:ext cx="3243526" cy="381893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425" kern="0" spc="86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Father 35 / Mother 33 / Son 8</a:t>
            </a:r>
            <a:endParaRPr lang="en-US" sz="1425" dirty="0"/>
          </a:p>
        </p:txBody>
      </p:sp>
      <p:sp>
        <p:nvSpPr>
          <p:cNvPr id="29" name="Text 26"/>
          <p:cNvSpPr/>
          <p:nvPr/>
        </p:nvSpPr>
        <p:spPr>
          <a:xfrm>
            <a:off x="3848100" y="4851946"/>
            <a:ext cx="2266950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125" kern="0" spc="158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COMPANION</a:t>
            </a:r>
            <a:endParaRPr lang="en-US" sz="1125" dirty="0"/>
          </a:p>
        </p:txBody>
      </p:sp>
      <p:sp>
        <p:nvSpPr>
          <p:cNvPr id="30" name="Text 27"/>
          <p:cNvSpPr/>
          <p:nvPr/>
        </p:nvSpPr>
        <p:spPr>
          <a:xfrm>
            <a:off x="6172200" y="4815780"/>
            <a:ext cx="3802739" cy="381893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425" kern="0" spc="86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Child Development + Expression Aid</a:t>
            </a:r>
            <a:endParaRPr lang="en-US" sz="1425" dirty="0"/>
          </a:p>
        </p:txBody>
      </p:sp>
      <p:sp>
        <p:nvSpPr>
          <p:cNvPr id="31" name="Text 28"/>
          <p:cNvSpPr/>
          <p:nvPr/>
        </p:nvSpPr>
        <p:spPr>
          <a:xfrm>
            <a:off x="3848100" y="5195739"/>
            <a:ext cx="2266950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125" kern="0" spc="158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SERVICE TIME</a:t>
            </a:r>
            <a:endParaRPr lang="en-US" sz="1125" dirty="0"/>
          </a:p>
        </p:txBody>
      </p:sp>
      <p:sp>
        <p:nvSpPr>
          <p:cNvPr id="32" name="Text 29"/>
          <p:cNvSpPr/>
          <p:nvPr/>
        </p:nvSpPr>
        <p:spPr>
          <a:xfrm>
            <a:off x="6172200" y="5159573"/>
            <a:ext cx="1053554" cy="381893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425" kern="0" spc="86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11 Months</a:t>
            </a:r>
            <a:endParaRPr lang="en-US" sz="1425" dirty="0"/>
          </a:p>
        </p:txBody>
      </p:sp>
      <p:sp>
        <p:nvSpPr>
          <p:cNvPr id="33" name="Text 30"/>
          <p:cNvSpPr/>
          <p:nvPr/>
        </p:nvSpPr>
        <p:spPr>
          <a:xfrm>
            <a:off x="3848100" y="5539532"/>
            <a:ext cx="2266950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125" kern="0" spc="158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MONTHLY USAGE</a:t>
            </a:r>
            <a:endParaRPr lang="en-US" sz="1125" dirty="0"/>
          </a:p>
        </p:txBody>
      </p:sp>
      <p:sp>
        <p:nvSpPr>
          <p:cNvPr id="34" name="Text 31"/>
          <p:cNvSpPr/>
          <p:nvPr/>
        </p:nvSpPr>
        <p:spPr>
          <a:xfrm>
            <a:off x="6172200" y="5503366"/>
            <a:ext cx="619125" cy="381893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425" kern="0" spc="86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99.7%</a:t>
            </a:r>
            <a:endParaRPr lang="en-US" sz="1425" dirty="0"/>
          </a:p>
        </p:txBody>
      </p:sp>
      <p:sp>
        <p:nvSpPr>
          <p:cNvPr id="35" name="Text 32"/>
          <p:cNvSpPr/>
          <p:nvPr/>
        </p:nvSpPr>
        <p:spPr>
          <a:xfrm>
            <a:off x="3848100" y="5883325"/>
            <a:ext cx="2266950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125" kern="0" spc="158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LAST CHECK</a:t>
            </a:r>
            <a:endParaRPr lang="en-US" sz="1125" dirty="0"/>
          </a:p>
        </p:txBody>
      </p:sp>
      <p:sp>
        <p:nvSpPr>
          <p:cNvPr id="36" name="Text 33"/>
          <p:cNvSpPr/>
          <p:nvPr/>
        </p:nvSpPr>
        <p:spPr>
          <a:xfrm>
            <a:off x="6172200" y="5847159"/>
            <a:ext cx="1487835" cy="381893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425" kern="0" spc="86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09.01 · 22:30</a:t>
            </a:r>
            <a:endParaRPr lang="en-US" sz="1425" dirty="0"/>
          </a:p>
        </p:txBody>
      </p:sp>
      <p:sp>
        <p:nvSpPr>
          <p:cNvPr id="37" name="Shape 34"/>
          <p:cNvSpPr/>
          <p:nvPr/>
        </p:nvSpPr>
        <p:spPr>
          <a:xfrm>
            <a:off x="3848100" y="6419552"/>
            <a:ext cx="2015579" cy="361950"/>
          </a:xfrm>
          <a:prstGeom prst="rect">
            <a:avLst/>
          </a:prstGeom>
          <a:solidFill>
            <a:srgbClr val="78AADC">
              <a:alpha val="5000"/>
            </a:srgbClr>
          </a:solidFill>
          <a:ln w="9525">
            <a:solidFill>
              <a:srgbClr val="96C3EB">
                <a:alpha val="4200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910965" y="6515100"/>
            <a:ext cx="1928495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147" dirty="0">
                <a:solidFill>
                  <a:srgbClr val="97B2C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EXPRESSION METRICS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5997029" y="6419552"/>
            <a:ext cx="1424285" cy="361950"/>
          </a:xfrm>
          <a:prstGeom prst="rect">
            <a:avLst/>
          </a:prstGeom>
          <a:solidFill>
            <a:srgbClr val="78AADC">
              <a:alpha val="5000"/>
            </a:srgbClr>
          </a:solidFill>
          <a:ln w="9525">
            <a:solidFill>
              <a:srgbClr val="96C3EB">
                <a:alpha val="4200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072505" y="6515100"/>
            <a:ext cx="1283335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147" dirty="0">
                <a:solidFill>
                  <a:srgbClr val="97B2C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NIGHT ALERTS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7554664" y="6419552"/>
            <a:ext cx="2455218" cy="361950"/>
          </a:xfrm>
          <a:prstGeom prst="rect">
            <a:avLst/>
          </a:prstGeom>
          <a:solidFill>
            <a:srgbClr val="78AADC">
              <a:alpha val="5000"/>
            </a:srgbClr>
          </a:solidFill>
          <a:ln w="9525">
            <a:solidFill>
              <a:srgbClr val="96C3EB">
                <a:alpha val="4200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602220" y="6515100"/>
            <a:ext cx="2407920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147" dirty="0">
                <a:solidFill>
                  <a:srgbClr val="97B2C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PARENT UPGRADE REQUEST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3590925" y="7539037"/>
            <a:ext cx="142875" cy="952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44" name="Shape 41"/>
          <p:cNvSpPr/>
          <p:nvPr/>
        </p:nvSpPr>
        <p:spPr>
          <a:xfrm>
            <a:off x="3590925" y="7405688"/>
            <a:ext cx="9525" cy="14287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45" name="Shape 42"/>
          <p:cNvSpPr/>
          <p:nvPr/>
        </p:nvSpPr>
        <p:spPr>
          <a:xfrm>
            <a:off x="14442911" y="7319963"/>
            <a:ext cx="65415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46" name="Shape 43"/>
          <p:cNvSpPr/>
          <p:nvPr/>
        </p:nvSpPr>
        <p:spPr>
          <a:xfrm>
            <a:off x="14504824" y="7319963"/>
            <a:ext cx="65415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47" name="Shape 44"/>
          <p:cNvSpPr/>
          <p:nvPr/>
        </p:nvSpPr>
        <p:spPr>
          <a:xfrm>
            <a:off x="14566736" y="7319963"/>
            <a:ext cx="65415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50" name="Text 47"/>
          <p:cNvSpPr/>
          <p:nvPr/>
        </p:nvSpPr>
        <p:spPr>
          <a:xfrm>
            <a:off x="5269044" y="8926860"/>
            <a:ext cx="7749912" cy="333375"/>
          </a:xfrm>
          <a:prstGeom prst="rect">
            <a:avLst/>
          </a:prstGeom>
          <a:noFill/>
          <a:effectLst>
            <a:outerShdw blurRad="95250" dist="19050" dir="5400000" algn="bl" rotWithShape="0">
              <a:srgbClr val="000000">
                <a:alpha val="85000"/>
              </a:srgbClr>
            </a:outerShdw>
          </a:effectLst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2100" kern="0" spc="2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“Inspector — review the file. Recall the event when ready.”</a:t>
            </a:r>
            <a:endParaRPr lang="en-US" sz="2100" dirty="0"/>
          </a:p>
        </p:txBody>
      </p:sp>
      <p:sp>
        <p:nvSpPr>
          <p:cNvPr id="51" name="Shape 11"/>
          <p:cNvSpPr/>
          <p:nvPr/>
        </p:nvSpPr>
        <p:spPr>
          <a:xfrm>
            <a:off x="3524250" y="3262313"/>
            <a:ext cx="112395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52" name="Text 12"/>
          <p:cNvSpPr/>
          <p:nvPr/>
        </p:nvSpPr>
        <p:spPr>
          <a:xfrm>
            <a:off x="3810000" y="2557780"/>
            <a:ext cx="3657600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DOORWAY TERMINAL</a:t>
            </a:r>
            <a:endParaRPr lang="en-US" sz="1050" dirty="0"/>
          </a:p>
        </p:txBody>
      </p:sp>
      <p:sp>
        <p:nvSpPr>
          <p:cNvPr id="53" name="Text 13"/>
          <p:cNvSpPr/>
          <p:nvPr/>
        </p:nvSpPr>
        <p:spPr>
          <a:xfrm>
            <a:off x="3810000" y="2767013"/>
            <a:ext cx="2095827" cy="3619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50" kern="0" spc="315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17F-01</a:t>
            </a:r>
            <a:endParaRPr lang="en-US" sz="2250" dirty="0"/>
          </a:p>
        </p:txBody>
      </p:sp>
      <p:sp>
        <p:nvSpPr>
          <p:cNvPr id="54" name="Text 14"/>
          <p:cNvSpPr/>
          <p:nvPr/>
        </p:nvSpPr>
        <p:spPr>
          <a:xfrm>
            <a:off x="12154451" y="2738438"/>
            <a:ext cx="2323549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buNone/>
            </a:pPr>
            <a:r>
              <a:rPr lang="en-US" sz="1200" kern="0" spc="144" dirty="0">
                <a:solidFill>
                  <a:srgbClr val="6FC3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Read Complete · 18:42</a:t>
            </a:r>
            <a:endParaRPr lang="en-US" sz="1200" dirty="0"/>
          </a:p>
        </p:txBody>
      </p:sp>
      <p:sp>
        <p:nvSpPr>
          <p:cNvPr id="55" name="Shape 15"/>
          <p:cNvSpPr/>
          <p:nvPr/>
        </p:nvSpPr>
        <p:spPr>
          <a:xfrm>
            <a:off x="3524250" y="3852863"/>
            <a:ext cx="112395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56" name="Text 16"/>
          <p:cNvSpPr/>
          <p:nvPr/>
        </p:nvSpPr>
        <p:spPr>
          <a:xfrm>
            <a:off x="3810000" y="3271838"/>
            <a:ext cx="1762869" cy="61912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Autofit/>
          </a:bodyPr>
          <a:lstStyle/>
          <a:p>
            <a:pPr marL="0" algn="l">
              <a:buClrTx/>
              <a:buSzTx/>
              <a:buFontTx/>
              <a:buNone/>
            </a:pPr>
            <a:r>
              <a:rPr lang="en-US" sz="1275" kern="0" spc="153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RESIDENT SUMMARY</a:t>
            </a:r>
            <a:endParaRPr lang="en-US" sz="1275" kern="0" spc="153" dirty="0">
              <a:solidFill>
                <a:srgbClr val="D7E6F6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57" name="Text 17"/>
          <p:cNvSpPr/>
          <p:nvPr/>
        </p:nvSpPr>
        <p:spPr>
          <a:xfrm>
            <a:off x="5839460" y="3272155"/>
            <a:ext cx="1359535" cy="61912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Autofit/>
          </a:bodyPr>
          <a:lstStyle/>
          <a:p>
            <a:pPr marL="0" algn="l">
              <a:buClrTx/>
              <a:buSzTx/>
              <a:buFontTx/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ACQUISITION</a:t>
            </a:r>
            <a:endParaRPr lang="en-US" sz="1275" kern="0" spc="153" dirty="0">
              <a:solidFill>
                <a:srgbClr val="5F7895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58" name="Text 18"/>
          <p:cNvSpPr/>
          <p:nvPr/>
        </p:nvSpPr>
        <p:spPr>
          <a:xfrm>
            <a:off x="7343140" y="3272155"/>
            <a:ext cx="1131570" cy="61912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FAMILY LOG</a:t>
            </a:r>
            <a:endParaRPr lang="en-US" sz="1275" dirty="0"/>
          </a:p>
        </p:txBody>
      </p:sp>
      <p:sp>
        <p:nvSpPr>
          <p:cNvPr id="59" name="Text 19"/>
          <p:cNvSpPr/>
          <p:nvPr/>
        </p:nvSpPr>
        <p:spPr>
          <a:xfrm>
            <a:off x="8639810" y="3272155"/>
            <a:ext cx="1337945" cy="61912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TRUST TREND</a:t>
            </a:r>
            <a:endParaRPr lang="en-US" sz="1275" dirty="0"/>
          </a:p>
        </p:txBody>
      </p:sp>
      <p:sp>
        <p:nvSpPr>
          <p:cNvPr id="60" name="Text 20"/>
          <p:cNvSpPr/>
          <p:nvPr/>
        </p:nvSpPr>
        <p:spPr>
          <a:xfrm>
            <a:off x="10123805" y="3272155"/>
            <a:ext cx="2011680" cy="61912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INSPECTION HISTORY</a:t>
            </a:r>
            <a:endParaRPr lang="en-US" sz="1275" dirty="0"/>
          </a:p>
        </p:txBody>
      </p:sp>
      <p:sp>
        <p:nvSpPr>
          <p:cNvPr id="61" name="Shape 21"/>
          <p:cNvSpPr/>
          <p:nvPr/>
        </p:nvSpPr>
        <p:spPr>
          <a:xfrm>
            <a:off x="12563177" y="3352800"/>
            <a:ext cx="1914823" cy="419100"/>
          </a:xfrm>
          <a:prstGeom prst="rect">
            <a:avLst/>
          </a:prstGeom>
          <a:gradFill rotWithShape="1">
            <a:gsLst>
              <a:gs pos="0">
                <a:srgbClr val="E0973F">
                  <a:alpha val="22000"/>
                </a:srgbClr>
              </a:gs>
              <a:gs pos="100000">
                <a:srgbClr val="E0973F">
                  <a:alpha val="8000"/>
                </a:srgbClr>
              </a:gs>
            </a:gsLst>
            <a:lin ang="5400000" scaled="0"/>
          </a:gradFill>
          <a:ln w="9525">
            <a:solidFill>
              <a:srgbClr val="E0973F"/>
            </a:solidFill>
            <a:prstDash val="solid"/>
          </a:ln>
          <a:effectLst>
            <a:outerShdw blurRad="209550" dist="50800" dir="16200000" algn="bl" rotWithShape="0">
              <a:srgbClr val="E0973F">
                <a:alpha val="25000"/>
              </a:srgbClr>
            </a:outerShdw>
          </a:effectLst>
        </p:spPr>
      </p:sp>
      <p:sp>
        <p:nvSpPr>
          <p:cNvPr id="62" name="Text 22"/>
          <p:cNvSpPr/>
          <p:nvPr/>
        </p:nvSpPr>
        <p:spPr>
          <a:xfrm>
            <a:off x="12782252" y="3352800"/>
            <a:ext cx="1327398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68" dirty="0">
                <a:solidFill>
                  <a:srgbClr val="F4B7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RECALL EVENT</a:t>
            </a:r>
            <a:endParaRPr lang="en-US" sz="1200" dirty="0"/>
          </a:p>
        </p:txBody>
      </p:sp>
      <p:sp>
        <p:nvSpPr>
          <p:cNvPr id="63" name="Text 23"/>
          <p:cNvSpPr/>
          <p:nvPr/>
        </p:nvSpPr>
        <p:spPr>
          <a:xfrm>
            <a:off x="14128700" y="3476625"/>
            <a:ext cx="206425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kern="0" spc="168" dirty="0">
                <a:solidFill>
                  <a:srgbClr val="F4B7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★</a:t>
            </a:r>
            <a:endParaRPr lang="en-US" sz="1050" dirty="0"/>
          </a:p>
        </p:txBody>
      </p:sp>
      <p:sp>
        <p:nvSpPr>
          <p:cNvPr id="66" name="Shape 52"/>
          <p:cNvSpPr/>
          <p:nvPr/>
        </p:nvSpPr>
        <p:spPr>
          <a:xfrm>
            <a:off x="14335125" y="2481263"/>
            <a:ext cx="47625" cy="47625"/>
          </a:xfrm>
          <a:prstGeom prst="rect">
            <a:avLst/>
          </a:prstGeom>
          <a:ln w="9525">
            <a:solidFill>
              <a:srgbClr val="BEE0FC">
                <a:alpha val="82000"/>
              </a:srgbClr>
            </a:solidFill>
            <a:prstDash val="solid"/>
          </a:ln>
        </p:spPr>
      </p:sp>
      <p:sp>
        <p:nvSpPr>
          <p:cNvPr id="67" name="Text 53"/>
          <p:cNvSpPr/>
          <p:nvPr/>
        </p:nvSpPr>
        <p:spPr>
          <a:xfrm>
            <a:off x="3695700" y="2195830"/>
            <a:ext cx="1692275" cy="1619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825" kern="0" spc="182" dirty="0">
                <a:solidFill>
                  <a:srgbClr val="96B4D7">
                    <a:alpha val="32000"/>
                  </a:srgbClr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DOORWAY · LINK OK</a:t>
            </a:r>
            <a:endParaRPr lang="en-US" sz="8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10"/>
          <p:cNvSpPr/>
          <p:nvPr/>
        </p:nvSpPr>
        <p:spPr>
          <a:xfrm>
            <a:off x="3524250" y="1939290"/>
            <a:ext cx="11239500" cy="5676265"/>
          </a:xfrm>
          <a:prstGeom prst="rect">
            <a:avLst/>
          </a:prstGeom>
          <a:gradFill rotWithShape="1">
            <a:gsLst>
              <a:gs pos="0">
                <a:srgbClr val="C0E2FF">
                  <a:alpha val="12000"/>
                </a:srgbClr>
              </a:gs>
              <a:gs pos="56000">
                <a:srgbClr val="C0E2FF">
                  <a:alpha val="0"/>
                </a:srgbClr>
              </a:gs>
            </a:gsLst>
            <a:path path="circle">
              <a:fillToRect l="50000" r="50000" b="100000"/>
            </a:path>
          </a:gradFill>
        </p:spPr>
      </p:sp>
      <p:sp>
        <p:nvSpPr>
          <p:cNvPr id="3" name="Shape 0"/>
          <p:cNvSpPr/>
          <p:nvPr/>
        </p:nvSpPr>
        <p:spPr>
          <a:xfrm>
            <a:off x="533400" y="495300"/>
            <a:ext cx="85725" cy="85725"/>
          </a:xfrm>
          <a:prstGeom prst="ellipse">
            <a:avLst/>
          </a:prstGeom>
          <a:solidFill>
            <a:srgbClr val="57B88A"/>
          </a:solidFill>
          <a:effectLst>
            <a:outerShdw blurRad="95250" dist="50800" dir="16200000" algn="bl" rotWithShape="0">
              <a:srgbClr val="57B88A">
                <a:alpha val="100000"/>
              </a:srgbClr>
            </a:outerShdw>
          </a:effectLst>
        </p:spPr>
      </p:sp>
      <p:sp>
        <p:nvSpPr>
          <p:cNvPr id="4" name="Text 1"/>
          <p:cNvSpPr/>
          <p:nvPr/>
        </p:nvSpPr>
        <p:spPr>
          <a:xfrm>
            <a:off x="704850" y="438150"/>
            <a:ext cx="3472180" cy="2381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7B2C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COMPANION UNIT · ACTIVE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33400" y="704850"/>
            <a:ext cx="3057793" cy="323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50" kern="0" spc="270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MIA · 7842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6875703" y="438150"/>
            <a:ext cx="4536594" cy="266700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1650" kern="0" spc="462" dirty="0">
                <a:solidFill>
                  <a:srgbClr val="97B2C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2026.09.15·MON·18:43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533400" y="9086850"/>
            <a:ext cx="3343632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27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CURRENT TASK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33400" y="9334500"/>
            <a:ext cx="3343632" cy="2762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25" kern="0" spc="142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NIGHT ROUNDS · BLOCK A · 17F</a:t>
            </a:r>
            <a:endParaRPr lang="en-US" sz="1425" dirty="0"/>
          </a:p>
        </p:txBody>
      </p:sp>
      <p:sp>
        <p:nvSpPr>
          <p:cNvPr id="14" name="Shape 11"/>
          <p:cNvSpPr/>
          <p:nvPr/>
        </p:nvSpPr>
        <p:spPr>
          <a:xfrm>
            <a:off x="3524250" y="3262313"/>
            <a:ext cx="112395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15" name="Text 12"/>
          <p:cNvSpPr/>
          <p:nvPr/>
        </p:nvSpPr>
        <p:spPr>
          <a:xfrm>
            <a:off x="3810000" y="2557780"/>
            <a:ext cx="3657600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DOORWAY TERMINAL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810000" y="2767013"/>
            <a:ext cx="2095827" cy="3619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50" kern="0" spc="315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17F-01</a:t>
            </a:r>
            <a:endParaRPr lang="en-US" sz="2250" dirty="0"/>
          </a:p>
        </p:txBody>
      </p:sp>
      <p:sp>
        <p:nvSpPr>
          <p:cNvPr id="17" name="Text 14"/>
          <p:cNvSpPr/>
          <p:nvPr/>
        </p:nvSpPr>
        <p:spPr>
          <a:xfrm>
            <a:off x="12154451" y="2738438"/>
            <a:ext cx="2323549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buNone/>
            </a:pPr>
            <a:r>
              <a:rPr lang="en-US" sz="1200" kern="0" spc="144" dirty="0">
                <a:solidFill>
                  <a:srgbClr val="6FC3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Read Complete · 18:42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524250" y="3852863"/>
            <a:ext cx="112395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19" name="Text 16"/>
          <p:cNvSpPr/>
          <p:nvPr/>
        </p:nvSpPr>
        <p:spPr>
          <a:xfrm>
            <a:off x="3810000" y="3271838"/>
            <a:ext cx="1762869" cy="61912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RESIDENT SUMMARY</a:t>
            </a:r>
            <a:endParaRPr lang="en-US" sz="1275" dirty="0"/>
          </a:p>
        </p:txBody>
      </p:sp>
      <p:sp>
        <p:nvSpPr>
          <p:cNvPr id="20" name="Text 17"/>
          <p:cNvSpPr/>
          <p:nvPr/>
        </p:nvSpPr>
        <p:spPr>
          <a:xfrm>
            <a:off x="5839460" y="3272155"/>
            <a:ext cx="1359535" cy="61912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ACQUISITION</a:t>
            </a:r>
            <a:endParaRPr lang="en-US" sz="1275" dirty="0"/>
          </a:p>
        </p:txBody>
      </p:sp>
      <p:sp>
        <p:nvSpPr>
          <p:cNvPr id="21" name="Text 18"/>
          <p:cNvSpPr/>
          <p:nvPr/>
        </p:nvSpPr>
        <p:spPr>
          <a:xfrm>
            <a:off x="7343140" y="3272155"/>
            <a:ext cx="1131570" cy="61912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FAMILY LOG</a:t>
            </a:r>
            <a:endParaRPr lang="en-US" sz="1275" dirty="0"/>
          </a:p>
        </p:txBody>
      </p:sp>
      <p:sp>
        <p:nvSpPr>
          <p:cNvPr id="22" name="Text 19"/>
          <p:cNvSpPr/>
          <p:nvPr/>
        </p:nvSpPr>
        <p:spPr>
          <a:xfrm>
            <a:off x="8639810" y="3272155"/>
            <a:ext cx="1337945" cy="61912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TRUST TREND</a:t>
            </a:r>
            <a:endParaRPr lang="en-US" sz="1275" dirty="0"/>
          </a:p>
        </p:txBody>
      </p:sp>
      <p:sp>
        <p:nvSpPr>
          <p:cNvPr id="23" name="Text 20"/>
          <p:cNvSpPr/>
          <p:nvPr/>
        </p:nvSpPr>
        <p:spPr>
          <a:xfrm>
            <a:off x="10123805" y="3272155"/>
            <a:ext cx="2011680" cy="61912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INSPECTION HISTORY</a:t>
            </a:r>
            <a:endParaRPr lang="en-US" sz="1275" dirty="0"/>
          </a:p>
        </p:txBody>
      </p:sp>
      <p:sp>
        <p:nvSpPr>
          <p:cNvPr id="24" name="Shape 21"/>
          <p:cNvSpPr/>
          <p:nvPr/>
        </p:nvSpPr>
        <p:spPr>
          <a:xfrm>
            <a:off x="12563177" y="3352800"/>
            <a:ext cx="1914823" cy="419100"/>
          </a:xfrm>
          <a:prstGeom prst="rect">
            <a:avLst/>
          </a:prstGeom>
          <a:gradFill rotWithShape="1">
            <a:gsLst>
              <a:gs pos="0">
                <a:srgbClr val="E0973F">
                  <a:alpha val="22000"/>
                </a:srgbClr>
              </a:gs>
              <a:gs pos="100000">
                <a:srgbClr val="E0973F">
                  <a:alpha val="8000"/>
                </a:srgbClr>
              </a:gs>
            </a:gsLst>
            <a:lin ang="5400000" scaled="0"/>
          </a:gradFill>
          <a:ln w="9525">
            <a:solidFill>
              <a:srgbClr val="E0973F"/>
            </a:solidFill>
            <a:prstDash val="solid"/>
          </a:ln>
          <a:effectLst>
            <a:outerShdw blurRad="209550" dist="50800" dir="16200000" algn="bl" rotWithShape="0">
              <a:srgbClr val="E0973F">
                <a:alpha val="25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12782252" y="3352800"/>
            <a:ext cx="1327398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68" dirty="0">
                <a:solidFill>
                  <a:srgbClr val="F4B7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RECALL EVENT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4128700" y="3476625"/>
            <a:ext cx="206425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kern="0" spc="168" dirty="0">
                <a:solidFill>
                  <a:srgbClr val="F4B7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★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848100" y="4148137"/>
            <a:ext cx="4512945" cy="120372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350" kern="0" spc="27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Enrolled</a:t>
            </a:r>
            <a:r>
              <a:rPr lang="en-US" sz="1350" kern="0" spc="27" dirty="0">
                <a:solidFill>
                  <a:srgbClr val="6FC3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Oct 2025 </a:t>
            </a:r>
            <a:r>
              <a:rPr lang="en-US" sz="1350" kern="0" spc="27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at the parents’ request. Decision rationale: reduce night-time burden, offset the mother’s overtime, and support the child’s social expression.</a:t>
            </a:r>
            <a:endParaRPr 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3848100" y="5542359"/>
            <a:ext cx="19050" cy="887462"/>
          </a:xfrm>
          <a:prstGeom prst="rect">
            <a:avLst/>
          </a:prstGeom>
          <a:solidFill>
            <a:srgbClr val="6FC3F0"/>
          </a:solidFill>
        </p:spPr>
      </p:sp>
      <p:sp>
        <p:nvSpPr>
          <p:cNvPr id="29" name="Text 26"/>
          <p:cNvSpPr/>
          <p:nvPr/>
        </p:nvSpPr>
        <p:spPr>
          <a:xfrm>
            <a:off x="4038600" y="5580459"/>
            <a:ext cx="4312591" cy="52759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425" i="1" kern="0" spc="24" dirty="0">
                <a:solidFill>
                  <a:srgbClr val="97B2C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“When we’re not home, at least someone’s here to talk to her.”</a:t>
            </a:r>
            <a:endParaRPr lang="en-US" sz="1425" dirty="0"/>
          </a:p>
        </p:txBody>
      </p:sp>
      <p:sp>
        <p:nvSpPr>
          <p:cNvPr id="30" name="Text 27"/>
          <p:cNvSpPr/>
          <p:nvPr/>
        </p:nvSpPr>
        <p:spPr>
          <a:xfrm>
            <a:off x="4038600" y="6216551"/>
            <a:ext cx="4714875" cy="25137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050" kern="0" spc="168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— MOTHER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8782050" y="4224338"/>
            <a:ext cx="3367698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252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IMPROVEMENT SINCE ENROLLMENT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8782050" y="5586413"/>
            <a:ext cx="533400" cy="647700"/>
          </a:xfrm>
          <a:prstGeom prst="rect">
            <a:avLst/>
          </a:prstGeom>
          <a:gradFill rotWithShape="1">
            <a:gsLst>
              <a:gs pos="0">
                <a:srgbClr val="E0973F">
                  <a:alpha val="50000"/>
                </a:srgbClr>
              </a:gs>
              <a:gs pos="100000">
                <a:srgbClr val="E0973F">
                  <a:alpha val="12000"/>
                </a:srgbClr>
              </a:gs>
            </a:gsLst>
            <a:lin ang="5400000" scaled="0"/>
          </a:gradFill>
        </p:spPr>
      </p:sp>
      <p:sp>
        <p:nvSpPr>
          <p:cNvPr id="33" name="Shape 30"/>
          <p:cNvSpPr/>
          <p:nvPr/>
        </p:nvSpPr>
        <p:spPr>
          <a:xfrm>
            <a:off x="8782050" y="5586413"/>
            <a:ext cx="533400" cy="19050"/>
          </a:xfrm>
          <a:prstGeom prst="rect">
            <a:avLst/>
          </a:prstGeom>
          <a:solidFill>
            <a:srgbClr val="E0973F"/>
          </a:solidFill>
        </p:spPr>
      </p:sp>
      <p:sp>
        <p:nvSpPr>
          <p:cNvPr id="34" name="Text 31"/>
          <p:cNvSpPr/>
          <p:nvPr/>
        </p:nvSpPr>
        <p:spPr>
          <a:xfrm>
            <a:off x="8900071" y="6329363"/>
            <a:ext cx="373410" cy="1809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Base</a:t>
            </a:r>
            <a:endParaRPr lang="en-US" sz="975" dirty="0"/>
          </a:p>
        </p:txBody>
      </p:sp>
      <p:sp>
        <p:nvSpPr>
          <p:cNvPr id="35" name="Shape 32"/>
          <p:cNvSpPr/>
          <p:nvPr/>
        </p:nvSpPr>
        <p:spPr>
          <a:xfrm>
            <a:off x="9486900" y="5319713"/>
            <a:ext cx="533400" cy="914400"/>
          </a:xfrm>
          <a:prstGeom prst="rect">
            <a:avLst/>
          </a:prstGeom>
          <a:gradFill rotWithShape="1">
            <a:gsLst>
              <a:gs pos="0">
                <a:srgbClr val="E0973F">
                  <a:alpha val="50000"/>
                </a:srgbClr>
              </a:gs>
              <a:gs pos="100000">
                <a:srgbClr val="E0973F">
                  <a:alpha val="12000"/>
                </a:srgbClr>
              </a:gs>
            </a:gsLst>
            <a:lin ang="5400000" scaled="0"/>
          </a:gradFill>
        </p:spPr>
      </p:sp>
      <p:sp>
        <p:nvSpPr>
          <p:cNvPr id="36" name="Shape 33"/>
          <p:cNvSpPr/>
          <p:nvPr/>
        </p:nvSpPr>
        <p:spPr>
          <a:xfrm>
            <a:off x="9486900" y="5319713"/>
            <a:ext cx="533400" cy="19050"/>
          </a:xfrm>
          <a:prstGeom prst="rect">
            <a:avLst/>
          </a:prstGeom>
          <a:solidFill>
            <a:srgbClr val="E0973F"/>
          </a:solidFill>
        </p:spPr>
      </p:sp>
      <p:sp>
        <p:nvSpPr>
          <p:cNvPr id="37" name="Text 34"/>
          <p:cNvSpPr/>
          <p:nvPr/>
        </p:nvSpPr>
        <p:spPr>
          <a:xfrm>
            <a:off x="9642128" y="6329363"/>
            <a:ext cx="299145" cy="1809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+3M</a:t>
            </a:r>
            <a:endParaRPr lang="en-US" sz="975" dirty="0"/>
          </a:p>
        </p:txBody>
      </p:sp>
      <p:sp>
        <p:nvSpPr>
          <p:cNvPr id="38" name="Shape 35"/>
          <p:cNvSpPr/>
          <p:nvPr/>
        </p:nvSpPr>
        <p:spPr>
          <a:xfrm>
            <a:off x="10191750" y="4976813"/>
            <a:ext cx="533400" cy="1257300"/>
          </a:xfrm>
          <a:prstGeom prst="rect">
            <a:avLst/>
          </a:prstGeom>
          <a:gradFill rotWithShape="1">
            <a:gsLst>
              <a:gs pos="0">
                <a:srgbClr val="3F8FD6">
                  <a:alpha val="45000"/>
                </a:srgbClr>
              </a:gs>
              <a:gs pos="100000">
                <a:srgbClr val="3F8FD6">
                  <a:alpha val="10000"/>
                </a:srgbClr>
              </a:gs>
            </a:gsLst>
            <a:lin ang="5400000" scaled="0"/>
          </a:gradFill>
        </p:spPr>
      </p:sp>
      <p:sp>
        <p:nvSpPr>
          <p:cNvPr id="39" name="Shape 36"/>
          <p:cNvSpPr/>
          <p:nvPr/>
        </p:nvSpPr>
        <p:spPr>
          <a:xfrm>
            <a:off x="10191750" y="4976813"/>
            <a:ext cx="533400" cy="19050"/>
          </a:xfrm>
          <a:prstGeom prst="rect">
            <a:avLst/>
          </a:prstGeom>
          <a:solidFill>
            <a:srgbClr val="3F8FD6"/>
          </a:solidFill>
        </p:spPr>
      </p:sp>
      <p:sp>
        <p:nvSpPr>
          <p:cNvPr id="40" name="Text 37"/>
          <p:cNvSpPr/>
          <p:nvPr/>
        </p:nvSpPr>
        <p:spPr>
          <a:xfrm>
            <a:off x="10346978" y="6329363"/>
            <a:ext cx="299145" cy="1809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+6M</a:t>
            </a:r>
            <a:endParaRPr lang="en-US" sz="975" dirty="0"/>
          </a:p>
        </p:txBody>
      </p:sp>
      <p:sp>
        <p:nvSpPr>
          <p:cNvPr id="41" name="Shape 38"/>
          <p:cNvSpPr/>
          <p:nvPr/>
        </p:nvSpPr>
        <p:spPr>
          <a:xfrm>
            <a:off x="10896600" y="4672013"/>
            <a:ext cx="533400" cy="1562100"/>
          </a:xfrm>
          <a:prstGeom prst="rect">
            <a:avLst/>
          </a:prstGeom>
          <a:gradFill rotWithShape="1">
            <a:gsLst>
              <a:gs pos="0">
                <a:srgbClr val="3F8FD6">
                  <a:alpha val="45000"/>
                </a:srgbClr>
              </a:gs>
              <a:gs pos="100000">
                <a:srgbClr val="3F8FD6">
                  <a:alpha val="10000"/>
                </a:srgbClr>
              </a:gs>
            </a:gsLst>
            <a:lin ang="5400000" scaled="0"/>
          </a:gradFill>
        </p:spPr>
      </p:sp>
      <p:sp>
        <p:nvSpPr>
          <p:cNvPr id="42" name="Shape 39"/>
          <p:cNvSpPr/>
          <p:nvPr/>
        </p:nvSpPr>
        <p:spPr>
          <a:xfrm>
            <a:off x="10896600" y="4672013"/>
            <a:ext cx="533400" cy="19050"/>
          </a:xfrm>
          <a:prstGeom prst="rect">
            <a:avLst/>
          </a:prstGeom>
          <a:solidFill>
            <a:srgbClr val="3F8FD6"/>
          </a:solidFill>
        </p:spPr>
      </p:sp>
      <p:sp>
        <p:nvSpPr>
          <p:cNvPr id="43" name="Text 40"/>
          <p:cNvSpPr/>
          <p:nvPr/>
        </p:nvSpPr>
        <p:spPr>
          <a:xfrm>
            <a:off x="11051828" y="6329363"/>
            <a:ext cx="299145" cy="1809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+9M</a:t>
            </a:r>
            <a:endParaRPr lang="en-US" sz="975" dirty="0"/>
          </a:p>
        </p:txBody>
      </p:sp>
      <p:sp>
        <p:nvSpPr>
          <p:cNvPr id="44" name="Shape 41"/>
          <p:cNvSpPr/>
          <p:nvPr/>
        </p:nvSpPr>
        <p:spPr>
          <a:xfrm>
            <a:off x="11601450" y="4567238"/>
            <a:ext cx="533400" cy="1666875"/>
          </a:xfrm>
          <a:prstGeom prst="rect">
            <a:avLst/>
          </a:prstGeom>
          <a:gradFill rotWithShape="1">
            <a:gsLst>
              <a:gs pos="0">
                <a:srgbClr val="57B88A">
                  <a:alpha val="45000"/>
                </a:srgbClr>
              </a:gs>
              <a:gs pos="100000">
                <a:srgbClr val="57B88A">
                  <a:alpha val="10000"/>
                </a:srgbClr>
              </a:gs>
            </a:gsLst>
            <a:lin ang="5400000" scaled="0"/>
          </a:gradFill>
        </p:spPr>
      </p:sp>
      <p:sp>
        <p:nvSpPr>
          <p:cNvPr id="45" name="Shape 42"/>
          <p:cNvSpPr/>
          <p:nvPr/>
        </p:nvSpPr>
        <p:spPr>
          <a:xfrm>
            <a:off x="11601450" y="4567238"/>
            <a:ext cx="533400" cy="19050"/>
          </a:xfrm>
          <a:prstGeom prst="rect">
            <a:avLst/>
          </a:prstGeom>
          <a:solidFill>
            <a:srgbClr val="57B88A"/>
          </a:solidFill>
        </p:spPr>
      </p:sp>
      <p:sp>
        <p:nvSpPr>
          <p:cNvPr id="46" name="Text 43"/>
          <p:cNvSpPr/>
          <p:nvPr/>
        </p:nvSpPr>
        <p:spPr>
          <a:xfrm>
            <a:off x="11756678" y="6329363"/>
            <a:ext cx="299145" cy="1809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Now</a:t>
            </a:r>
            <a:endParaRPr lang="en-US" sz="975" dirty="0"/>
          </a:p>
        </p:txBody>
      </p:sp>
      <p:sp>
        <p:nvSpPr>
          <p:cNvPr id="47" name="Text 44"/>
          <p:cNvSpPr/>
          <p:nvPr/>
        </p:nvSpPr>
        <p:spPr>
          <a:xfrm>
            <a:off x="8782050" y="6643688"/>
            <a:ext cx="5827586" cy="3619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275" kern="0" spc="51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Night Waking </a:t>
            </a:r>
            <a:r>
              <a:rPr lang="en-US" sz="1275" kern="0" spc="51" dirty="0">
                <a:solidFill>
                  <a:srgbClr val="7FD6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↓ 7 days</a:t>
            </a:r>
            <a:endParaRPr lang="en-US" sz="1275" dirty="0"/>
          </a:p>
        </p:txBody>
      </p:sp>
      <p:sp>
        <p:nvSpPr>
          <p:cNvPr id="48" name="Text 45"/>
          <p:cNvSpPr/>
          <p:nvPr/>
        </p:nvSpPr>
        <p:spPr>
          <a:xfrm>
            <a:off x="8782050" y="6967538"/>
            <a:ext cx="5827586" cy="3619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275" kern="0" spc="51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Vocabulary </a:t>
            </a:r>
            <a:r>
              <a:rPr lang="en-US" sz="1275" kern="0" spc="51" dirty="0">
                <a:solidFill>
                  <a:srgbClr val="A9E2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↑ 41%</a:t>
            </a:r>
            <a:endParaRPr lang="en-US" sz="1275" dirty="0"/>
          </a:p>
        </p:txBody>
      </p:sp>
      <p:sp>
        <p:nvSpPr>
          <p:cNvPr id="49" name="Text 46"/>
          <p:cNvSpPr/>
          <p:nvPr/>
        </p:nvSpPr>
        <p:spPr>
          <a:xfrm>
            <a:off x="8782050" y="7291388"/>
            <a:ext cx="5827586" cy="3619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275" kern="0" spc="51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Parent Supervision </a:t>
            </a:r>
            <a:r>
              <a:rPr lang="en-US" sz="1275" kern="0" spc="51" dirty="0">
                <a:solidFill>
                  <a:srgbClr val="97B2C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· Marked</a:t>
            </a:r>
            <a:endParaRPr lang="en-US" sz="1275" dirty="0"/>
          </a:p>
        </p:txBody>
      </p:sp>
      <p:sp>
        <p:nvSpPr>
          <p:cNvPr id="50" name="Shape 47"/>
          <p:cNvSpPr/>
          <p:nvPr/>
        </p:nvSpPr>
        <p:spPr>
          <a:xfrm>
            <a:off x="3590925" y="7862888"/>
            <a:ext cx="142875" cy="952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51" name="Shape 48"/>
          <p:cNvSpPr/>
          <p:nvPr/>
        </p:nvSpPr>
        <p:spPr>
          <a:xfrm>
            <a:off x="3590925" y="7729538"/>
            <a:ext cx="9525" cy="14287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52" name="Shape 49"/>
          <p:cNvSpPr/>
          <p:nvPr/>
        </p:nvSpPr>
        <p:spPr>
          <a:xfrm>
            <a:off x="14442911" y="7643813"/>
            <a:ext cx="65415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53" name="Shape 50"/>
          <p:cNvSpPr/>
          <p:nvPr/>
        </p:nvSpPr>
        <p:spPr>
          <a:xfrm>
            <a:off x="14504824" y="7643813"/>
            <a:ext cx="65415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54" name="Shape 51"/>
          <p:cNvSpPr/>
          <p:nvPr/>
        </p:nvSpPr>
        <p:spPr>
          <a:xfrm>
            <a:off x="14566736" y="7643813"/>
            <a:ext cx="65415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55" name="Shape 52"/>
          <p:cNvSpPr/>
          <p:nvPr/>
        </p:nvSpPr>
        <p:spPr>
          <a:xfrm>
            <a:off x="14335125" y="2481263"/>
            <a:ext cx="47625" cy="47625"/>
          </a:xfrm>
          <a:prstGeom prst="rect">
            <a:avLst/>
          </a:prstGeom>
          <a:ln w="9525">
            <a:solidFill>
              <a:srgbClr val="BEE0FC">
                <a:alpha val="82000"/>
              </a:srgbClr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3695700" y="2195830"/>
            <a:ext cx="1692275" cy="1619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825" kern="0" spc="182" dirty="0">
                <a:solidFill>
                  <a:srgbClr val="96B4D7">
                    <a:alpha val="32000"/>
                  </a:srgbClr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DOORWAY · LINK OK</a:t>
            </a:r>
            <a:endParaRPr lang="en-US" sz="825" dirty="0"/>
          </a:p>
        </p:txBody>
      </p:sp>
      <p:sp>
        <p:nvSpPr>
          <p:cNvPr id="57" name="Text 54"/>
          <p:cNvSpPr/>
          <p:nvPr/>
        </p:nvSpPr>
        <p:spPr>
          <a:xfrm>
            <a:off x="4740503" y="8926860"/>
            <a:ext cx="8806994" cy="333375"/>
          </a:xfrm>
          <a:prstGeom prst="rect">
            <a:avLst/>
          </a:prstGeom>
          <a:noFill/>
          <a:effectLst>
            <a:outerShdw blurRad="95250" dist="19050" dir="5400000" algn="bl" rotWithShape="0">
              <a:srgbClr val="000000">
                <a:alpha val="85000"/>
              </a:srgbClr>
            </a:outerShdw>
          </a:effectLst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2100" kern="0" spc="2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“This household first enrolled over the child’s night-time episodes.”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10"/>
          <p:cNvSpPr/>
          <p:nvPr/>
        </p:nvSpPr>
        <p:spPr>
          <a:xfrm>
            <a:off x="3524250" y="1939290"/>
            <a:ext cx="11239500" cy="5676265"/>
          </a:xfrm>
          <a:prstGeom prst="rect">
            <a:avLst/>
          </a:prstGeom>
          <a:gradFill rotWithShape="1">
            <a:gsLst>
              <a:gs pos="0">
                <a:srgbClr val="C0E2FF">
                  <a:alpha val="12000"/>
                </a:srgbClr>
              </a:gs>
              <a:gs pos="56000">
                <a:srgbClr val="C0E2FF">
                  <a:alpha val="0"/>
                </a:srgbClr>
              </a:gs>
            </a:gsLst>
            <a:path path="circle">
              <a:fillToRect l="50000" r="50000" b="100000"/>
            </a:path>
          </a:gradFill>
        </p:spPr>
      </p:sp>
      <p:sp>
        <p:nvSpPr>
          <p:cNvPr id="3" name="Shape 0"/>
          <p:cNvSpPr/>
          <p:nvPr/>
        </p:nvSpPr>
        <p:spPr>
          <a:xfrm>
            <a:off x="533400" y="495300"/>
            <a:ext cx="85725" cy="85725"/>
          </a:xfrm>
          <a:prstGeom prst="ellipse">
            <a:avLst/>
          </a:prstGeom>
          <a:solidFill>
            <a:srgbClr val="57B88A"/>
          </a:solidFill>
          <a:effectLst>
            <a:outerShdw blurRad="95250" dist="50800" dir="16200000" algn="bl" rotWithShape="0">
              <a:srgbClr val="57B88A">
                <a:alpha val="100000"/>
              </a:srgbClr>
            </a:outerShdw>
          </a:effectLst>
        </p:spPr>
      </p:sp>
      <p:sp>
        <p:nvSpPr>
          <p:cNvPr id="4" name="Text 1"/>
          <p:cNvSpPr/>
          <p:nvPr/>
        </p:nvSpPr>
        <p:spPr>
          <a:xfrm>
            <a:off x="704850" y="438150"/>
            <a:ext cx="3859530" cy="2381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7B2C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COMPANION UNIT · ACTIVE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33400" y="704850"/>
            <a:ext cx="3057793" cy="323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50" kern="0" spc="270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MIA · 7842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6875703" y="438150"/>
            <a:ext cx="4536594" cy="266700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1650" kern="0" spc="462" dirty="0">
                <a:solidFill>
                  <a:srgbClr val="97B2C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2026.09.15·MON·18:47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533400" y="9086850"/>
            <a:ext cx="3343632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27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CURRENT TASK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33400" y="9334500"/>
            <a:ext cx="3343632" cy="2762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25" kern="0" spc="142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NIGHT ROUNDS · BLOCK A · 17F</a:t>
            </a:r>
            <a:endParaRPr lang="en-US" sz="1425" dirty="0"/>
          </a:p>
        </p:txBody>
      </p:sp>
      <p:sp>
        <p:nvSpPr>
          <p:cNvPr id="14" name="Shape 11"/>
          <p:cNvSpPr/>
          <p:nvPr/>
        </p:nvSpPr>
        <p:spPr>
          <a:xfrm>
            <a:off x="3524250" y="3345805"/>
            <a:ext cx="112395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18" name="Shape 15"/>
          <p:cNvSpPr/>
          <p:nvPr/>
        </p:nvSpPr>
        <p:spPr>
          <a:xfrm>
            <a:off x="3524250" y="3936355"/>
            <a:ext cx="112395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24" name="Shape 21"/>
          <p:cNvSpPr/>
          <p:nvPr/>
        </p:nvSpPr>
        <p:spPr>
          <a:xfrm>
            <a:off x="12566015" y="3435985"/>
            <a:ext cx="1911985" cy="335915"/>
          </a:xfrm>
          <a:prstGeom prst="rect">
            <a:avLst/>
          </a:prstGeom>
          <a:gradFill rotWithShape="1">
            <a:gsLst>
              <a:gs pos="0">
                <a:srgbClr val="57B88A">
                  <a:alpha val="20000"/>
                </a:srgbClr>
              </a:gs>
              <a:gs pos="100000">
                <a:srgbClr val="57B88A">
                  <a:alpha val="6000"/>
                </a:srgbClr>
              </a:gs>
            </a:gsLst>
            <a:lin ang="5400000" scaled="0"/>
          </a:gradFill>
          <a:ln w="9525">
            <a:solidFill>
              <a:srgbClr val="57B88A"/>
            </a:solidFill>
            <a:prstDash val="solid"/>
          </a:ln>
          <a:effectLst>
            <a:outerShdw blurRad="190500" dist="50800" dir="16200000" algn="bl" rotWithShape="0">
              <a:srgbClr val="57B88A">
                <a:alpha val="20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13119457" y="3499158"/>
            <a:ext cx="805458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68" dirty="0">
                <a:solidFill>
                  <a:srgbClr val="7FD6A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VIEWED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3848100" y="4267795"/>
            <a:ext cx="2266950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125" kern="0" spc="158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HOUSEHOLD</a:t>
            </a:r>
            <a:endParaRPr lang="en-US" sz="1125" dirty="0"/>
          </a:p>
        </p:txBody>
      </p:sp>
      <p:sp>
        <p:nvSpPr>
          <p:cNvPr id="28" name="Text 25"/>
          <p:cNvSpPr/>
          <p:nvPr/>
        </p:nvSpPr>
        <p:spPr>
          <a:xfrm>
            <a:off x="6172200" y="4231630"/>
            <a:ext cx="3243526" cy="381893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425" kern="0" spc="86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Father 35 / Mother 33 / Son 8</a:t>
            </a:r>
            <a:endParaRPr lang="en-US" sz="1425" dirty="0"/>
          </a:p>
        </p:txBody>
      </p:sp>
      <p:sp>
        <p:nvSpPr>
          <p:cNvPr id="29" name="Text 26"/>
          <p:cNvSpPr/>
          <p:nvPr/>
        </p:nvSpPr>
        <p:spPr>
          <a:xfrm>
            <a:off x="3848100" y="4611588"/>
            <a:ext cx="2266950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125" kern="0" spc="158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COMPANION</a:t>
            </a:r>
            <a:endParaRPr lang="en-US" sz="1125" dirty="0"/>
          </a:p>
        </p:txBody>
      </p:sp>
      <p:sp>
        <p:nvSpPr>
          <p:cNvPr id="30" name="Text 27"/>
          <p:cNvSpPr/>
          <p:nvPr/>
        </p:nvSpPr>
        <p:spPr>
          <a:xfrm>
            <a:off x="6172200" y="4575423"/>
            <a:ext cx="3802739" cy="381893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425" kern="0" spc="86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Child Development + Expression Aid</a:t>
            </a:r>
            <a:endParaRPr lang="en-US" sz="1425" dirty="0"/>
          </a:p>
        </p:txBody>
      </p:sp>
      <p:sp>
        <p:nvSpPr>
          <p:cNvPr id="31" name="Text 28"/>
          <p:cNvSpPr/>
          <p:nvPr/>
        </p:nvSpPr>
        <p:spPr>
          <a:xfrm>
            <a:off x="3848100" y="4955381"/>
            <a:ext cx="2266950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125" kern="0" spc="158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SERVICE TIME</a:t>
            </a:r>
            <a:endParaRPr lang="en-US" sz="1125" dirty="0"/>
          </a:p>
        </p:txBody>
      </p:sp>
      <p:sp>
        <p:nvSpPr>
          <p:cNvPr id="32" name="Text 29"/>
          <p:cNvSpPr/>
          <p:nvPr/>
        </p:nvSpPr>
        <p:spPr>
          <a:xfrm>
            <a:off x="6172200" y="4919216"/>
            <a:ext cx="1053554" cy="381893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425" kern="0" spc="86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11 Months</a:t>
            </a:r>
            <a:endParaRPr lang="en-US" sz="1425" dirty="0"/>
          </a:p>
        </p:txBody>
      </p:sp>
      <p:sp>
        <p:nvSpPr>
          <p:cNvPr id="33" name="Text 30"/>
          <p:cNvSpPr/>
          <p:nvPr/>
        </p:nvSpPr>
        <p:spPr>
          <a:xfrm>
            <a:off x="3848100" y="5299174"/>
            <a:ext cx="2266950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125" kern="0" spc="158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MONTHLY USAGE</a:t>
            </a:r>
            <a:endParaRPr lang="en-US" sz="1125" dirty="0"/>
          </a:p>
        </p:txBody>
      </p:sp>
      <p:sp>
        <p:nvSpPr>
          <p:cNvPr id="34" name="Text 31"/>
          <p:cNvSpPr/>
          <p:nvPr/>
        </p:nvSpPr>
        <p:spPr>
          <a:xfrm>
            <a:off x="6172200" y="5263009"/>
            <a:ext cx="619125" cy="381893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425" kern="0" spc="86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99.7%</a:t>
            </a:r>
            <a:endParaRPr lang="en-US" sz="1425" dirty="0"/>
          </a:p>
        </p:txBody>
      </p:sp>
      <p:sp>
        <p:nvSpPr>
          <p:cNvPr id="35" name="Text 32"/>
          <p:cNvSpPr/>
          <p:nvPr/>
        </p:nvSpPr>
        <p:spPr>
          <a:xfrm>
            <a:off x="3848100" y="5642967"/>
            <a:ext cx="2266950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125" kern="0" spc="158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LAST CHECK</a:t>
            </a:r>
            <a:endParaRPr lang="en-US" sz="1125" dirty="0"/>
          </a:p>
        </p:txBody>
      </p:sp>
      <p:sp>
        <p:nvSpPr>
          <p:cNvPr id="36" name="Text 33"/>
          <p:cNvSpPr/>
          <p:nvPr/>
        </p:nvSpPr>
        <p:spPr>
          <a:xfrm>
            <a:off x="6172200" y="5606802"/>
            <a:ext cx="1487835" cy="381893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425" kern="0" spc="86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09.01 · 22:30</a:t>
            </a:r>
            <a:endParaRPr lang="en-US" sz="1425" dirty="0"/>
          </a:p>
        </p:txBody>
      </p:sp>
      <p:sp>
        <p:nvSpPr>
          <p:cNvPr id="37" name="Text 34"/>
          <p:cNvSpPr/>
          <p:nvPr/>
        </p:nvSpPr>
        <p:spPr>
          <a:xfrm>
            <a:off x="3848100" y="6160145"/>
            <a:ext cx="2038856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252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SELECT DISPOSITION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3848100" y="6579245"/>
            <a:ext cx="5200650" cy="952500"/>
          </a:xfrm>
          <a:prstGeom prst="rect">
            <a:avLst/>
          </a:prstGeom>
          <a:solidFill>
            <a:srgbClr val="78AADC">
              <a:alpha val="5000"/>
            </a:srgbClr>
          </a:solidFill>
          <a:ln w="9525">
            <a:solidFill>
              <a:srgbClr val="96C3EB">
                <a:alpha val="4200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067175" y="6464945"/>
            <a:ext cx="1362819" cy="209550"/>
          </a:xfrm>
          <a:prstGeom prst="rect">
            <a:avLst/>
          </a:prstGeom>
          <a:solidFill>
            <a:srgbClr val="57B88A"/>
          </a:solidFill>
        </p:spPr>
      </p:sp>
      <p:sp>
        <p:nvSpPr>
          <p:cNvPr id="40" name="Text 37"/>
          <p:cNvSpPr/>
          <p:nvPr/>
        </p:nvSpPr>
        <p:spPr>
          <a:xfrm>
            <a:off x="4162425" y="6503045"/>
            <a:ext cx="1248519" cy="1714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06140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RECOMMENDED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4086225" y="6798320"/>
            <a:ext cx="5196840" cy="2952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575" b="1" kern="0" spc="126" dirty="0">
                <a:solidFill>
                  <a:srgbClr val="A9E2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</a:t>
            </a:r>
            <a:r>
              <a:rPr lang="en-US" sz="1575" kern="0" spc="126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Approve Upgrade</a:t>
            </a:r>
            <a:endParaRPr lang="en-US" sz="1575" dirty="0"/>
          </a:p>
        </p:txBody>
      </p:sp>
      <p:sp>
        <p:nvSpPr>
          <p:cNvPr id="42" name="Text 39"/>
          <p:cNvSpPr/>
          <p:nvPr/>
        </p:nvSpPr>
        <p:spPr>
          <a:xfrm>
            <a:off x="4086225" y="7141220"/>
            <a:ext cx="5196840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Deep Night Companion Pro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9239250" y="6579245"/>
            <a:ext cx="5200650" cy="952500"/>
          </a:xfrm>
          <a:prstGeom prst="rect">
            <a:avLst/>
          </a:prstGeom>
          <a:solidFill>
            <a:srgbClr val="78AADC">
              <a:alpha val="5000"/>
            </a:srgbClr>
          </a:solidFill>
          <a:ln w="9525">
            <a:solidFill>
              <a:srgbClr val="96C3EB">
                <a:alpha val="42000"/>
              </a:srgbClr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477375" y="6798320"/>
            <a:ext cx="5196840" cy="2952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575" b="1" kern="0" spc="126" dirty="0">
                <a:solidFill>
                  <a:srgbClr val="A9E2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 </a:t>
            </a:r>
            <a:r>
              <a:rPr lang="en-US" sz="1575" kern="0" spc="126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Enable Observation</a:t>
            </a:r>
            <a:endParaRPr lang="en-US" sz="1575" dirty="0"/>
          </a:p>
        </p:txBody>
      </p:sp>
      <p:sp>
        <p:nvSpPr>
          <p:cNvPr id="45" name="Text 42"/>
          <p:cNvSpPr/>
          <p:nvPr/>
        </p:nvSpPr>
        <p:spPr>
          <a:xfrm>
            <a:off x="9477375" y="7141220"/>
            <a:ext cx="5196840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Re-evaluate in two weeks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3433271" y="8926860"/>
            <a:ext cx="11421457" cy="333375"/>
          </a:xfrm>
          <a:prstGeom prst="rect">
            <a:avLst/>
          </a:prstGeom>
          <a:noFill/>
          <a:effectLst>
            <a:outerShdw blurRad="95250" dist="19050" dir="5400000" algn="bl" rotWithShape="0">
              <a:srgbClr val="000000">
                <a:alpha val="85000"/>
              </a:srgbClr>
            </a:outerShdw>
          </a:effectLst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2100" kern="0" spc="2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“Inspector — this unit passes with full marks. Filed as a model night-companion case.”</a:t>
            </a:r>
            <a:endParaRPr lang="en-US" sz="2100" dirty="0"/>
          </a:p>
        </p:txBody>
      </p:sp>
      <p:sp>
        <p:nvSpPr>
          <p:cNvPr id="54" name="Shape 11"/>
          <p:cNvSpPr/>
          <p:nvPr/>
        </p:nvSpPr>
        <p:spPr>
          <a:xfrm>
            <a:off x="3524250" y="3262313"/>
            <a:ext cx="112395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55" name="Text 12"/>
          <p:cNvSpPr/>
          <p:nvPr/>
        </p:nvSpPr>
        <p:spPr>
          <a:xfrm>
            <a:off x="3810000" y="2557780"/>
            <a:ext cx="3657600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DOORWAY TERMINAL</a:t>
            </a:r>
            <a:endParaRPr lang="en-US" sz="1050" dirty="0"/>
          </a:p>
        </p:txBody>
      </p:sp>
      <p:sp>
        <p:nvSpPr>
          <p:cNvPr id="56" name="Text 13"/>
          <p:cNvSpPr/>
          <p:nvPr/>
        </p:nvSpPr>
        <p:spPr>
          <a:xfrm>
            <a:off x="3810000" y="2767013"/>
            <a:ext cx="2095827" cy="3619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50" kern="0" spc="315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17F-01</a:t>
            </a:r>
            <a:endParaRPr lang="en-US" sz="2250" dirty="0"/>
          </a:p>
        </p:txBody>
      </p:sp>
      <p:sp>
        <p:nvSpPr>
          <p:cNvPr id="57" name="Text 14"/>
          <p:cNvSpPr/>
          <p:nvPr/>
        </p:nvSpPr>
        <p:spPr>
          <a:xfrm>
            <a:off x="12154451" y="2738438"/>
            <a:ext cx="2323549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buNone/>
            </a:pPr>
            <a:r>
              <a:rPr lang="en-US" sz="1200" kern="0" spc="144" dirty="0">
                <a:solidFill>
                  <a:srgbClr val="6FC3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Read Complete · 18:42</a:t>
            </a:r>
            <a:endParaRPr lang="en-US" sz="1200" dirty="0"/>
          </a:p>
        </p:txBody>
      </p:sp>
      <p:sp>
        <p:nvSpPr>
          <p:cNvPr id="58" name="Shape 15"/>
          <p:cNvSpPr/>
          <p:nvPr/>
        </p:nvSpPr>
        <p:spPr>
          <a:xfrm>
            <a:off x="3524250" y="3852863"/>
            <a:ext cx="112395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59" name="Text 16"/>
          <p:cNvSpPr/>
          <p:nvPr/>
        </p:nvSpPr>
        <p:spPr>
          <a:xfrm>
            <a:off x="3810000" y="3271838"/>
            <a:ext cx="1762869" cy="61912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Autofit/>
          </a:bodyPr>
          <a:lstStyle/>
          <a:p>
            <a:pPr marL="0" algn="l">
              <a:buClrTx/>
              <a:buSzTx/>
              <a:buFontTx/>
              <a:buNone/>
            </a:pPr>
            <a:r>
              <a:rPr lang="en-US" sz="1275" kern="0" spc="153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RESIDENT SUMMARY</a:t>
            </a:r>
            <a:endParaRPr lang="en-US" sz="1275" kern="0" spc="153" dirty="0">
              <a:solidFill>
                <a:srgbClr val="D7E6F6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60" name="Text 17"/>
          <p:cNvSpPr/>
          <p:nvPr/>
        </p:nvSpPr>
        <p:spPr>
          <a:xfrm>
            <a:off x="5839460" y="3272155"/>
            <a:ext cx="1359535" cy="61912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Autofit/>
          </a:bodyPr>
          <a:lstStyle/>
          <a:p>
            <a:pPr marL="0" algn="l">
              <a:buClrTx/>
              <a:buSzTx/>
              <a:buFontTx/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ACQUISITION</a:t>
            </a:r>
            <a:endParaRPr lang="en-US" sz="1275" kern="0" spc="153" dirty="0">
              <a:solidFill>
                <a:srgbClr val="5F7895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61" name="Text 18"/>
          <p:cNvSpPr/>
          <p:nvPr/>
        </p:nvSpPr>
        <p:spPr>
          <a:xfrm>
            <a:off x="7343140" y="3272155"/>
            <a:ext cx="1131570" cy="61912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FAMILY LOG</a:t>
            </a:r>
            <a:endParaRPr lang="en-US" sz="1275" dirty="0"/>
          </a:p>
        </p:txBody>
      </p:sp>
      <p:sp>
        <p:nvSpPr>
          <p:cNvPr id="62" name="Text 19"/>
          <p:cNvSpPr/>
          <p:nvPr/>
        </p:nvSpPr>
        <p:spPr>
          <a:xfrm>
            <a:off x="8639810" y="3272155"/>
            <a:ext cx="1337945" cy="61912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TRUST TREND</a:t>
            </a:r>
            <a:endParaRPr lang="en-US" sz="1275" dirty="0"/>
          </a:p>
        </p:txBody>
      </p:sp>
      <p:sp>
        <p:nvSpPr>
          <p:cNvPr id="63" name="Text 20"/>
          <p:cNvSpPr/>
          <p:nvPr/>
        </p:nvSpPr>
        <p:spPr>
          <a:xfrm>
            <a:off x="10123805" y="3272155"/>
            <a:ext cx="2011680" cy="61912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INSPECTION HISTORY</a:t>
            </a:r>
            <a:endParaRPr lang="en-US" sz="1275" dirty="0"/>
          </a:p>
        </p:txBody>
      </p:sp>
      <p:sp>
        <p:nvSpPr>
          <p:cNvPr id="66" name="Text 23"/>
          <p:cNvSpPr/>
          <p:nvPr/>
        </p:nvSpPr>
        <p:spPr>
          <a:xfrm>
            <a:off x="14128700" y="3498850"/>
            <a:ext cx="206425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kern="0" spc="168" dirty="0">
                <a:solidFill>
                  <a:srgbClr val="F4B7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★</a:t>
            </a:r>
            <a:endParaRPr lang="en-US" sz="1050" dirty="0"/>
          </a:p>
        </p:txBody>
      </p:sp>
      <p:sp>
        <p:nvSpPr>
          <p:cNvPr id="67" name="Shape 52"/>
          <p:cNvSpPr/>
          <p:nvPr/>
        </p:nvSpPr>
        <p:spPr>
          <a:xfrm>
            <a:off x="14335125" y="2481263"/>
            <a:ext cx="47625" cy="47625"/>
          </a:xfrm>
          <a:prstGeom prst="rect">
            <a:avLst/>
          </a:prstGeom>
          <a:ln w="9525">
            <a:solidFill>
              <a:srgbClr val="BEE0FC">
                <a:alpha val="82000"/>
              </a:srgbClr>
            </a:solidFill>
            <a:prstDash val="solid"/>
          </a:ln>
        </p:spPr>
      </p:sp>
      <p:sp>
        <p:nvSpPr>
          <p:cNvPr id="68" name="Text 53"/>
          <p:cNvSpPr/>
          <p:nvPr/>
        </p:nvSpPr>
        <p:spPr>
          <a:xfrm>
            <a:off x="3695700" y="2195830"/>
            <a:ext cx="1692275" cy="1619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825" kern="0" spc="182" dirty="0">
                <a:solidFill>
                  <a:srgbClr val="96B4D7">
                    <a:alpha val="32000"/>
                  </a:srgbClr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DOORWAY · LINK OK</a:t>
            </a:r>
            <a:endParaRPr lang="en-US" sz="825" dirty="0"/>
          </a:p>
        </p:txBody>
      </p:sp>
      <p:sp>
        <p:nvSpPr>
          <p:cNvPr id="70" name="Shape 47"/>
          <p:cNvSpPr/>
          <p:nvPr/>
        </p:nvSpPr>
        <p:spPr>
          <a:xfrm>
            <a:off x="3590925" y="7862888"/>
            <a:ext cx="142875" cy="952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71" name="Shape 48"/>
          <p:cNvSpPr/>
          <p:nvPr/>
        </p:nvSpPr>
        <p:spPr>
          <a:xfrm>
            <a:off x="3590925" y="7729538"/>
            <a:ext cx="9525" cy="14287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72" name="Shape 49"/>
          <p:cNvSpPr/>
          <p:nvPr/>
        </p:nvSpPr>
        <p:spPr>
          <a:xfrm>
            <a:off x="14442911" y="7643813"/>
            <a:ext cx="65415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73" name="Shape 50"/>
          <p:cNvSpPr/>
          <p:nvPr/>
        </p:nvSpPr>
        <p:spPr>
          <a:xfrm>
            <a:off x="14504824" y="7643813"/>
            <a:ext cx="65415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74" name="Shape 51"/>
          <p:cNvSpPr/>
          <p:nvPr/>
        </p:nvSpPr>
        <p:spPr>
          <a:xfrm>
            <a:off x="14566736" y="7643813"/>
            <a:ext cx="65415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00100" y="1143000"/>
            <a:ext cx="4953000" cy="2422922"/>
          </a:xfrm>
          <a:prstGeom prst="rect">
            <a:avLst/>
          </a:prstGeom>
          <a:gradFill rotWithShape="1">
            <a:gsLst>
              <a:gs pos="0">
                <a:srgbClr val="C0E2FF">
                  <a:alpha val="12000"/>
                </a:srgbClr>
              </a:gs>
              <a:gs pos="56000">
                <a:srgbClr val="C0E2FF">
                  <a:alpha val="0"/>
                </a:srgbClr>
              </a:gs>
            </a:gsLst>
            <a:path path="circle">
              <a:fillToRect l="50000" r="50000" b="100000"/>
            </a:path>
          </a:gradFill>
        </p:spPr>
      </p:sp>
      <p:sp>
        <p:nvSpPr>
          <p:cNvPr id="6" name="Shape 3"/>
          <p:cNvSpPr/>
          <p:nvPr/>
        </p:nvSpPr>
        <p:spPr>
          <a:xfrm>
            <a:off x="800100" y="1543050"/>
            <a:ext cx="49530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7" name="Shape 4"/>
          <p:cNvSpPr/>
          <p:nvPr/>
        </p:nvSpPr>
        <p:spPr>
          <a:xfrm>
            <a:off x="971550" y="1300163"/>
            <a:ext cx="85725" cy="85725"/>
          </a:xfrm>
          <a:prstGeom prst="ellipse">
            <a:avLst/>
          </a:prstGeom>
          <a:solidFill>
            <a:srgbClr val="6FC3F0"/>
          </a:solidFill>
          <a:effectLst>
            <a:outerShdw blurRad="95250" dist="50800" dir="16200000" algn="bl" rotWithShape="0">
              <a:srgbClr val="6FC3F0">
                <a:alpha val="10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152525" y="1257300"/>
            <a:ext cx="2224995" cy="209550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231" dirty="0">
                <a:solidFill>
                  <a:srgbClr val="97B2C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SUBJECT · MONITORING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971550" y="1704975"/>
            <a:ext cx="474018" cy="372368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lnSpc>
                <a:spcPct val="195000"/>
              </a:lnSpc>
              <a:buNone/>
            </a:pPr>
            <a:r>
              <a:rPr lang="en-US" sz="1350" kern="0" spc="54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Time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084415" y="1704975"/>
            <a:ext cx="573435" cy="372368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lnSpc>
                <a:spcPct val="195000"/>
              </a:lnSpc>
              <a:buNone/>
            </a:pPr>
            <a:r>
              <a:rPr lang="en-US" sz="1350" kern="0" spc="54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02:47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971550" y="2039243"/>
            <a:ext cx="573435" cy="372368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lnSpc>
                <a:spcPct val="195000"/>
              </a:lnSpc>
              <a:buNone/>
            </a:pPr>
            <a:r>
              <a:rPr lang="en-US" sz="1350" kern="0" spc="54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State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487763" y="2039243"/>
            <a:ext cx="1170087" cy="372368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lnSpc>
                <a:spcPct val="195000"/>
              </a:lnSpc>
              <a:buNone/>
            </a:pPr>
            <a:r>
              <a:rPr lang="en-US" sz="1350" kern="0" spc="54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REM Anomaly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971550" y="2373511"/>
            <a:ext cx="573435" cy="372368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lnSpc>
                <a:spcPct val="195000"/>
              </a:lnSpc>
              <a:buNone/>
            </a:pPr>
            <a:r>
              <a:rPr lang="en-US" sz="1350" kern="0" spc="54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Heart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670822" y="2373511"/>
            <a:ext cx="987028" cy="372368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lnSpc>
                <a:spcPct val="195000"/>
              </a:lnSpc>
              <a:buNone/>
            </a:pPr>
            <a:r>
              <a:rPr lang="en-US" sz="1350" kern="0" spc="54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62 → 89 ↑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971550" y="2707779"/>
            <a:ext cx="573435" cy="372368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lnSpc>
                <a:spcPct val="195000"/>
              </a:lnSpc>
              <a:buNone/>
            </a:pPr>
            <a:r>
              <a:rPr lang="en-US" sz="1350" kern="0" spc="54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Pupil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5084415" y="2707779"/>
            <a:ext cx="573435" cy="372368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lnSpc>
                <a:spcPct val="195000"/>
              </a:lnSpc>
              <a:buNone/>
            </a:pPr>
            <a:r>
              <a:rPr lang="en-US" sz="1350" kern="0" spc="54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Rapid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971550" y="3137297"/>
            <a:ext cx="46101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18" name="Text 15"/>
          <p:cNvSpPr/>
          <p:nvPr/>
        </p:nvSpPr>
        <p:spPr>
          <a:xfrm>
            <a:off x="971550" y="3242072"/>
            <a:ext cx="4748403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kern="0" spc="96" dirty="0">
                <a:solidFill>
                  <a:srgbClr val="A9E2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ASSESSMENT · NIGHTMARE · STAGE II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66775" y="3489722"/>
            <a:ext cx="142875" cy="952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20" name="Shape 17"/>
          <p:cNvSpPr/>
          <p:nvPr/>
        </p:nvSpPr>
        <p:spPr>
          <a:xfrm>
            <a:off x="866775" y="3356372"/>
            <a:ext cx="9525" cy="14287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21" name="Shape 18"/>
          <p:cNvSpPr/>
          <p:nvPr/>
        </p:nvSpPr>
        <p:spPr>
          <a:xfrm>
            <a:off x="5432261" y="3270647"/>
            <a:ext cx="65415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22" name="Shape 19"/>
          <p:cNvSpPr/>
          <p:nvPr/>
        </p:nvSpPr>
        <p:spPr>
          <a:xfrm>
            <a:off x="5494174" y="3270647"/>
            <a:ext cx="65415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23" name="Shape 20"/>
          <p:cNvSpPr/>
          <p:nvPr/>
        </p:nvSpPr>
        <p:spPr>
          <a:xfrm>
            <a:off x="5556086" y="3270647"/>
            <a:ext cx="65415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24" name="Shape 21"/>
          <p:cNvSpPr/>
          <p:nvPr/>
        </p:nvSpPr>
        <p:spPr>
          <a:xfrm>
            <a:off x="13315950" y="457200"/>
            <a:ext cx="4476750" cy="2152650"/>
          </a:xfrm>
          <a:prstGeom prst="rect">
            <a:avLst/>
          </a:prstGeom>
          <a:gradFill rotWithShape="1">
            <a:gsLst>
              <a:gs pos="0">
                <a:srgbClr val="C0E2FF">
                  <a:alpha val="12000"/>
                </a:srgbClr>
              </a:gs>
              <a:gs pos="56000">
                <a:srgbClr val="C0E2FF">
                  <a:alpha val="0"/>
                </a:srgbClr>
              </a:gs>
            </a:gsLst>
            <a:path path="circle">
              <a:fillToRect l="50000" r="50000" b="100000"/>
            </a:path>
          </a:gradFill>
        </p:spPr>
      </p:sp>
      <p:sp>
        <p:nvSpPr>
          <p:cNvPr id="25" name="Shape 22"/>
          <p:cNvSpPr/>
          <p:nvPr/>
        </p:nvSpPr>
        <p:spPr>
          <a:xfrm>
            <a:off x="13315950" y="876300"/>
            <a:ext cx="447675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26" name="Shape 23"/>
          <p:cNvSpPr/>
          <p:nvPr/>
        </p:nvSpPr>
        <p:spPr>
          <a:xfrm>
            <a:off x="13601700" y="633413"/>
            <a:ext cx="85725" cy="85725"/>
          </a:xfrm>
          <a:prstGeom prst="ellipse">
            <a:avLst/>
          </a:prstGeom>
          <a:solidFill>
            <a:srgbClr val="6FC3F0"/>
          </a:solidFill>
          <a:effectLst>
            <a:outerShdw blurRad="95250" dist="50800" dir="16200000" algn="bl" rotWithShape="0">
              <a:srgbClr val="6FC3F0">
                <a:alpha val="10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13782675" y="590550"/>
            <a:ext cx="2337137" cy="209550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231" dirty="0">
                <a:solidFill>
                  <a:srgbClr val="97B2C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SYNTH VOICE · DECISION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13735050" y="1038225"/>
            <a:ext cx="4274820" cy="2476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25" kern="0" spc="57" dirty="0">
                <a:solidFill>
                  <a:srgbClr val="A9E2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Initiate Soothing Sequence</a:t>
            </a:r>
            <a:endParaRPr lang="en-US" sz="1425" dirty="0"/>
          </a:p>
        </p:txBody>
      </p:sp>
      <p:sp>
        <p:nvSpPr>
          <p:cNvPr id="29" name="Text 26"/>
          <p:cNvSpPr/>
          <p:nvPr/>
        </p:nvSpPr>
        <p:spPr>
          <a:xfrm>
            <a:off x="13735050" y="1323975"/>
            <a:ext cx="4002786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kern="0" spc="24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Cause: early nightmare signs. Protocol: presence + low-band reassurance.</a:t>
            </a:r>
            <a:endParaRPr lang="en-US" sz="1125" dirty="0"/>
          </a:p>
        </p:txBody>
      </p:sp>
      <p:sp>
        <p:nvSpPr>
          <p:cNvPr id="30" name="Text 27"/>
          <p:cNvSpPr/>
          <p:nvPr/>
        </p:nvSpPr>
        <p:spPr>
          <a:xfrm>
            <a:off x="800100" y="7362825"/>
            <a:ext cx="2701290" cy="295275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1125" kern="0" spc="45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streaming · monitor bus</a:t>
            </a:r>
            <a:endParaRPr lang="en-US" sz="1125" dirty="0"/>
          </a:p>
        </p:txBody>
      </p:sp>
      <p:sp>
        <p:nvSpPr>
          <p:cNvPr id="31" name="Text 28"/>
          <p:cNvSpPr/>
          <p:nvPr/>
        </p:nvSpPr>
        <p:spPr>
          <a:xfrm>
            <a:off x="800100" y="7620000"/>
            <a:ext cx="2230785" cy="2952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1125" kern="0" spc="45" dirty="0">
                <a:solidFill>
                  <a:srgbClr val="6FC3F0">
                    <a:alpha val="50000"/>
                  </a:srgbClr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0x47A2 REM_03</a:t>
            </a:r>
            <a:endParaRPr lang="en-US" sz="1125" dirty="0"/>
          </a:p>
        </p:txBody>
      </p:sp>
      <p:sp>
        <p:nvSpPr>
          <p:cNvPr id="32" name="Text 29"/>
          <p:cNvSpPr/>
          <p:nvPr/>
        </p:nvSpPr>
        <p:spPr>
          <a:xfrm>
            <a:off x="800100" y="7877175"/>
            <a:ext cx="2230785" cy="2952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1125" kern="0" spc="45" dirty="0">
                <a:solidFill>
                  <a:srgbClr val="6FC3F0">
                    <a:alpha val="50000"/>
                  </a:srgbClr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0x47A3 HR_89bpm</a:t>
            </a:r>
            <a:endParaRPr lang="en-US" sz="1125" dirty="0"/>
          </a:p>
        </p:txBody>
      </p:sp>
      <p:sp>
        <p:nvSpPr>
          <p:cNvPr id="33" name="Text 30"/>
          <p:cNvSpPr/>
          <p:nvPr/>
        </p:nvSpPr>
        <p:spPr>
          <a:xfrm>
            <a:off x="800100" y="8134350"/>
            <a:ext cx="2230785" cy="2952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1125" kern="0" spc="45" dirty="0">
                <a:solidFill>
                  <a:srgbClr val="6FC3F0">
                    <a:alpha val="32000"/>
                  </a:srgbClr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0x47A4 cmo_anx_72</a:t>
            </a:r>
            <a:endParaRPr lang="en-US" sz="1125" dirty="0"/>
          </a:p>
        </p:txBody>
      </p:sp>
      <p:sp>
        <p:nvSpPr>
          <p:cNvPr id="34" name="Text 31"/>
          <p:cNvSpPr/>
          <p:nvPr/>
        </p:nvSpPr>
        <p:spPr>
          <a:xfrm>
            <a:off x="800100" y="8391525"/>
            <a:ext cx="2230785" cy="2952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1125" kern="0" spc="45" dirty="0">
                <a:solidFill>
                  <a:srgbClr val="6FC3F0">
                    <a:alpha val="32000"/>
                  </a:srgbClr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0x47A5 parent_sleep</a:t>
            </a:r>
            <a:endParaRPr lang="en-US" sz="1125" dirty="0"/>
          </a:p>
        </p:txBody>
      </p:sp>
      <p:sp>
        <p:nvSpPr>
          <p:cNvPr id="35" name="Text 32"/>
          <p:cNvSpPr/>
          <p:nvPr/>
        </p:nvSpPr>
        <p:spPr>
          <a:xfrm>
            <a:off x="800100" y="8648700"/>
            <a:ext cx="2230785" cy="2952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1125" kern="0" spc="45" dirty="0">
                <a:solidFill>
                  <a:srgbClr val="6FC3F0">
                    <a:alpha val="32000"/>
                  </a:srgbClr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0x47A6 room_lux_02</a:t>
            </a:r>
            <a:endParaRPr lang="en-US" sz="1125" dirty="0"/>
          </a:p>
        </p:txBody>
      </p:sp>
      <p:sp>
        <p:nvSpPr>
          <p:cNvPr id="36" name="Text 33"/>
          <p:cNvSpPr/>
          <p:nvPr/>
        </p:nvSpPr>
        <p:spPr>
          <a:xfrm>
            <a:off x="800100" y="8905875"/>
            <a:ext cx="2230785" cy="2952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1125" kern="0" spc="45" dirty="0">
                <a:solidFill>
                  <a:srgbClr val="6FC3F0">
                    <a:alpha val="32000"/>
                  </a:srgbClr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0x47A7 ack_soothe →</a:t>
            </a:r>
            <a:endParaRPr lang="en-US" sz="1125" dirty="0"/>
          </a:p>
        </p:txBody>
      </p:sp>
      <p:sp>
        <p:nvSpPr>
          <p:cNvPr id="37" name="Shape 34"/>
          <p:cNvSpPr/>
          <p:nvPr/>
        </p:nvSpPr>
        <p:spPr>
          <a:xfrm>
            <a:off x="6158805" y="7124700"/>
            <a:ext cx="5970389" cy="647700"/>
          </a:xfrm>
          <a:prstGeom prst="rect">
            <a:avLst/>
          </a:prstGeom>
          <a:solidFill>
            <a:srgbClr val="09101C">
              <a:alpha val="84000"/>
            </a:srgbClr>
          </a:solidFill>
          <a:ln w="9525">
            <a:solidFill>
              <a:srgbClr val="BEE0FC">
                <a:alpha val="82000"/>
              </a:srgbClr>
            </a:solidFill>
            <a:prstDash val="solid"/>
          </a:ln>
          <a:effectLst>
            <a:outerShdw blurRad="285750" dist="50800" dir="16200000" algn="bl" rotWithShape="0">
              <a:srgbClr val="6FC3F0">
                <a:alpha val="18000"/>
              </a:srgbClr>
            </a:outerShdw>
          </a:effectLst>
        </p:spPr>
      </p:sp>
      <p:sp>
        <p:nvSpPr>
          <p:cNvPr id="38" name="Text 35"/>
          <p:cNvSpPr/>
          <p:nvPr/>
        </p:nvSpPr>
        <p:spPr>
          <a:xfrm>
            <a:off x="6497875" y="7305675"/>
            <a:ext cx="5292251" cy="323850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1725" kern="0" spc="138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[ </a:t>
            </a:r>
            <a:r>
              <a:rPr lang="en-US" sz="1725" kern="0" spc="138" dirty="0">
                <a:solidFill>
                  <a:srgbClr val="A9E2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Approach Bedside · Watch Over Subject </a:t>
            </a:r>
            <a:r>
              <a:rPr lang="en-US" sz="1725" kern="0" spc="138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]</a:t>
            </a:r>
            <a:endParaRPr lang="en-US" sz="1725" dirty="0"/>
          </a:p>
        </p:txBody>
      </p:sp>
      <p:sp>
        <p:nvSpPr>
          <p:cNvPr id="39" name="Shape 36"/>
          <p:cNvSpPr/>
          <p:nvPr/>
        </p:nvSpPr>
        <p:spPr>
          <a:xfrm>
            <a:off x="8221414" y="7886700"/>
            <a:ext cx="305842" cy="209550"/>
          </a:xfrm>
          <a:prstGeom prst="rect">
            <a:avLst/>
          </a:prstGeom>
          <a:ln w="9525">
            <a:solidFill>
              <a:srgbClr val="96C3EB">
                <a:alpha val="4200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310897" y="7886700"/>
            <a:ext cx="164976" cy="1905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1050" b="1" kern="0" spc="357" dirty="0">
                <a:solidFill>
                  <a:srgbClr val="6FC3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8475690" y="7886700"/>
            <a:ext cx="1693262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1050" kern="0" spc="357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HOLD TO ACT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5988025" y="9296400"/>
            <a:ext cx="6943145" cy="2381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kern="0" spc="408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COMPANION UNIT ·</a:t>
            </a:r>
            <a:r>
              <a:rPr lang="en-US" sz="1200" b="1" kern="0" spc="408" dirty="0">
                <a:solidFill>
                  <a:srgbClr val="6FC3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FIRST PERSON</a:t>
            </a:r>
            <a:r>
              <a:rPr lang="en-US" sz="1200" kern="0" spc="408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· MONITORING MODE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495300"/>
            <a:ext cx="85725" cy="85725"/>
          </a:xfrm>
          <a:prstGeom prst="ellipse">
            <a:avLst/>
          </a:prstGeom>
          <a:solidFill>
            <a:srgbClr val="5B6B7E"/>
          </a:solidFill>
        </p:spPr>
      </p:sp>
      <p:sp>
        <p:nvSpPr>
          <p:cNvPr id="3" name="Text 1"/>
          <p:cNvSpPr/>
          <p:nvPr/>
        </p:nvSpPr>
        <p:spPr>
          <a:xfrm>
            <a:off x="704850" y="438150"/>
            <a:ext cx="3519805" cy="2381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7B2C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COMPANION UNIT · DORMANT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3400" y="704850"/>
            <a:ext cx="3326443" cy="323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50" kern="0" spc="270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MIA · 7842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6875703" y="438150"/>
            <a:ext cx="4536594" cy="266700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1650" kern="0" spc="462" dirty="0">
                <a:solidFill>
                  <a:srgbClr val="97B2C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2026.09.15·MON·23:42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6477000" y="4370933"/>
            <a:ext cx="5334000" cy="1133475"/>
          </a:xfrm>
          <a:prstGeom prst="rect">
            <a:avLst/>
          </a:prstGeom>
          <a:gradFill rotWithShape="1">
            <a:gsLst>
              <a:gs pos="0">
                <a:srgbClr val="C0E2FF">
                  <a:alpha val="12000"/>
                </a:srgbClr>
              </a:gs>
              <a:gs pos="56000">
                <a:srgbClr val="C0E2FF">
                  <a:alpha val="0"/>
                </a:srgbClr>
              </a:gs>
            </a:gsLst>
            <a:path path="circle">
              <a:fillToRect l="50000" r="50000" b="100000"/>
            </a:path>
          </a:gradFill>
        </p:spPr>
      </p:sp>
      <p:sp>
        <p:nvSpPr>
          <p:cNvPr id="8" name="Text 6"/>
          <p:cNvSpPr/>
          <p:nvPr/>
        </p:nvSpPr>
        <p:spPr>
          <a:xfrm>
            <a:off x="6873240" y="4751933"/>
            <a:ext cx="4541520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2250" kern="0" spc="90" dirty="0">
                <a:solidFill>
                  <a:srgbClr val="D7E6F6">
                    <a:alpha val="75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You’re home. Welcome.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7157204" y="8926860"/>
            <a:ext cx="3973592" cy="333375"/>
          </a:xfrm>
          <a:prstGeom prst="rect">
            <a:avLst/>
          </a:prstGeom>
          <a:noFill/>
          <a:effectLst>
            <a:outerShdw blurRad="95250" dist="19050" dir="5400000" algn="bl" rotWithShape="0">
              <a:srgbClr val="000000">
                <a:alpha val="85000"/>
              </a:srgbClr>
            </a:outerShdw>
          </a:effectLst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2100" i="1" kern="0" spc="21" dirty="0">
                <a:solidFill>
                  <a:srgbClr val="FFFFFF">
                    <a:alpha val="62000"/>
                  </a:srgbClr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 companion unit dormant —</a:t>
            </a:r>
            <a:endParaRPr lang="en-US" sz="21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495300"/>
            <a:ext cx="85725" cy="85725"/>
          </a:xfrm>
          <a:prstGeom prst="ellipse">
            <a:avLst/>
          </a:prstGeom>
          <a:solidFill>
            <a:srgbClr val="5B6B7E"/>
          </a:solidFill>
        </p:spPr>
      </p:sp>
      <p:sp>
        <p:nvSpPr>
          <p:cNvPr id="3" name="Text 1"/>
          <p:cNvSpPr/>
          <p:nvPr/>
        </p:nvSpPr>
        <p:spPr>
          <a:xfrm>
            <a:off x="704850" y="438150"/>
            <a:ext cx="4264025" cy="2381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7B2C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COMPANION UNIT · DORMANT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3400" y="704850"/>
            <a:ext cx="3326443" cy="323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50" kern="0" spc="270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MIA · 7842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6875703" y="438150"/>
            <a:ext cx="4536594" cy="266700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1650" kern="0" spc="462" dirty="0">
                <a:solidFill>
                  <a:srgbClr val="97B2C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2026.09.15·MON·23:58</a:t>
            </a:r>
            <a:endParaRPr lang="en-US" sz="1650" dirty="0"/>
          </a:p>
        </p:txBody>
      </p:sp>
      <p:sp>
        <p:nvSpPr>
          <p:cNvPr id="6" name="Shape 4"/>
          <p:cNvSpPr/>
          <p:nvPr>
            <p:custDataLst>
              <p:tags r:id="rId1"/>
            </p:custDataLst>
          </p:nvPr>
        </p:nvSpPr>
        <p:spPr>
          <a:xfrm>
            <a:off x="6286500" y="4238625"/>
            <a:ext cx="5715000" cy="781050"/>
          </a:xfrm>
          <a:prstGeom prst="rect">
            <a:avLst/>
          </a:prstGeom>
          <a:gradFill rotWithShape="1">
            <a:gsLst>
              <a:gs pos="0">
                <a:srgbClr val="C0E2FF">
                  <a:alpha val="12000"/>
                </a:srgbClr>
              </a:gs>
              <a:gs pos="56000">
                <a:srgbClr val="C0E2FF">
                  <a:alpha val="0"/>
                </a:srgbClr>
              </a:gs>
            </a:gsLst>
            <a:path path="circle">
              <a:fillToRect l="50000" r="50000" b="100000"/>
            </a:path>
          </a:gradFill>
        </p:spPr>
      </p:sp>
      <p:sp>
        <p:nvSpPr>
          <p:cNvPr id="7" name="Text 5"/>
          <p:cNvSpPr/>
          <p:nvPr>
            <p:custDataLst>
              <p:tags r:id="rId2"/>
            </p:custDataLst>
          </p:nvPr>
        </p:nvSpPr>
        <p:spPr>
          <a:xfrm>
            <a:off x="7721054" y="4505325"/>
            <a:ext cx="226516" cy="285750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50" b="1" kern="0" spc="83" dirty="0">
                <a:solidFill>
                  <a:srgbClr val="A9E2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</a:t>
            </a:r>
            <a:endParaRPr lang="en-US" sz="1650" dirty="0"/>
          </a:p>
        </p:txBody>
      </p:sp>
      <p:sp>
        <p:nvSpPr>
          <p:cNvPr id="8" name="Text 6"/>
          <p:cNvSpPr/>
          <p:nvPr>
            <p:custDataLst>
              <p:tags r:id="rId3"/>
            </p:custDataLst>
          </p:nvPr>
        </p:nvSpPr>
        <p:spPr>
          <a:xfrm>
            <a:off x="8023771" y="4491038"/>
            <a:ext cx="2797493" cy="314325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50" kern="0" spc="83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ANSWER LILY YOURSELF</a:t>
            </a:r>
            <a:endParaRPr lang="en-US" sz="1650" dirty="0"/>
          </a:p>
        </p:txBody>
      </p:sp>
      <p:sp>
        <p:nvSpPr>
          <p:cNvPr id="9" name="Shape 7"/>
          <p:cNvSpPr/>
          <p:nvPr>
            <p:custDataLst>
              <p:tags r:id="rId4"/>
            </p:custDataLst>
          </p:nvPr>
        </p:nvSpPr>
        <p:spPr>
          <a:xfrm>
            <a:off x="6286500" y="5267325"/>
            <a:ext cx="5715000" cy="781050"/>
          </a:xfrm>
          <a:prstGeom prst="rect">
            <a:avLst/>
          </a:prstGeom>
          <a:gradFill rotWithShape="1">
            <a:gsLst>
              <a:gs pos="0">
                <a:srgbClr val="C0E2FF">
                  <a:alpha val="12000"/>
                </a:srgbClr>
              </a:gs>
              <a:gs pos="56000">
                <a:srgbClr val="C0E2FF">
                  <a:alpha val="0"/>
                </a:srgbClr>
              </a:gs>
            </a:gsLst>
            <a:path path="circle">
              <a:fillToRect l="50000" r="50000" b="100000"/>
            </a:path>
          </a:gradFill>
        </p:spPr>
      </p:sp>
      <p:sp>
        <p:nvSpPr>
          <p:cNvPr id="10" name="Text 8"/>
          <p:cNvSpPr/>
          <p:nvPr>
            <p:custDataLst>
              <p:tags r:id="rId5"/>
            </p:custDataLst>
          </p:nvPr>
        </p:nvSpPr>
        <p:spPr>
          <a:xfrm>
            <a:off x="6938218" y="5534025"/>
            <a:ext cx="226516" cy="285750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50" b="1" kern="0" spc="83" dirty="0">
                <a:solidFill>
                  <a:srgbClr val="A9E2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</a:t>
            </a:r>
            <a:endParaRPr lang="en-US" sz="1650" dirty="0"/>
          </a:p>
        </p:txBody>
      </p:sp>
      <p:sp>
        <p:nvSpPr>
          <p:cNvPr id="11" name="Text 9"/>
          <p:cNvSpPr/>
          <p:nvPr>
            <p:custDataLst>
              <p:tags r:id="rId6"/>
            </p:custDataLst>
          </p:nvPr>
        </p:nvSpPr>
        <p:spPr>
          <a:xfrm>
            <a:off x="7240935" y="5519738"/>
            <a:ext cx="4519568" cy="314325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50" kern="0" spc="83" dirty="0">
                <a:solidFill>
                  <a:srgbClr val="97B2C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LET THE COMPANION ANSWER FOR HER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6670328" y="8926860"/>
            <a:ext cx="4947345" cy="333375"/>
          </a:xfrm>
          <a:prstGeom prst="rect">
            <a:avLst/>
          </a:prstGeom>
          <a:noFill/>
          <a:effectLst>
            <a:outerShdw blurRad="95250" dist="19050" dir="5400000" algn="bl" rotWithShape="0">
              <a:srgbClr val="000000">
                <a:alpha val="85000"/>
              </a:srgbClr>
            </a:outerShdw>
          </a:effectLst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2100" kern="0" spc="2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Lily: “Mom, will you come tomorrow?”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495300"/>
            <a:ext cx="85725" cy="85725"/>
          </a:xfrm>
          <a:prstGeom prst="ellipse">
            <a:avLst/>
          </a:prstGeom>
          <a:solidFill>
            <a:srgbClr val="E0524D">
              <a:alpha val="73000"/>
            </a:srgbClr>
          </a:solidFill>
          <a:effectLst>
            <a:outerShdw blurRad="114300" dist="50800" dir="16200000" algn="bl" rotWithShape="0">
              <a:srgbClr val="E0524D">
                <a:alpha val="72718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704850" y="438150"/>
            <a:ext cx="3660140" cy="2381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7B2C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ALERT · PENDING REVIEW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3400" y="704850"/>
            <a:ext cx="2964641" cy="323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50" kern="0" spc="270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MIA · 7842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6875703" y="438150"/>
            <a:ext cx="4536594" cy="266700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1650" kern="0" spc="462" dirty="0">
                <a:solidFill>
                  <a:srgbClr val="97B2C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2026.09.16·TUE·00:02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524500" y="3338513"/>
            <a:ext cx="7239000" cy="3609975"/>
          </a:xfrm>
          <a:prstGeom prst="rect">
            <a:avLst/>
          </a:prstGeom>
          <a:gradFill rotWithShape="1">
            <a:gsLst>
              <a:gs pos="0">
                <a:srgbClr val="FF9691">
                  <a:alpha val="12000"/>
                </a:srgbClr>
              </a:gs>
              <a:gs pos="56000">
                <a:srgbClr val="FF9691">
                  <a:alpha val="0"/>
                </a:srgbClr>
              </a:gs>
            </a:gsLst>
            <a:path path="circle">
              <a:fillToRect l="50000" r="50000" b="100000"/>
            </a:path>
          </a:gradFill>
        </p:spPr>
      </p:sp>
      <p:sp>
        <p:nvSpPr>
          <p:cNvPr id="7" name="Shape 5"/>
          <p:cNvSpPr/>
          <p:nvPr/>
        </p:nvSpPr>
        <p:spPr>
          <a:xfrm>
            <a:off x="5524500" y="3929063"/>
            <a:ext cx="7239000" cy="9525"/>
          </a:xfrm>
          <a:prstGeom prst="rect">
            <a:avLst/>
          </a:prstGeom>
          <a:solidFill>
            <a:srgbClr val="E0524D">
              <a:alpha val="40000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5791200" y="3590925"/>
            <a:ext cx="85725" cy="85725"/>
          </a:xfrm>
          <a:prstGeom prst="ellipse">
            <a:avLst/>
          </a:prstGeom>
          <a:solidFill>
            <a:srgbClr val="E0524D">
              <a:alpha val="73000"/>
            </a:srgbClr>
          </a:solidFill>
          <a:effectLst>
            <a:outerShdw blurRad="114300" dist="50800" dir="16200000" algn="bl" rotWithShape="0">
              <a:srgbClr val="E0524D">
                <a:alpha val="72718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91225" y="3529330"/>
            <a:ext cx="3152140" cy="2476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75" kern="0" spc="255" dirty="0">
                <a:solidFill>
                  <a:srgbClr val="FF7C7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WARNING · HIGH-RISK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11792585" y="3548380"/>
            <a:ext cx="885190" cy="2305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kern="0" spc="144" dirty="0">
                <a:solidFill>
                  <a:srgbClr val="E052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03 / 03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810250" y="4186238"/>
            <a:ext cx="6867525" cy="609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725" b="1" kern="0" spc="69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Final confirmation. </a:t>
            </a:r>
            <a:r>
              <a:rPr lang="en-US" sz="1725" kern="0" spc="69" dirty="0">
                <a:solidFill>
                  <a:srgbClr val="FFE2D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This shutdown will bypass the family unit’s farewell protocol.</a:t>
            </a:r>
            <a:endParaRPr lang="en-US" sz="1725" dirty="0"/>
          </a:p>
        </p:txBody>
      </p:sp>
      <p:sp>
        <p:nvSpPr>
          <p:cNvPr id="12" name="Text 10"/>
          <p:cNvSpPr/>
          <p:nvPr/>
        </p:nvSpPr>
        <p:spPr>
          <a:xfrm>
            <a:off x="5810250" y="4929188"/>
            <a:ext cx="6867525" cy="3429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200" kern="0" spc="36" dirty="0">
                <a:solidFill>
                  <a:srgbClr val="FF7C7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You will be entered into the family review process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810250" y="5233988"/>
            <a:ext cx="6867525" cy="3429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200" kern="0" spc="36" dirty="0">
                <a:solidFill>
                  <a:srgbClr val="FF7C7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Your night-rounds clearance will be suspended for seven days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10250" y="5538788"/>
            <a:ext cx="6867525" cy="3429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200" kern="0" spc="36" dirty="0">
                <a:solidFill>
                  <a:srgbClr val="FF7C7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This action will be logged as a non-standard operation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810250" y="6091238"/>
            <a:ext cx="3257550" cy="571500"/>
          </a:xfrm>
          <a:prstGeom prst="rect">
            <a:avLst/>
          </a:prstGeom>
          <a:gradFill rotWithShape="1">
            <a:gsLst>
              <a:gs pos="0">
                <a:srgbClr val="E0524D">
                  <a:alpha val="22000"/>
                </a:srgbClr>
              </a:gs>
              <a:gs pos="100000">
                <a:srgbClr val="E0524D">
                  <a:alpha val="6000"/>
                </a:srgbClr>
              </a:gs>
            </a:gsLst>
            <a:lin ang="5400000" scaled="0"/>
          </a:gradFill>
          <a:ln w="9525">
            <a:solidFill>
              <a:srgbClr val="E052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76925" y="6263005"/>
            <a:ext cx="3101340" cy="2667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1350" kern="0" spc="135" dirty="0">
                <a:solidFill>
                  <a:srgbClr val="FF7C7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YES · FORCE EXECUTE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9220200" y="6091238"/>
            <a:ext cx="3257550" cy="571500"/>
          </a:xfrm>
          <a:prstGeom prst="rect">
            <a:avLst/>
          </a:prstGeom>
          <a:solidFill>
            <a:srgbClr val="78AADC">
              <a:alpha val="5000"/>
            </a:srgbClr>
          </a:solidFill>
          <a:ln w="9525">
            <a:solidFill>
              <a:srgbClr val="96C3EB">
                <a:alpha val="42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27945" y="6263005"/>
            <a:ext cx="1113790" cy="2667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1350" kern="0" spc="135" dirty="0">
                <a:solidFill>
                  <a:srgbClr val="97B2C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CANCEL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969617" y="8926860"/>
            <a:ext cx="8348767" cy="333375"/>
          </a:xfrm>
          <a:prstGeom prst="rect">
            <a:avLst/>
          </a:prstGeom>
          <a:noFill/>
          <a:effectLst>
            <a:outerShdw blurRad="95250" dist="19050" dir="5400000" algn="bl" rotWithShape="0">
              <a:srgbClr val="000000">
                <a:alpha val="90000"/>
              </a:srgbClr>
            </a:outerShdw>
          </a:effectLst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2100" kern="0" spc="21" dirty="0">
                <a:solidFill>
                  <a:srgbClr val="FFD9D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“Inspector — you chose to force shutdown. Please reconsider.”</a:t>
            </a:r>
            <a:endParaRPr lang="en-US" sz="210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762000" y="1104900"/>
            <a:ext cx="2544232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/>
          </a:bodyPr>
          <a:lstStyle/>
          <a:p>
            <a:pPr marL="0" indent="0" algn="l">
              <a:buNone/>
            </a:pPr>
            <a:r>
              <a:rPr lang="en-US" sz="1125" kern="0" spc="180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GAZE TO OPEN WORKSPACE</a:t>
            </a:r>
            <a:endParaRPr lang="en-US" sz="1125" dirty="0"/>
          </a:p>
        </p:txBody>
      </p:sp>
      <p:sp>
        <p:nvSpPr>
          <p:cNvPr id="7" name="Text 4"/>
          <p:cNvSpPr/>
          <p:nvPr/>
        </p:nvSpPr>
        <p:spPr>
          <a:xfrm>
            <a:off x="6875703" y="438150"/>
            <a:ext cx="4536594" cy="266700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 fontScale="90000" lnSpcReduction="20000"/>
          </a:bodyPr>
          <a:lstStyle/>
          <a:p>
            <a:pPr marL="0" indent="0" algn="ctr">
              <a:buNone/>
            </a:pPr>
            <a:r>
              <a:rPr lang="en-US" sz="1650" kern="0" spc="462" dirty="0">
                <a:solidFill>
                  <a:srgbClr val="97B2C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2026.09.15·MON·18:47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533400" y="9086850"/>
            <a:ext cx="3343632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27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CURRENT TASK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33400" y="9334500"/>
            <a:ext cx="3343632" cy="2762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42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NIGHT ROUNDS · BLOCK A · 17F</a:t>
            </a:r>
            <a:endParaRPr lang="en-US" sz="1425" dirty="0"/>
          </a:p>
        </p:txBody>
      </p:sp>
      <p:sp>
        <p:nvSpPr>
          <p:cNvPr id="14" name="Text 11"/>
          <p:cNvSpPr/>
          <p:nvPr/>
        </p:nvSpPr>
        <p:spPr>
          <a:xfrm>
            <a:off x="5388553" y="8926860"/>
            <a:ext cx="7510894" cy="333375"/>
          </a:xfrm>
          <a:prstGeom prst="rect">
            <a:avLst/>
          </a:prstGeom>
          <a:noFill/>
          <a:effectLst>
            <a:outerShdw blurRad="95250" dist="19050" dir="5400000" algn="bl" rotWithShape="0">
              <a:srgbClr val="000000">
                <a:alpha val="85000"/>
              </a:srgbClr>
            </a:outerShdw>
          </a:effectLst>
        </p:spPr>
        <p:txBody>
          <a:bodyPr wrap="none" lIns="25400" tIns="25400" rIns="25400" bIns="25400" rtlCol="0" anchor="t">
            <a:normAutofit fontScale="60000"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2100" i="1" kern="0" spc="21" dirty="0">
                <a:solidFill>
                  <a:srgbClr val="FFFFFF">
                    <a:alpha val="62000"/>
                  </a:srgbClr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① Resident — glance held under 0.5 s, nothing expands</a:t>
            </a:r>
            <a:endParaRPr lang="en-US" sz="2100" dirty="0"/>
          </a:p>
        </p:txBody>
      </p:sp>
      <p:sp>
        <p:nvSpPr>
          <p:cNvPr id="16" name="Shape 0"/>
          <p:cNvSpPr/>
          <p:nvPr/>
        </p:nvSpPr>
        <p:spPr>
          <a:xfrm>
            <a:off x="533400" y="495300"/>
            <a:ext cx="85725" cy="85725"/>
          </a:xfrm>
          <a:prstGeom prst="ellipse">
            <a:avLst/>
          </a:prstGeom>
          <a:solidFill>
            <a:srgbClr val="5B6B7E"/>
          </a:solidFill>
        </p:spPr>
      </p:sp>
      <p:sp>
        <p:nvSpPr>
          <p:cNvPr id="17" name="Text 1"/>
          <p:cNvSpPr/>
          <p:nvPr/>
        </p:nvSpPr>
        <p:spPr>
          <a:xfrm>
            <a:off x="704850" y="438150"/>
            <a:ext cx="4264025" cy="2381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7B2C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COMPANION UNIT · DORMANT</a:t>
            </a:r>
            <a:endParaRPr lang="en-US" sz="1200" dirty="0"/>
          </a:p>
        </p:txBody>
      </p:sp>
      <p:sp>
        <p:nvSpPr>
          <p:cNvPr id="18" name="Text 2"/>
          <p:cNvSpPr/>
          <p:nvPr/>
        </p:nvSpPr>
        <p:spPr>
          <a:xfrm>
            <a:off x="533400" y="704850"/>
            <a:ext cx="3326443" cy="323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50" kern="0" spc="270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MIA · 7842</a:t>
            </a:r>
            <a:endParaRPr lang="en-US" sz="225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4070D">
              <a:alpha val="35000"/>
            </a:srgbClr>
          </a:solidFill>
        </p:spPr>
      </p:sp>
      <p:sp>
        <p:nvSpPr>
          <p:cNvPr id="7" name="Text 5"/>
          <p:cNvSpPr/>
          <p:nvPr/>
        </p:nvSpPr>
        <p:spPr>
          <a:xfrm>
            <a:off x="6875703" y="438150"/>
            <a:ext cx="4536594" cy="266700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 fontScale="90000" lnSpcReduction="20000"/>
          </a:bodyPr>
          <a:lstStyle/>
          <a:p>
            <a:pPr marL="0" indent="0" algn="ctr">
              <a:buNone/>
            </a:pPr>
            <a:r>
              <a:rPr lang="en-US" sz="1650" kern="0" spc="462" dirty="0">
                <a:solidFill>
                  <a:srgbClr val="97B2C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2026.09.15·MON·18:47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533400" y="1600200"/>
            <a:ext cx="3331210" cy="1524000"/>
          </a:xfrm>
          <a:prstGeom prst="rect">
            <a:avLst/>
          </a:prstGeom>
          <a:gradFill rotWithShape="1">
            <a:gsLst>
              <a:gs pos="0">
                <a:srgbClr val="C0E2FF">
                  <a:alpha val="12000"/>
                </a:srgbClr>
              </a:gs>
              <a:gs pos="56000">
                <a:srgbClr val="C0E2FF">
                  <a:alpha val="0"/>
                </a:srgbClr>
              </a:gs>
            </a:gsLst>
            <a:path path="circle">
              <a:fillToRect l="50000" r="50000" b="100000"/>
            </a:path>
          </a:gradFill>
        </p:spPr>
      </p:sp>
      <p:sp>
        <p:nvSpPr>
          <p:cNvPr id="9" name="Shape 7"/>
          <p:cNvSpPr/>
          <p:nvPr/>
        </p:nvSpPr>
        <p:spPr>
          <a:xfrm>
            <a:off x="609600" y="1676400"/>
            <a:ext cx="2705100" cy="457200"/>
          </a:xfrm>
          <a:prstGeom prst="rect">
            <a:avLst/>
          </a:prstGeom>
          <a:solidFill>
            <a:srgbClr val="6FC3F0">
              <a:alpha val="10000"/>
            </a:srgbClr>
          </a:solidFill>
        </p:spPr>
      </p:sp>
      <p:sp>
        <p:nvSpPr>
          <p:cNvPr id="10" name="Text 8"/>
          <p:cNvSpPr/>
          <p:nvPr/>
        </p:nvSpPr>
        <p:spPr>
          <a:xfrm>
            <a:off x="998855" y="1800225"/>
            <a:ext cx="1953260" cy="2476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127" dirty="0">
                <a:solidFill>
                  <a:srgbClr val="A9E2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TODAY’S ROUNDS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998855" y="2257425"/>
            <a:ext cx="2477135" cy="2476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127" dirty="0">
                <a:solidFill>
                  <a:srgbClr val="97B2C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DISPOSITION HISTORY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998855" y="2714625"/>
            <a:ext cx="2052955" cy="2476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127" dirty="0">
                <a:solidFill>
                  <a:srgbClr val="97B2C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SYSTEM SETTINGS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533400" y="9086850"/>
            <a:ext cx="3343632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27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CURRENT TASK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33400" y="9334500"/>
            <a:ext cx="3343632" cy="2762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42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NIGHT ROUNDS · BLOCK A · 17F</a:t>
            </a:r>
            <a:endParaRPr lang="en-US" sz="1425" dirty="0"/>
          </a:p>
        </p:txBody>
      </p:sp>
      <p:sp>
        <p:nvSpPr>
          <p:cNvPr id="19" name="Text 17"/>
          <p:cNvSpPr/>
          <p:nvPr/>
        </p:nvSpPr>
        <p:spPr>
          <a:xfrm>
            <a:off x="5758049" y="8926860"/>
            <a:ext cx="6771903" cy="333375"/>
          </a:xfrm>
          <a:prstGeom prst="rect">
            <a:avLst/>
          </a:prstGeom>
          <a:noFill/>
          <a:effectLst>
            <a:outerShdw blurRad="95250" dist="19050" dir="5400000" algn="bl" rotWithShape="0">
              <a:srgbClr val="000000">
                <a:alpha val="85000"/>
              </a:srgbClr>
            </a:outerShdw>
          </a:effectLst>
        </p:spPr>
        <p:txBody>
          <a:bodyPr wrap="none" lIns="25400" tIns="25400" rIns="25400" bIns="25400" rtlCol="0" anchor="t">
            <a:normAutofit fontScale="60000"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2100" i="1" kern="0" spc="21" dirty="0">
                <a:solidFill>
                  <a:srgbClr val="FFFFFF">
                    <a:alpha val="62000"/>
                  </a:srgbClr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② Entry focus — worker zone lit · gaze 0.5 s / click</a:t>
            </a:r>
            <a:endParaRPr lang="en-US" sz="2100" dirty="0"/>
          </a:p>
        </p:txBody>
      </p:sp>
      <p:sp>
        <p:nvSpPr>
          <p:cNvPr id="28" name="Shape 0"/>
          <p:cNvSpPr/>
          <p:nvPr/>
        </p:nvSpPr>
        <p:spPr>
          <a:xfrm>
            <a:off x="533400" y="495300"/>
            <a:ext cx="85725" cy="85725"/>
          </a:xfrm>
          <a:prstGeom prst="ellipse">
            <a:avLst/>
          </a:prstGeom>
          <a:solidFill>
            <a:srgbClr val="5B6B7E"/>
          </a:solidFill>
        </p:spPr>
      </p:sp>
      <p:sp>
        <p:nvSpPr>
          <p:cNvPr id="29" name="Text 1"/>
          <p:cNvSpPr/>
          <p:nvPr/>
        </p:nvSpPr>
        <p:spPr>
          <a:xfrm>
            <a:off x="704850" y="438150"/>
            <a:ext cx="4264025" cy="2381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7B2C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COMPANION UNIT · DORMANT</a:t>
            </a:r>
            <a:endParaRPr lang="en-US" sz="1200" dirty="0"/>
          </a:p>
        </p:txBody>
      </p:sp>
      <p:sp>
        <p:nvSpPr>
          <p:cNvPr id="30" name="Text 2"/>
          <p:cNvSpPr/>
          <p:nvPr/>
        </p:nvSpPr>
        <p:spPr>
          <a:xfrm>
            <a:off x="533400" y="704850"/>
            <a:ext cx="3326443" cy="323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50" kern="0" spc="270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MIA · 7842</a:t>
            </a:r>
            <a:endParaRPr lang="en-US" sz="2250" dirty="0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4070D">
              <a:alpha val="55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6875703" y="438150"/>
            <a:ext cx="4536594" cy="266700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 fontScale="90000" lnSpcReduction="20000"/>
          </a:bodyPr>
          <a:lstStyle/>
          <a:p>
            <a:pPr marL="0" indent="0" algn="ctr">
              <a:buNone/>
            </a:pPr>
            <a:r>
              <a:rPr lang="en-US" sz="1650" kern="0" spc="462" dirty="0">
                <a:solidFill>
                  <a:srgbClr val="97B2C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2026.09.15·MON·18:47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6191250" y="3657600"/>
            <a:ext cx="5905500" cy="2971800"/>
          </a:xfrm>
          <a:prstGeom prst="rect">
            <a:avLst/>
          </a:prstGeom>
          <a:gradFill rotWithShape="1">
            <a:gsLst>
              <a:gs pos="0">
                <a:srgbClr val="C0E2FF">
                  <a:alpha val="12000"/>
                </a:srgbClr>
              </a:gs>
              <a:gs pos="56000">
                <a:srgbClr val="C0E2FF">
                  <a:alpha val="0"/>
                </a:srgbClr>
              </a:gs>
            </a:gsLst>
            <a:path path="circle">
              <a:fillToRect l="50000" r="50000" b="100000"/>
            </a:path>
          </a:gradFill>
        </p:spPr>
      </p:sp>
      <p:sp>
        <p:nvSpPr>
          <p:cNvPr id="5" name="Text 3"/>
          <p:cNvSpPr/>
          <p:nvPr/>
        </p:nvSpPr>
        <p:spPr>
          <a:xfrm>
            <a:off x="6477000" y="3905250"/>
            <a:ext cx="5867400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294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WORKSPACE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77000" y="4152900"/>
            <a:ext cx="5867400" cy="3619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98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Tonight’s Rounds · Block A · 17F</a:t>
            </a:r>
            <a:endParaRPr lang="en-US" sz="1950" dirty="0"/>
          </a:p>
        </p:txBody>
      </p:sp>
      <p:sp>
        <p:nvSpPr>
          <p:cNvPr id="7" name="Shape 5"/>
          <p:cNvSpPr/>
          <p:nvPr>
            <p:custDataLst>
              <p:tags r:id="rId1"/>
            </p:custDataLst>
          </p:nvPr>
        </p:nvSpPr>
        <p:spPr>
          <a:xfrm>
            <a:off x="6477000" y="4648200"/>
            <a:ext cx="5334000" cy="495300"/>
          </a:xfrm>
          <a:prstGeom prst="rect">
            <a:avLst/>
          </a:prstGeom>
          <a:solidFill>
            <a:srgbClr val="78AADC">
              <a:alpha val="5000"/>
            </a:srgbClr>
          </a:solidFill>
        </p:spPr>
      </p:sp>
      <p:sp>
        <p:nvSpPr>
          <p:cNvPr id="8" name="Shape 6"/>
          <p:cNvSpPr/>
          <p:nvPr>
            <p:custDataLst>
              <p:tags r:id="rId2"/>
            </p:custDataLst>
          </p:nvPr>
        </p:nvSpPr>
        <p:spPr>
          <a:xfrm>
            <a:off x="6477000" y="4648200"/>
            <a:ext cx="28575" cy="495300"/>
          </a:xfrm>
          <a:prstGeom prst="rect">
            <a:avLst/>
          </a:prstGeom>
          <a:solidFill>
            <a:srgbClr val="57B88A"/>
          </a:solidFill>
        </p:spPr>
      </p:sp>
      <p:sp>
        <p:nvSpPr>
          <p:cNvPr id="9" name="Text 7"/>
          <p:cNvSpPr/>
          <p:nvPr>
            <p:custDataLst>
              <p:tags r:id="rId3"/>
            </p:custDataLst>
          </p:nvPr>
        </p:nvSpPr>
        <p:spPr>
          <a:xfrm>
            <a:off x="6696075" y="4800600"/>
            <a:ext cx="795655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 lnSpcReduction="10000"/>
          </a:bodyPr>
          <a:lstStyle/>
          <a:p>
            <a:pPr marL="0" indent="0" algn="l">
              <a:buNone/>
            </a:pPr>
            <a:r>
              <a:rPr lang="en-US" sz="1350" kern="0" spc="81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17F-01</a:t>
            </a:r>
            <a:endParaRPr lang="en-US" sz="1350" dirty="0"/>
          </a:p>
        </p:txBody>
      </p:sp>
      <p:sp>
        <p:nvSpPr>
          <p:cNvPr id="10" name="Text 8"/>
          <p:cNvSpPr/>
          <p:nvPr>
            <p:custDataLst>
              <p:tags r:id="rId4"/>
            </p:custDataLst>
          </p:nvPr>
        </p:nvSpPr>
        <p:spPr>
          <a:xfrm>
            <a:off x="10927715" y="4810125"/>
            <a:ext cx="768985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050" kern="0" spc="168" dirty="0">
                <a:solidFill>
                  <a:srgbClr val="7FD6A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DONE</a:t>
            </a:r>
            <a:endParaRPr lang="en-US" sz="1050" dirty="0"/>
          </a:p>
        </p:txBody>
      </p:sp>
      <p:sp>
        <p:nvSpPr>
          <p:cNvPr id="11" name="Shape 9"/>
          <p:cNvSpPr/>
          <p:nvPr>
            <p:custDataLst>
              <p:tags r:id="rId5"/>
            </p:custDataLst>
          </p:nvPr>
        </p:nvSpPr>
        <p:spPr>
          <a:xfrm>
            <a:off x="6477000" y="5219700"/>
            <a:ext cx="5334000" cy="495300"/>
          </a:xfrm>
          <a:prstGeom prst="rect">
            <a:avLst/>
          </a:prstGeom>
          <a:solidFill>
            <a:srgbClr val="6FC3F0">
              <a:alpha val="8000"/>
            </a:srgbClr>
          </a:solidFill>
        </p:spPr>
      </p:sp>
      <p:sp>
        <p:nvSpPr>
          <p:cNvPr id="12" name="Shape 10"/>
          <p:cNvSpPr/>
          <p:nvPr>
            <p:custDataLst>
              <p:tags r:id="rId6"/>
            </p:custDataLst>
          </p:nvPr>
        </p:nvSpPr>
        <p:spPr>
          <a:xfrm>
            <a:off x="6477000" y="5219700"/>
            <a:ext cx="28575" cy="495300"/>
          </a:xfrm>
          <a:prstGeom prst="rect">
            <a:avLst/>
          </a:prstGeom>
          <a:solidFill>
            <a:srgbClr val="6FC3F0"/>
          </a:solidFill>
        </p:spPr>
      </p:sp>
      <p:sp>
        <p:nvSpPr>
          <p:cNvPr id="13" name="Text 11"/>
          <p:cNvSpPr/>
          <p:nvPr>
            <p:custDataLst>
              <p:tags r:id="rId7"/>
            </p:custDataLst>
          </p:nvPr>
        </p:nvSpPr>
        <p:spPr>
          <a:xfrm>
            <a:off x="6696075" y="5372100"/>
            <a:ext cx="795655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 lnSpcReduction="10000"/>
          </a:bodyPr>
          <a:lstStyle/>
          <a:p>
            <a:pPr marL="0" indent="0" algn="l">
              <a:buNone/>
            </a:pPr>
            <a:r>
              <a:rPr lang="en-US" sz="1350" kern="0" spc="81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17F-02</a:t>
            </a:r>
            <a:endParaRPr lang="en-US" sz="1350" dirty="0"/>
          </a:p>
        </p:txBody>
      </p:sp>
      <p:sp>
        <p:nvSpPr>
          <p:cNvPr id="14" name="Text 12"/>
          <p:cNvSpPr/>
          <p:nvPr>
            <p:custDataLst>
              <p:tags r:id="rId8"/>
            </p:custDataLst>
          </p:nvPr>
        </p:nvSpPr>
        <p:spPr>
          <a:xfrm>
            <a:off x="10453370" y="5381625"/>
            <a:ext cx="1243330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050" kern="0" spc="168" dirty="0">
                <a:solidFill>
                  <a:srgbClr val="A9E2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 CHECK</a:t>
            </a:r>
            <a:endParaRPr lang="en-US" sz="1050" dirty="0"/>
          </a:p>
        </p:txBody>
      </p:sp>
      <p:sp>
        <p:nvSpPr>
          <p:cNvPr id="15" name="Shape 13"/>
          <p:cNvSpPr/>
          <p:nvPr>
            <p:custDataLst>
              <p:tags r:id="rId9"/>
            </p:custDataLst>
          </p:nvPr>
        </p:nvSpPr>
        <p:spPr>
          <a:xfrm>
            <a:off x="6477000" y="5791200"/>
            <a:ext cx="5334000" cy="495300"/>
          </a:xfrm>
          <a:prstGeom prst="rect">
            <a:avLst/>
          </a:prstGeom>
          <a:solidFill>
            <a:srgbClr val="78AADC">
              <a:alpha val="5000"/>
            </a:srgbClr>
          </a:solidFill>
        </p:spPr>
      </p:sp>
      <p:sp>
        <p:nvSpPr>
          <p:cNvPr id="16" name="Shape 14"/>
          <p:cNvSpPr/>
          <p:nvPr>
            <p:custDataLst>
              <p:tags r:id="rId10"/>
            </p:custDataLst>
          </p:nvPr>
        </p:nvSpPr>
        <p:spPr>
          <a:xfrm>
            <a:off x="6477000" y="5791200"/>
            <a:ext cx="28575" cy="495300"/>
          </a:xfrm>
          <a:prstGeom prst="rect">
            <a:avLst/>
          </a:prstGeom>
          <a:solidFill>
            <a:srgbClr val="E0973F"/>
          </a:solidFill>
        </p:spPr>
      </p:sp>
      <p:sp>
        <p:nvSpPr>
          <p:cNvPr id="17" name="Text 15"/>
          <p:cNvSpPr/>
          <p:nvPr>
            <p:custDataLst>
              <p:tags r:id="rId11"/>
            </p:custDataLst>
          </p:nvPr>
        </p:nvSpPr>
        <p:spPr>
          <a:xfrm>
            <a:off x="6696075" y="5943600"/>
            <a:ext cx="795655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 lnSpcReduction="10000"/>
          </a:bodyPr>
          <a:lstStyle/>
          <a:p>
            <a:pPr marL="0" indent="0" algn="l">
              <a:buNone/>
            </a:pPr>
            <a:r>
              <a:rPr lang="en-US" sz="1350" kern="0" spc="81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17F-03</a:t>
            </a:r>
            <a:endParaRPr lang="en-US" sz="1350" dirty="0"/>
          </a:p>
        </p:txBody>
      </p:sp>
      <p:sp>
        <p:nvSpPr>
          <p:cNvPr id="18" name="Text 16"/>
          <p:cNvSpPr/>
          <p:nvPr>
            <p:custDataLst>
              <p:tags r:id="rId12"/>
            </p:custDataLst>
          </p:nvPr>
        </p:nvSpPr>
        <p:spPr>
          <a:xfrm>
            <a:off x="10522585" y="5953125"/>
            <a:ext cx="1174115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050" kern="0" spc="168" dirty="0">
                <a:solidFill>
                  <a:srgbClr val="F4B7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PENDING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519849" y="8926860"/>
            <a:ext cx="7248302" cy="333375"/>
          </a:xfrm>
          <a:prstGeom prst="rect">
            <a:avLst/>
          </a:prstGeom>
          <a:noFill/>
          <a:effectLst>
            <a:outerShdw blurRad="95250" dist="19050" dir="5400000" algn="bl" rotWithShape="0">
              <a:srgbClr val="000000">
                <a:alpha val="85000"/>
              </a:srgbClr>
            </a:outerShdw>
          </a:effectLst>
        </p:spPr>
        <p:txBody>
          <a:bodyPr wrap="none" lIns="25400" tIns="25400" rIns="25400" bIns="25400" rtlCol="0" anchor="t">
            <a:normAutofit fontScale="60000"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2100" i="1" kern="0" spc="21" dirty="0">
                <a:solidFill>
                  <a:srgbClr val="FFFFFF">
                    <a:alpha val="62000"/>
                  </a:srgbClr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③ Workspace expanded — three-stage reveal · ~0.6 s</a:t>
            </a:r>
            <a:endParaRPr lang="en-US" sz="2100" dirty="0"/>
          </a:p>
        </p:txBody>
      </p:sp>
      <p:sp>
        <p:nvSpPr>
          <p:cNvPr id="28" name="Shape 0"/>
          <p:cNvSpPr/>
          <p:nvPr/>
        </p:nvSpPr>
        <p:spPr>
          <a:xfrm>
            <a:off x="533400" y="495300"/>
            <a:ext cx="85725" cy="85725"/>
          </a:xfrm>
          <a:prstGeom prst="ellipse">
            <a:avLst/>
          </a:prstGeom>
          <a:solidFill>
            <a:srgbClr val="5B6B7E"/>
          </a:solidFill>
        </p:spPr>
      </p:sp>
      <p:sp>
        <p:nvSpPr>
          <p:cNvPr id="29" name="Text 1"/>
          <p:cNvSpPr/>
          <p:nvPr/>
        </p:nvSpPr>
        <p:spPr>
          <a:xfrm>
            <a:off x="704850" y="438150"/>
            <a:ext cx="4264025" cy="2381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7B2C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COMPANION UNIT · DORMANT</a:t>
            </a:r>
            <a:endParaRPr lang="en-US" sz="1200" dirty="0"/>
          </a:p>
        </p:txBody>
      </p:sp>
      <p:sp>
        <p:nvSpPr>
          <p:cNvPr id="30" name="Text 2"/>
          <p:cNvSpPr/>
          <p:nvPr/>
        </p:nvSpPr>
        <p:spPr>
          <a:xfrm>
            <a:off x="533400" y="704850"/>
            <a:ext cx="3326443" cy="323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50" kern="0" spc="270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MIA · 7842</a:t>
            </a:r>
            <a:endParaRPr lang="en-US" sz="2250" dirty="0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96383A">
                  <a:alpha val="42000"/>
                </a:srgbClr>
              </a:gs>
              <a:gs pos="66000">
                <a:srgbClr val="96383A">
                  <a:alpha val="0"/>
                </a:srgbClr>
              </a:gs>
            </a:gsLst>
            <a:path path="circle">
              <a:fillToRect l="50000" t="58000" r="50000" b="42000"/>
            </a:path>
          </a:gradFill>
        </p:spPr>
      </p:sp>
      <p:sp>
        <p:nvSpPr>
          <p:cNvPr id="4" name="Shape 1"/>
          <p:cNvSpPr/>
          <p:nvPr/>
        </p:nvSpPr>
        <p:spPr>
          <a:xfrm>
            <a:off x="533301" y="494357"/>
            <a:ext cx="85700" cy="85700"/>
          </a:xfrm>
          <a:prstGeom prst="ellipse">
            <a:avLst/>
          </a:prstGeom>
          <a:solidFill>
            <a:srgbClr val="E0524D">
              <a:alpha val="91000"/>
            </a:srgbClr>
          </a:solidFill>
          <a:effectLst>
            <a:outerShdw blurRad="114300" dist="50800" dir="16200000" algn="bl" rotWithShape="0">
              <a:srgbClr val="E0524D">
                <a:alpha val="90588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04701" y="438051"/>
            <a:ext cx="2599829" cy="236537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7B2C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ALERT · PENDING REVIEW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33301" y="703089"/>
            <a:ext cx="2964532" cy="323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50" kern="0" spc="270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MIA · 7842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6875648" y="438051"/>
            <a:ext cx="4536703" cy="268287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kern="0" spc="462" dirty="0">
                <a:solidFill>
                  <a:srgbClr val="97B2C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2026.09.15·MON·22:16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533301" y="9075911"/>
            <a:ext cx="3343659" cy="212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27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CURRENT TASK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33301" y="9326687"/>
            <a:ext cx="3343659" cy="2762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42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NIGHT ROUNDS · BLOCK A · 17F</a:t>
            </a:r>
            <a:endParaRPr lang="en-US" sz="1425" dirty="0"/>
          </a:p>
        </p:txBody>
      </p:sp>
      <p:sp>
        <p:nvSpPr>
          <p:cNvPr id="10" name="Shape 7"/>
          <p:cNvSpPr/>
          <p:nvPr/>
        </p:nvSpPr>
        <p:spPr>
          <a:xfrm>
            <a:off x="533301" y="9716368"/>
            <a:ext cx="76150" cy="76150"/>
          </a:xfrm>
          <a:prstGeom prst="ellipse">
            <a:avLst/>
          </a:prstGeom>
          <a:solidFill>
            <a:srgbClr val="6FC3F0"/>
          </a:solidFill>
          <a:effectLst>
            <a:outerShdw blurRad="76200" dist="50800" dir="16200000" algn="bl" rotWithShape="0">
              <a:srgbClr val="6FC3F0">
                <a:alpha val="5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95151" y="9716368"/>
            <a:ext cx="76150" cy="76150"/>
          </a:xfrm>
          <a:prstGeom prst="ellipse">
            <a:avLst/>
          </a:prstGeom>
          <a:solidFill>
            <a:srgbClr val="6FC3F0"/>
          </a:solidFill>
          <a:effectLst>
            <a:outerShdw blurRad="76200" dist="50800" dir="16200000" algn="bl" rotWithShape="0">
              <a:srgbClr val="6FC3F0">
                <a:alpha val="5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57002" y="9716368"/>
            <a:ext cx="76150" cy="76150"/>
          </a:xfrm>
          <a:prstGeom prst="ellipse">
            <a:avLst/>
          </a:prstGeom>
          <a:solidFill>
            <a:srgbClr val="96B4D7">
              <a:alpha val="32000"/>
            </a:srgbClr>
          </a:solidFill>
        </p:spPr>
      </p:sp>
      <p:sp>
        <p:nvSpPr>
          <p:cNvPr id="13" name="Text 10"/>
          <p:cNvSpPr/>
          <p:nvPr/>
        </p:nvSpPr>
        <p:spPr>
          <a:xfrm>
            <a:off x="1075903" y="9679037"/>
            <a:ext cx="503213" cy="1889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2/3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524250" y="2670286"/>
            <a:ext cx="11239500" cy="4946427"/>
          </a:xfrm>
          <a:prstGeom prst="rect">
            <a:avLst/>
          </a:prstGeom>
          <a:gradFill rotWithShape="1">
            <a:gsLst>
              <a:gs pos="0">
                <a:srgbClr val="FF9691">
                  <a:alpha val="16000"/>
                </a:srgbClr>
              </a:gs>
              <a:gs pos="56000">
                <a:srgbClr val="FF9691">
                  <a:alpha val="0"/>
                </a:srgbClr>
              </a:gs>
            </a:gsLst>
            <a:path path="circle">
              <a:fillToRect l="50000" r="50000" b="100000"/>
            </a:path>
          </a:gradFill>
        </p:spPr>
      </p:sp>
      <p:sp>
        <p:nvSpPr>
          <p:cNvPr id="15" name="Shape 12"/>
          <p:cNvSpPr/>
          <p:nvPr/>
        </p:nvSpPr>
        <p:spPr>
          <a:xfrm>
            <a:off x="3524250" y="3589300"/>
            <a:ext cx="112395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16" name="Text 13"/>
          <p:cNvSpPr/>
          <p:nvPr/>
        </p:nvSpPr>
        <p:spPr>
          <a:xfrm>
            <a:off x="3810000" y="2879762"/>
            <a:ext cx="2980085" cy="212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DOORWAY TERMINAL · ALERT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810000" y="3092462"/>
            <a:ext cx="2980085" cy="36353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kern="0" spc="315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17F-03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11269266" y="3061456"/>
            <a:ext cx="3208734" cy="212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00" kern="0" spc="144" dirty="0">
                <a:solidFill>
                  <a:srgbClr val="E052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Last Sync · 22:14 · 2 min ago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524250" y="4179776"/>
            <a:ext cx="112395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20" name="Text 17"/>
          <p:cNvSpPr/>
          <p:nvPr/>
        </p:nvSpPr>
        <p:spPr>
          <a:xfrm>
            <a:off x="3810000" y="3597238"/>
            <a:ext cx="1925637" cy="620638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FFD9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RESIDENT SUMMARY</a:t>
            </a:r>
            <a:endParaRPr lang="en-US" sz="1275" dirty="0"/>
          </a:p>
        </p:txBody>
      </p:sp>
      <p:sp>
        <p:nvSpPr>
          <p:cNvPr id="21" name="Text 18"/>
          <p:cNvSpPr/>
          <p:nvPr/>
        </p:nvSpPr>
        <p:spPr>
          <a:xfrm>
            <a:off x="5926088" y="3597238"/>
            <a:ext cx="1236935" cy="620638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ACQUISITION</a:t>
            </a:r>
            <a:endParaRPr lang="en-US" sz="1275" dirty="0"/>
          </a:p>
        </p:txBody>
      </p:sp>
      <p:sp>
        <p:nvSpPr>
          <p:cNvPr id="22" name="Text 19"/>
          <p:cNvSpPr/>
          <p:nvPr/>
        </p:nvSpPr>
        <p:spPr>
          <a:xfrm>
            <a:off x="7353473" y="3597238"/>
            <a:ext cx="1121966" cy="620638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FAMILY LOG</a:t>
            </a:r>
            <a:endParaRPr lang="en-US" sz="1275" dirty="0"/>
          </a:p>
        </p:txBody>
      </p:sp>
      <p:sp>
        <p:nvSpPr>
          <p:cNvPr id="23" name="Text 20"/>
          <p:cNvSpPr/>
          <p:nvPr/>
        </p:nvSpPr>
        <p:spPr>
          <a:xfrm>
            <a:off x="8665890" y="3597238"/>
            <a:ext cx="1327720" cy="620638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TRUST TREND</a:t>
            </a:r>
            <a:endParaRPr lang="en-US" sz="1275" dirty="0"/>
          </a:p>
        </p:txBody>
      </p:sp>
      <p:sp>
        <p:nvSpPr>
          <p:cNvPr id="24" name="Text 21"/>
          <p:cNvSpPr/>
          <p:nvPr/>
        </p:nvSpPr>
        <p:spPr>
          <a:xfrm>
            <a:off x="10184060" y="3597238"/>
            <a:ext cx="1998811" cy="620638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INSPECTION HISTORY</a:t>
            </a:r>
            <a:endParaRPr lang="en-US" sz="1275" dirty="0"/>
          </a:p>
        </p:txBody>
      </p:sp>
      <p:sp>
        <p:nvSpPr>
          <p:cNvPr id="25" name="Shape 22"/>
          <p:cNvSpPr/>
          <p:nvPr/>
        </p:nvSpPr>
        <p:spPr>
          <a:xfrm>
            <a:off x="12689830" y="3678969"/>
            <a:ext cx="1788170" cy="419075"/>
          </a:xfrm>
          <a:prstGeom prst="rect">
            <a:avLst/>
          </a:prstGeom>
          <a:gradFill rotWithShape="1">
            <a:gsLst>
              <a:gs pos="0">
                <a:srgbClr val="E0524D">
                  <a:alpha val="24000"/>
                </a:srgbClr>
              </a:gs>
              <a:gs pos="100000">
                <a:srgbClr val="E0524D">
                  <a:alpha val="8000"/>
                </a:srgbClr>
              </a:gs>
            </a:gsLst>
            <a:lin ang="5400000" scaled="0"/>
          </a:gradFill>
          <a:ln w="7937">
            <a:solidFill>
              <a:srgbClr val="E0524D"/>
            </a:solidFill>
            <a:prstDash val="solid"/>
          </a:ln>
          <a:effectLst>
            <a:outerShdw blurRad="209550" dist="50800" dir="16200000" algn="bl" rotWithShape="0">
              <a:srgbClr val="E0524D">
                <a:alpha val="30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12907242" y="3801132"/>
            <a:ext cx="1204069" cy="212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168" dirty="0">
                <a:solidFill>
                  <a:srgbClr val="FF7C7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ENTER UNIT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4130362" y="3801132"/>
            <a:ext cx="206425" cy="212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168" dirty="0">
                <a:solidFill>
                  <a:srgbClr val="FF7C7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★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3848075" y="4509678"/>
            <a:ext cx="2266950" cy="3094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125" kern="0" spc="158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HOUSEHOLD</a:t>
            </a:r>
            <a:endParaRPr lang="en-US" sz="1125" dirty="0"/>
          </a:p>
        </p:txBody>
      </p:sp>
      <p:sp>
        <p:nvSpPr>
          <p:cNvPr id="29" name="Text 26"/>
          <p:cNvSpPr/>
          <p:nvPr/>
        </p:nvSpPr>
        <p:spPr>
          <a:xfrm>
            <a:off x="6172150" y="4473463"/>
            <a:ext cx="3914591" cy="381893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425" kern="0" spc="86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Father 38 / Mother 36 / Daughter 12</a:t>
            </a:r>
            <a:endParaRPr lang="en-US" sz="1425" dirty="0"/>
          </a:p>
        </p:txBody>
      </p:sp>
      <p:sp>
        <p:nvSpPr>
          <p:cNvPr id="30" name="Text 27"/>
          <p:cNvSpPr/>
          <p:nvPr/>
        </p:nvSpPr>
        <p:spPr>
          <a:xfrm>
            <a:off x="3848075" y="4853471"/>
            <a:ext cx="2266950" cy="3094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125" kern="0" spc="158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COMPANION</a:t>
            </a:r>
            <a:endParaRPr lang="en-US" sz="1125" dirty="0"/>
          </a:p>
        </p:txBody>
      </p:sp>
      <p:sp>
        <p:nvSpPr>
          <p:cNvPr id="31" name="Text 28"/>
          <p:cNvSpPr/>
          <p:nvPr/>
        </p:nvSpPr>
        <p:spPr>
          <a:xfrm>
            <a:off x="6172150" y="4817256"/>
            <a:ext cx="4138271" cy="381893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425" kern="0" spc="86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Family Coordination · Mediation Layer</a:t>
            </a:r>
            <a:endParaRPr lang="en-US" sz="1425" dirty="0"/>
          </a:p>
        </p:txBody>
      </p:sp>
      <p:sp>
        <p:nvSpPr>
          <p:cNvPr id="32" name="Text 29"/>
          <p:cNvSpPr/>
          <p:nvPr/>
        </p:nvSpPr>
        <p:spPr>
          <a:xfrm>
            <a:off x="3848075" y="5197264"/>
            <a:ext cx="2266950" cy="3094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125" kern="0" spc="158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SERVICE TIME</a:t>
            </a:r>
            <a:endParaRPr lang="en-US" sz="1125" dirty="0"/>
          </a:p>
        </p:txBody>
      </p:sp>
      <p:sp>
        <p:nvSpPr>
          <p:cNvPr id="33" name="Text 30"/>
          <p:cNvSpPr/>
          <p:nvPr/>
        </p:nvSpPr>
        <p:spPr>
          <a:xfrm>
            <a:off x="6172150" y="5161049"/>
            <a:ext cx="836340" cy="381893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425" kern="0" spc="86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6 Years</a:t>
            </a:r>
            <a:endParaRPr lang="en-US" sz="1425" dirty="0"/>
          </a:p>
        </p:txBody>
      </p:sp>
      <p:sp>
        <p:nvSpPr>
          <p:cNvPr id="34" name="Text 31"/>
          <p:cNvSpPr/>
          <p:nvPr/>
        </p:nvSpPr>
        <p:spPr>
          <a:xfrm>
            <a:off x="3848075" y="5541057"/>
            <a:ext cx="2266950" cy="3094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125" kern="0" spc="158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MONTHLY USAGE</a:t>
            </a:r>
            <a:endParaRPr lang="en-US" sz="1125" dirty="0"/>
          </a:p>
        </p:txBody>
      </p:sp>
      <p:sp>
        <p:nvSpPr>
          <p:cNvPr id="35" name="Text 32"/>
          <p:cNvSpPr/>
          <p:nvPr/>
        </p:nvSpPr>
        <p:spPr>
          <a:xfrm>
            <a:off x="6172150" y="5504842"/>
            <a:ext cx="1509787" cy="381893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425" i="1" kern="0" spc="86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× Unreadable</a:t>
            </a:r>
            <a:endParaRPr lang="en-US" sz="1425" dirty="0"/>
          </a:p>
        </p:txBody>
      </p:sp>
      <p:sp>
        <p:nvSpPr>
          <p:cNvPr id="36" name="Text 33"/>
          <p:cNvSpPr/>
          <p:nvPr/>
        </p:nvSpPr>
        <p:spPr>
          <a:xfrm>
            <a:off x="3848075" y="5884850"/>
            <a:ext cx="2266950" cy="3094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125" kern="0" spc="158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LAST CHECK</a:t>
            </a:r>
            <a:endParaRPr lang="en-US" sz="1125" dirty="0"/>
          </a:p>
        </p:txBody>
      </p:sp>
      <p:sp>
        <p:nvSpPr>
          <p:cNvPr id="37" name="Text 34"/>
          <p:cNvSpPr/>
          <p:nvPr/>
        </p:nvSpPr>
        <p:spPr>
          <a:xfrm>
            <a:off x="6172150" y="5848635"/>
            <a:ext cx="1487835" cy="381893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425" kern="0" spc="86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09.02 · 23:00</a:t>
            </a:r>
            <a:endParaRPr lang="en-US" sz="1425" dirty="0"/>
          </a:p>
        </p:txBody>
      </p:sp>
      <p:sp>
        <p:nvSpPr>
          <p:cNvPr id="38" name="Shape 35"/>
          <p:cNvSpPr/>
          <p:nvPr/>
        </p:nvSpPr>
        <p:spPr>
          <a:xfrm>
            <a:off x="3848075" y="6421003"/>
            <a:ext cx="2389683" cy="361900"/>
          </a:xfrm>
          <a:prstGeom prst="rect">
            <a:avLst/>
          </a:prstGeom>
          <a:solidFill>
            <a:srgbClr val="78AADC">
              <a:alpha val="5000"/>
            </a:srgbClr>
          </a:solidFill>
          <a:ln w="7937">
            <a:solidFill>
              <a:srgbClr val="96C3EB">
                <a:alpha val="4200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008412" y="6514666"/>
            <a:ext cx="2145209" cy="2126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47" dirty="0">
                <a:solidFill>
                  <a:srgbClr val="97B2C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COLD CONFLICT (CHRONIC)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6371084" y="6421003"/>
            <a:ext cx="1830214" cy="361900"/>
          </a:xfrm>
          <a:prstGeom prst="rect">
            <a:avLst/>
          </a:prstGeom>
          <a:solidFill>
            <a:srgbClr val="78AADC">
              <a:alpha val="5000"/>
            </a:srgbClr>
          </a:solidFill>
          <a:ln w="7937">
            <a:solidFill>
              <a:srgbClr val="96C3EB">
                <a:alpha val="4200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531421" y="6514666"/>
            <a:ext cx="1585739" cy="2126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47" dirty="0">
                <a:solidFill>
                  <a:srgbClr val="97B2C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MEDIATION FATIGUE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8334623" y="6421003"/>
            <a:ext cx="2032248" cy="361900"/>
          </a:xfrm>
          <a:prstGeom prst="rect">
            <a:avLst/>
          </a:prstGeom>
          <a:solidFill>
            <a:srgbClr val="78AADC">
              <a:alpha val="5000"/>
            </a:srgbClr>
          </a:solidFill>
          <a:ln w="7937">
            <a:solidFill>
              <a:srgbClr val="96C3EB">
                <a:alpha val="42000"/>
              </a:srgbClr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494960" y="6514666"/>
            <a:ext cx="1787773" cy="2126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47" dirty="0">
                <a:solidFill>
                  <a:srgbClr val="97B2C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MINOR USER PRESENT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3590851" y="7542175"/>
            <a:ext cx="142875" cy="952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45" name="Shape 42"/>
          <p:cNvSpPr/>
          <p:nvPr/>
        </p:nvSpPr>
        <p:spPr>
          <a:xfrm>
            <a:off x="3590851" y="7407237"/>
            <a:ext cx="9525" cy="14287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46" name="Shape 43"/>
          <p:cNvSpPr/>
          <p:nvPr/>
        </p:nvSpPr>
        <p:spPr>
          <a:xfrm>
            <a:off x="14443073" y="7321537"/>
            <a:ext cx="65387" cy="114226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47" name="Shape 44"/>
          <p:cNvSpPr/>
          <p:nvPr/>
        </p:nvSpPr>
        <p:spPr>
          <a:xfrm>
            <a:off x="14504961" y="7321537"/>
            <a:ext cx="65387" cy="114226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48" name="Shape 45"/>
          <p:cNvSpPr/>
          <p:nvPr/>
        </p:nvSpPr>
        <p:spPr>
          <a:xfrm>
            <a:off x="14566849" y="7321537"/>
            <a:ext cx="65387" cy="114226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49" name="Shape 46"/>
          <p:cNvSpPr/>
          <p:nvPr/>
        </p:nvSpPr>
        <p:spPr>
          <a:xfrm>
            <a:off x="14335125" y="2803612"/>
            <a:ext cx="47625" cy="47625"/>
          </a:xfrm>
          <a:prstGeom prst="rect">
            <a:avLst/>
          </a:prstGeom>
          <a:ln w="7937">
            <a:solidFill>
              <a:srgbClr val="BEE0FC">
                <a:alpha val="82000"/>
              </a:srgbClr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3695650" y="2517986"/>
            <a:ext cx="1489087" cy="1571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182" dirty="0">
                <a:solidFill>
                  <a:srgbClr val="96B4D7">
                    <a:alpha val="32000"/>
                  </a:srgbClr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DOORWAY · OFFLINE</a:t>
            </a:r>
            <a:endParaRPr lang="en-US" sz="825" dirty="0"/>
          </a:p>
        </p:txBody>
      </p:sp>
      <p:sp>
        <p:nvSpPr>
          <p:cNvPr id="51" name="Text 48"/>
          <p:cNvSpPr/>
          <p:nvPr/>
        </p:nvSpPr>
        <p:spPr>
          <a:xfrm>
            <a:off x="4075646" y="8930183"/>
            <a:ext cx="10136708" cy="331787"/>
          </a:xfrm>
          <a:prstGeom prst="rect">
            <a:avLst/>
          </a:prstGeom>
          <a:noFill/>
          <a:effectLst>
            <a:outerShdw blurRad="95250" dist="19050" dir="5400000" algn="bl" rotWithShape="0">
              <a:srgbClr val="000000">
                <a:alpha val="90000"/>
              </a:srgbClr>
            </a:outerShdw>
          </a:effectLst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2100" kern="0" spc="21" dirty="0">
                <a:solidFill>
                  <a:srgbClr val="FFD9D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“Inspector — current data unreadable. Historical records remain accessible.”</a:t>
            </a:r>
            <a:endParaRPr lang="en-US" sz="2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96383A">
                  <a:alpha val="42000"/>
                </a:srgbClr>
              </a:gs>
              <a:gs pos="66000">
                <a:srgbClr val="96383A">
                  <a:alpha val="0"/>
                </a:srgbClr>
              </a:gs>
            </a:gsLst>
            <a:path path="circle">
              <a:fillToRect l="50000" t="58000" r="50000" b="42000"/>
            </a:path>
          </a:gra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33301" y="494357"/>
            <a:ext cx="85700" cy="85700"/>
          </a:xfrm>
          <a:prstGeom prst="ellipse">
            <a:avLst/>
          </a:prstGeom>
          <a:solidFill>
            <a:srgbClr val="E0524D">
              <a:alpha val="51000"/>
            </a:srgbClr>
          </a:solidFill>
          <a:effectLst>
            <a:outerShdw blurRad="114300" dist="50800" dir="16200000" algn="bl" rotWithShape="0">
              <a:srgbClr val="E0524D">
                <a:alpha val="51076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04701" y="438050"/>
            <a:ext cx="2599829" cy="236538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7B2C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ALERT · PENDING REVIEW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33301" y="703088"/>
            <a:ext cx="2964532" cy="323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50" kern="0" spc="270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MIA · 7842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6875648" y="438050"/>
            <a:ext cx="4536703" cy="268287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kern="0" spc="462" dirty="0">
                <a:solidFill>
                  <a:srgbClr val="97B2C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2026.09.15·MON·22:18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533301" y="9075911"/>
            <a:ext cx="3343659" cy="212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27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CURRENT TASK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33301" y="9326687"/>
            <a:ext cx="3343659" cy="2762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42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NIGHT ROUNDS · BLOCK A · 17F</a:t>
            </a:r>
            <a:endParaRPr lang="en-US" sz="1425" dirty="0"/>
          </a:p>
        </p:txBody>
      </p:sp>
      <p:sp>
        <p:nvSpPr>
          <p:cNvPr id="10" name="Shape 7"/>
          <p:cNvSpPr/>
          <p:nvPr/>
        </p:nvSpPr>
        <p:spPr>
          <a:xfrm>
            <a:off x="533301" y="9716367"/>
            <a:ext cx="76150" cy="76150"/>
          </a:xfrm>
          <a:prstGeom prst="ellipse">
            <a:avLst/>
          </a:prstGeom>
          <a:solidFill>
            <a:srgbClr val="6FC3F0"/>
          </a:solidFill>
          <a:effectLst>
            <a:outerShdw blurRad="76200" dist="50800" dir="16200000" algn="bl" rotWithShape="0">
              <a:srgbClr val="6FC3F0">
                <a:alpha val="5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95151" y="9716367"/>
            <a:ext cx="76150" cy="76150"/>
          </a:xfrm>
          <a:prstGeom prst="ellipse">
            <a:avLst/>
          </a:prstGeom>
          <a:solidFill>
            <a:srgbClr val="6FC3F0"/>
          </a:solidFill>
          <a:effectLst>
            <a:outerShdw blurRad="76200" dist="50800" dir="16200000" algn="bl" rotWithShape="0">
              <a:srgbClr val="6FC3F0">
                <a:alpha val="5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57002" y="9716367"/>
            <a:ext cx="76150" cy="76150"/>
          </a:xfrm>
          <a:prstGeom prst="ellipse">
            <a:avLst/>
          </a:prstGeom>
          <a:solidFill>
            <a:srgbClr val="96B4D7">
              <a:alpha val="32000"/>
            </a:srgbClr>
          </a:solidFill>
        </p:spPr>
      </p:sp>
      <p:sp>
        <p:nvSpPr>
          <p:cNvPr id="13" name="Text 10"/>
          <p:cNvSpPr/>
          <p:nvPr/>
        </p:nvSpPr>
        <p:spPr>
          <a:xfrm>
            <a:off x="1075903" y="9679037"/>
            <a:ext cx="503213" cy="1889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2/3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524250" y="2344787"/>
            <a:ext cx="11239500" cy="5597426"/>
          </a:xfrm>
          <a:prstGeom prst="rect">
            <a:avLst/>
          </a:prstGeom>
          <a:gradFill rotWithShape="1">
            <a:gsLst>
              <a:gs pos="0">
                <a:srgbClr val="FF9691">
                  <a:alpha val="16000"/>
                </a:srgbClr>
              </a:gs>
              <a:gs pos="56000">
                <a:srgbClr val="FF9691">
                  <a:alpha val="0"/>
                </a:srgbClr>
              </a:gs>
            </a:gsLst>
            <a:path path="circle">
              <a:fillToRect l="50000" r="50000" b="100000"/>
            </a:path>
          </a:gradFill>
        </p:spPr>
      </p:sp>
      <p:sp>
        <p:nvSpPr>
          <p:cNvPr id="15" name="Shape 12"/>
          <p:cNvSpPr/>
          <p:nvPr/>
        </p:nvSpPr>
        <p:spPr>
          <a:xfrm>
            <a:off x="3524250" y="3263801"/>
            <a:ext cx="112395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16" name="Text 13"/>
          <p:cNvSpPr/>
          <p:nvPr/>
        </p:nvSpPr>
        <p:spPr>
          <a:xfrm>
            <a:off x="3810000" y="2554263"/>
            <a:ext cx="2980085" cy="212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DOORWAY TERMINAL · ALERT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810000" y="2766963"/>
            <a:ext cx="2980085" cy="36353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kern="0" spc="315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17F-03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12596961" y="2735956"/>
            <a:ext cx="1881039" cy="212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00" kern="0" spc="144" dirty="0">
                <a:solidFill>
                  <a:srgbClr val="E052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Last Sync · 22:14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524250" y="3854276"/>
            <a:ext cx="112395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20" name="Text 17"/>
          <p:cNvSpPr/>
          <p:nvPr/>
        </p:nvSpPr>
        <p:spPr>
          <a:xfrm>
            <a:off x="3810000" y="3271738"/>
            <a:ext cx="1925637" cy="620638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RESIDENT SUMMARY</a:t>
            </a:r>
            <a:endParaRPr lang="en-US" sz="1275" dirty="0"/>
          </a:p>
        </p:txBody>
      </p:sp>
      <p:sp>
        <p:nvSpPr>
          <p:cNvPr id="21" name="Text 18"/>
          <p:cNvSpPr/>
          <p:nvPr/>
        </p:nvSpPr>
        <p:spPr>
          <a:xfrm>
            <a:off x="5926088" y="3271738"/>
            <a:ext cx="1236935" cy="620638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FFD9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ACQUISITION</a:t>
            </a:r>
            <a:endParaRPr lang="en-US" sz="1275" dirty="0"/>
          </a:p>
        </p:txBody>
      </p:sp>
      <p:sp>
        <p:nvSpPr>
          <p:cNvPr id="22" name="Text 19"/>
          <p:cNvSpPr/>
          <p:nvPr/>
        </p:nvSpPr>
        <p:spPr>
          <a:xfrm>
            <a:off x="7353473" y="3271738"/>
            <a:ext cx="1121966" cy="620638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FAMILY LOG</a:t>
            </a:r>
            <a:endParaRPr lang="en-US" sz="1275" dirty="0"/>
          </a:p>
        </p:txBody>
      </p:sp>
      <p:sp>
        <p:nvSpPr>
          <p:cNvPr id="23" name="Text 20"/>
          <p:cNvSpPr/>
          <p:nvPr/>
        </p:nvSpPr>
        <p:spPr>
          <a:xfrm>
            <a:off x="8665890" y="3271738"/>
            <a:ext cx="1327720" cy="620638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TRUST TREND</a:t>
            </a:r>
            <a:endParaRPr lang="en-US" sz="1275" dirty="0"/>
          </a:p>
        </p:txBody>
      </p:sp>
      <p:sp>
        <p:nvSpPr>
          <p:cNvPr id="24" name="Text 21"/>
          <p:cNvSpPr/>
          <p:nvPr/>
        </p:nvSpPr>
        <p:spPr>
          <a:xfrm>
            <a:off x="10184060" y="3271738"/>
            <a:ext cx="1998811" cy="620638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INSPECTION HISTORY</a:t>
            </a:r>
            <a:endParaRPr lang="en-US" sz="1275" dirty="0"/>
          </a:p>
        </p:txBody>
      </p:sp>
      <p:sp>
        <p:nvSpPr>
          <p:cNvPr id="25" name="Shape 22"/>
          <p:cNvSpPr/>
          <p:nvPr/>
        </p:nvSpPr>
        <p:spPr>
          <a:xfrm>
            <a:off x="12689830" y="3353470"/>
            <a:ext cx="1788170" cy="419075"/>
          </a:xfrm>
          <a:prstGeom prst="rect">
            <a:avLst/>
          </a:prstGeom>
          <a:gradFill rotWithShape="1">
            <a:gsLst>
              <a:gs pos="0">
                <a:srgbClr val="E0524D">
                  <a:alpha val="24000"/>
                </a:srgbClr>
              </a:gs>
              <a:gs pos="100000">
                <a:srgbClr val="E0524D">
                  <a:alpha val="8000"/>
                </a:srgbClr>
              </a:gs>
            </a:gsLst>
            <a:lin ang="5400000" scaled="0"/>
          </a:gradFill>
          <a:ln w="7937">
            <a:solidFill>
              <a:srgbClr val="E0524D"/>
            </a:solidFill>
            <a:prstDash val="solid"/>
          </a:ln>
          <a:effectLst>
            <a:outerShdw blurRad="209550" dist="50800" dir="16200000" algn="bl" rotWithShape="0">
              <a:srgbClr val="E0524D">
                <a:alpha val="30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12907242" y="3475632"/>
            <a:ext cx="1204069" cy="212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168" dirty="0">
                <a:solidFill>
                  <a:srgbClr val="FF7C7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ENTER UNIT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4130362" y="3475632"/>
            <a:ext cx="206425" cy="212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168" dirty="0">
                <a:solidFill>
                  <a:srgbClr val="FF7C7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★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3848075" y="4147963"/>
            <a:ext cx="4512945" cy="1203424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350" kern="0" spc="27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Enrolled</a:t>
            </a:r>
            <a:r>
              <a:rPr lang="en-US" sz="1350" kern="0" spc="27" dirty="0">
                <a:solidFill>
                  <a:srgbClr val="6FC3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Sept 2020 </a:t>
            </a:r>
            <a:r>
              <a:rPr lang="en-US" sz="1350" kern="0" spc="27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jointly. Rationale: reduce household tension during the parents’ high-stress career phase, provide a neutral mediating voice, and model healthy disagreement for the daughter.</a:t>
            </a:r>
            <a:endParaRPr lang="en-US" sz="1350" dirty="0"/>
          </a:p>
        </p:txBody>
      </p:sp>
      <p:sp>
        <p:nvSpPr>
          <p:cNvPr id="29" name="Shape 26"/>
          <p:cNvSpPr/>
          <p:nvPr/>
        </p:nvSpPr>
        <p:spPr>
          <a:xfrm>
            <a:off x="3848075" y="5541863"/>
            <a:ext cx="15875" cy="887512"/>
          </a:xfrm>
          <a:prstGeom prst="rect">
            <a:avLst/>
          </a:prstGeom>
          <a:solidFill>
            <a:srgbClr val="6FC3F0"/>
          </a:solidFill>
        </p:spPr>
      </p:sp>
      <p:sp>
        <p:nvSpPr>
          <p:cNvPr id="30" name="Text 27"/>
          <p:cNvSpPr/>
          <p:nvPr/>
        </p:nvSpPr>
        <p:spPr>
          <a:xfrm>
            <a:off x="4035350" y="5581550"/>
            <a:ext cx="4225904" cy="53394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425" i="1" kern="0" spc="24" dirty="0">
                <a:solidFill>
                  <a:srgbClr val="97B2C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“We argue. The unit calms things. That’s what we needed.”</a:t>
            </a:r>
            <a:endParaRPr lang="en-US" sz="1425" dirty="0"/>
          </a:p>
        </p:txBody>
      </p:sp>
      <p:sp>
        <p:nvSpPr>
          <p:cNvPr id="31" name="Text 28"/>
          <p:cNvSpPr/>
          <p:nvPr/>
        </p:nvSpPr>
        <p:spPr>
          <a:xfrm>
            <a:off x="4035350" y="6216054"/>
            <a:ext cx="4718422" cy="251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050" kern="0" spc="168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— FATHER, ENROLLMENT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8781976" y="4224114"/>
            <a:ext cx="2558802" cy="212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252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FESI · SINCE ENROLLMENT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8781976" y="5475015"/>
            <a:ext cx="533301" cy="762000"/>
          </a:xfrm>
          <a:prstGeom prst="rect">
            <a:avLst/>
          </a:prstGeom>
          <a:gradFill rotWithShape="1">
            <a:gsLst>
              <a:gs pos="0">
                <a:srgbClr val="E0973F">
                  <a:alpha val="50000"/>
                </a:srgbClr>
              </a:gs>
              <a:gs pos="100000">
                <a:srgbClr val="E0973F">
                  <a:alpha val="12000"/>
                </a:srgbClr>
              </a:gs>
            </a:gsLst>
            <a:lin ang="5400000" scaled="0"/>
          </a:gradFill>
        </p:spPr>
      </p:sp>
      <p:sp>
        <p:nvSpPr>
          <p:cNvPr id="34" name="Shape 31"/>
          <p:cNvSpPr/>
          <p:nvPr/>
        </p:nvSpPr>
        <p:spPr>
          <a:xfrm>
            <a:off x="8781976" y="5475015"/>
            <a:ext cx="533301" cy="15875"/>
          </a:xfrm>
          <a:prstGeom prst="rect">
            <a:avLst/>
          </a:prstGeom>
          <a:solidFill>
            <a:srgbClr val="E0973F"/>
          </a:solidFill>
        </p:spPr>
      </p:sp>
      <p:sp>
        <p:nvSpPr>
          <p:cNvPr id="35" name="Text 32"/>
          <p:cNvSpPr/>
          <p:nvPr/>
        </p:nvSpPr>
        <p:spPr>
          <a:xfrm>
            <a:off x="8899922" y="6332265"/>
            <a:ext cx="373484" cy="1809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Base</a:t>
            </a:r>
            <a:endParaRPr lang="en-US" sz="975" dirty="0"/>
          </a:p>
        </p:txBody>
      </p:sp>
      <p:sp>
        <p:nvSpPr>
          <p:cNvPr id="36" name="Shape 33"/>
          <p:cNvSpPr/>
          <p:nvPr/>
        </p:nvSpPr>
        <p:spPr>
          <a:xfrm>
            <a:off x="9486677" y="4979789"/>
            <a:ext cx="533301" cy="1257226"/>
          </a:xfrm>
          <a:prstGeom prst="rect">
            <a:avLst/>
          </a:prstGeom>
          <a:gradFill rotWithShape="1">
            <a:gsLst>
              <a:gs pos="0">
                <a:srgbClr val="3F8FD6">
                  <a:alpha val="45000"/>
                </a:srgbClr>
              </a:gs>
              <a:gs pos="100000">
                <a:srgbClr val="3F8FD6">
                  <a:alpha val="10000"/>
                </a:srgbClr>
              </a:gs>
            </a:gsLst>
            <a:lin ang="5400000" scaled="0"/>
          </a:gradFill>
        </p:spPr>
      </p:sp>
      <p:sp>
        <p:nvSpPr>
          <p:cNvPr id="37" name="Shape 34"/>
          <p:cNvSpPr/>
          <p:nvPr/>
        </p:nvSpPr>
        <p:spPr>
          <a:xfrm>
            <a:off x="9486677" y="4979789"/>
            <a:ext cx="533301" cy="15875"/>
          </a:xfrm>
          <a:prstGeom prst="rect">
            <a:avLst/>
          </a:prstGeom>
          <a:solidFill>
            <a:srgbClr val="3F8FD6"/>
          </a:solidFill>
        </p:spPr>
      </p:sp>
      <p:sp>
        <p:nvSpPr>
          <p:cNvPr id="38" name="Text 35"/>
          <p:cNvSpPr/>
          <p:nvPr/>
        </p:nvSpPr>
        <p:spPr>
          <a:xfrm>
            <a:off x="9641830" y="6332265"/>
            <a:ext cx="299194" cy="1809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+1Y</a:t>
            </a:r>
            <a:endParaRPr lang="en-US" sz="975" dirty="0"/>
          </a:p>
        </p:txBody>
      </p:sp>
      <p:sp>
        <p:nvSpPr>
          <p:cNvPr id="39" name="Shape 36"/>
          <p:cNvSpPr/>
          <p:nvPr/>
        </p:nvSpPr>
        <p:spPr>
          <a:xfrm>
            <a:off x="10191378" y="4598789"/>
            <a:ext cx="533301" cy="1638226"/>
          </a:xfrm>
          <a:prstGeom prst="rect">
            <a:avLst/>
          </a:prstGeom>
          <a:gradFill rotWithShape="1">
            <a:gsLst>
              <a:gs pos="0">
                <a:srgbClr val="57B88A">
                  <a:alpha val="45000"/>
                </a:srgbClr>
              </a:gs>
              <a:gs pos="100000">
                <a:srgbClr val="57B88A">
                  <a:alpha val="10000"/>
                </a:srgbClr>
              </a:gs>
            </a:gsLst>
            <a:lin ang="5400000" scaled="0"/>
          </a:gradFill>
        </p:spPr>
      </p:sp>
      <p:sp>
        <p:nvSpPr>
          <p:cNvPr id="40" name="Shape 37"/>
          <p:cNvSpPr/>
          <p:nvPr/>
        </p:nvSpPr>
        <p:spPr>
          <a:xfrm>
            <a:off x="10191378" y="4598789"/>
            <a:ext cx="533301" cy="15875"/>
          </a:xfrm>
          <a:prstGeom prst="rect">
            <a:avLst/>
          </a:prstGeom>
          <a:solidFill>
            <a:srgbClr val="57B88A"/>
          </a:solidFill>
        </p:spPr>
      </p:sp>
      <p:sp>
        <p:nvSpPr>
          <p:cNvPr id="41" name="Text 38"/>
          <p:cNvSpPr/>
          <p:nvPr/>
        </p:nvSpPr>
        <p:spPr>
          <a:xfrm>
            <a:off x="10346531" y="6332265"/>
            <a:ext cx="299194" cy="1809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+2Y</a:t>
            </a:r>
            <a:endParaRPr lang="en-US" sz="975" dirty="0"/>
          </a:p>
        </p:txBody>
      </p:sp>
      <p:sp>
        <p:nvSpPr>
          <p:cNvPr id="42" name="Shape 39"/>
          <p:cNvSpPr/>
          <p:nvPr/>
        </p:nvSpPr>
        <p:spPr>
          <a:xfrm>
            <a:off x="10896079" y="4751213"/>
            <a:ext cx="533301" cy="1485801"/>
          </a:xfrm>
          <a:prstGeom prst="rect">
            <a:avLst/>
          </a:prstGeom>
          <a:gradFill rotWithShape="1">
            <a:gsLst>
              <a:gs pos="0">
                <a:srgbClr val="3F8FD6">
                  <a:alpha val="45000"/>
                </a:srgbClr>
              </a:gs>
              <a:gs pos="100000">
                <a:srgbClr val="3F8FD6">
                  <a:alpha val="10000"/>
                </a:srgbClr>
              </a:gs>
            </a:gsLst>
            <a:lin ang="5400000" scaled="0"/>
          </a:gradFill>
        </p:spPr>
      </p:sp>
      <p:sp>
        <p:nvSpPr>
          <p:cNvPr id="43" name="Shape 40"/>
          <p:cNvSpPr/>
          <p:nvPr/>
        </p:nvSpPr>
        <p:spPr>
          <a:xfrm>
            <a:off x="10896079" y="4751213"/>
            <a:ext cx="533301" cy="15875"/>
          </a:xfrm>
          <a:prstGeom prst="rect">
            <a:avLst/>
          </a:prstGeom>
          <a:solidFill>
            <a:srgbClr val="3F8FD6"/>
          </a:solidFill>
        </p:spPr>
      </p:sp>
      <p:sp>
        <p:nvSpPr>
          <p:cNvPr id="44" name="Text 41"/>
          <p:cNvSpPr/>
          <p:nvPr/>
        </p:nvSpPr>
        <p:spPr>
          <a:xfrm>
            <a:off x="11051232" y="6332265"/>
            <a:ext cx="299194" cy="1809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+3Y</a:t>
            </a:r>
            <a:endParaRPr lang="en-US" sz="975" dirty="0"/>
          </a:p>
        </p:txBody>
      </p:sp>
      <p:sp>
        <p:nvSpPr>
          <p:cNvPr id="45" name="Shape 42"/>
          <p:cNvSpPr/>
          <p:nvPr/>
        </p:nvSpPr>
        <p:spPr>
          <a:xfrm>
            <a:off x="11600780" y="4903515"/>
            <a:ext cx="533301" cy="1333500"/>
          </a:xfrm>
          <a:prstGeom prst="rect">
            <a:avLst/>
          </a:prstGeom>
          <a:gradFill rotWithShape="1">
            <a:gsLst>
              <a:gs pos="0">
                <a:srgbClr val="E0973F">
                  <a:alpha val="50000"/>
                </a:srgbClr>
              </a:gs>
              <a:gs pos="100000">
                <a:srgbClr val="E0973F">
                  <a:alpha val="12000"/>
                </a:srgbClr>
              </a:gs>
            </a:gsLst>
            <a:lin ang="5400000" scaled="0"/>
          </a:gradFill>
        </p:spPr>
      </p:sp>
      <p:sp>
        <p:nvSpPr>
          <p:cNvPr id="46" name="Shape 43"/>
          <p:cNvSpPr/>
          <p:nvPr/>
        </p:nvSpPr>
        <p:spPr>
          <a:xfrm>
            <a:off x="11600780" y="4903515"/>
            <a:ext cx="533301" cy="15875"/>
          </a:xfrm>
          <a:prstGeom prst="rect">
            <a:avLst/>
          </a:prstGeom>
          <a:solidFill>
            <a:srgbClr val="E0973F"/>
          </a:solidFill>
        </p:spPr>
      </p:sp>
      <p:sp>
        <p:nvSpPr>
          <p:cNvPr id="47" name="Text 44"/>
          <p:cNvSpPr/>
          <p:nvPr/>
        </p:nvSpPr>
        <p:spPr>
          <a:xfrm>
            <a:off x="11755934" y="6332265"/>
            <a:ext cx="299194" cy="1809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+4Y</a:t>
            </a:r>
            <a:endParaRPr lang="en-US" sz="975" dirty="0"/>
          </a:p>
        </p:txBody>
      </p:sp>
      <p:sp>
        <p:nvSpPr>
          <p:cNvPr id="48" name="Shape 45"/>
          <p:cNvSpPr/>
          <p:nvPr/>
        </p:nvSpPr>
        <p:spPr>
          <a:xfrm>
            <a:off x="12305481" y="5017863"/>
            <a:ext cx="533301" cy="1219150"/>
          </a:xfrm>
          <a:prstGeom prst="rect">
            <a:avLst/>
          </a:prstGeom>
          <a:gradFill rotWithShape="1">
            <a:gsLst>
              <a:gs pos="0">
                <a:srgbClr val="E0973F">
                  <a:alpha val="50000"/>
                </a:srgbClr>
              </a:gs>
              <a:gs pos="100000">
                <a:srgbClr val="E0973F">
                  <a:alpha val="12000"/>
                </a:srgbClr>
              </a:gs>
            </a:gsLst>
            <a:lin ang="5400000" scaled="0"/>
          </a:gradFill>
        </p:spPr>
      </p:sp>
      <p:sp>
        <p:nvSpPr>
          <p:cNvPr id="49" name="Shape 46"/>
          <p:cNvSpPr/>
          <p:nvPr/>
        </p:nvSpPr>
        <p:spPr>
          <a:xfrm>
            <a:off x="12305481" y="5017863"/>
            <a:ext cx="533301" cy="15875"/>
          </a:xfrm>
          <a:prstGeom prst="rect">
            <a:avLst/>
          </a:prstGeom>
          <a:solidFill>
            <a:srgbClr val="E0973F"/>
          </a:solidFill>
        </p:spPr>
      </p:sp>
      <p:sp>
        <p:nvSpPr>
          <p:cNvPr id="50" name="Text 47"/>
          <p:cNvSpPr/>
          <p:nvPr/>
        </p:nvSpPr>
        <p:spPr>
          <a:xfrm>
            <a:off x="12460635" y="6332265"/>
            <a:ext cx="299194" cy="1809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+5Y</a:t>
            </a:r>
            <a:endParaRPr lang="en-US" sz="975" dirty="0"/>
          </a:p>
        </p:txBody>
      </p:sp>
      <p:sp>
        <p:nvSpPr>
          <p:cNvPr id="51" name="Shape 48"/>
          <p:cNvSpPr/>
          <p:nvPr/>
        </p:nvSpPr>
        <p:spPr>
          <a:xfrm>
            <a:off x="13010183" y="5132213"/>
            <a:ext cx="533301" cy="1104801"/>
          </a:xfrm>
          <a:prstGeom prst="rect">
            <a:avLst/>
          </a:prstGeom>
          <a:gradFill rotWithShape="1">
            <a:gsLst>
              <a:gs pos="0">
                <a:srgbClr val="E0524D">
                  <a:alpha val="45000"/>
                </a:srgbClr>
              </a:gs>
              <a:gs pos="100000">
                <a:srgbClr val="E0524D">
                  <a:alpha val="10000"/>
                </a:srgbClr>
              </a:gs>
            </a:gsLst>
            <a:lin ang="5400000" scaled="0"/>
          </a:gradFill>
        </p:spPr>
      </p:sp>
      <p:sp>
        <p:nvSpPr>
          <p:cNvPr id="52" name="Shape 49"/>
          <p:cNvSpPr/>
          <p:nvPr/>
        </p:nvSpPr>
        <p:spPr>
          <a:xfrm>
            <a:off x="13010183" y="5132213"/>
            <a:ext cx="533301" cy="15875"/>
          </a:xfrm>
          <a:prstGeom prst="rect">
            <a:avLst/>
          </a:prstGeom>
          <a:solidFill>
            <a:srgbClr val="E0524D"/>
          </a:solidFill>
        </p:spPr>
      </p:sp>
      <p:sp>
        <p:nvSpPr>
          <p:cNvPr id="53" name="Text 50"/>
          <p:cNvSpPr/>
          <p:nvPr/>
        </p:nvSpPr>
        <p:spPr>
          <a:xfrm>
            <a:off x="13165336" y="6332265"/>
            <a:ext cx="299194" cy="1809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Now</a:t>
            </a:r>
            <a:endParaRPr lang="en-US" sz="975" dirty="0"/>
          </a:p>
        </p:txBody>
      </p:sp>
      <p:sp>
        <p:nvSpPr>
          <p:cNvPr id="54" name="Text 51"/>
          <p:cNvSpPr/>
          <p:nvPr/>
        </p:nvSpPr>
        <p:spPr>
          <a:xfrm>
            <a:off x="8781976" y="6646540"/>
            <a:ext cx="5827687" cy="362049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275" kern="0" spc="51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Baseline</a:t>
            </a:r>
            <a:r>
              <a:rPr lang="en-US" sz="1275" kern="0" spc="51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52</a:t>
            </a:r>
            <a:r>
              <a:rPr lang="en-US" sz="1275" kern="0" spc="51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Peak (Y2) </a:t>
            </a:r>
            <a:r>
              <a:rPr lang="en-US" sz="1275" kern="0" spc="51" dirty="0">
                <a:solidFill>
                  <a:srgbClr val="A9E2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78</a:t>
            </a:r>
            <a:endParaRPr lang="en-US" sz="1275" dirty="0"/>
          </a:p>
        </p:txBody>
      </p:sp>
      <p:sp>
        <p:nvSpPr>
          <p:cNvPr id="55" name="Text 52"/>
          <p:cNvSpPr/>
          <p:nvPr/>
        </p:nvSpPr>
        <p:spPr>
          <a:xfrm>
            <a:off x="8781976" y="6970488"/>
            <a:ext cx="5827687" cy="362049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275" kern="0" spc="51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Current </a:t>
            </a:r>
            <a:r>
              <a:rPr lang="en-US" sz="1275" kern="0" spc="51" dirty="0">
                <a:solidFill>
                  <a:srgbClr val="FF7C7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× unreadable · 30d ago 64</a:t>
            </a:r>
            <a:endParaRPr lang="en-US" sz="1275" dirty="0"/>
          </a:p>
        </p:txBody>
      </p:sp>
      <p:sp>
        <p:nvSpPr>
          <p:cNvPr id="56" name="Text 53"/>
          <p:cNvSpPr/>
          <p:nvPr/>
        </p:nvSpPr>
        <p:spPr>
          <a:xfrm>
            <a:off x="8781976" y="7294438"/>
            <a:ext cx="5827687" cy="362049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275" kern="0" spc="51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Mediation</a:t>
            </a:r>
            <a:r>
              <a:rPr lang="en-US" sz="1275" kern="0" spc="51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47 lifetime · 9 this year</a:t>
            </a:r>
            <a:endParaRPr lang="en-US" sz="1275" dirty="0"/>
          </a:p>
        </p:txBody>
      </p:sp>
      <p:sp>
        <p:nvSpPr>
          <p:cNvPr id="57" name="Shape 54"/>
          <p:cNvSpPr/>
          <p:nvPr/>
        </p:nvSpPr>
        <p:spPr>
          <a:xfrm>
            <a:off x="3590851" y="7867675"/>
            <a:ext cx="142875" cy="952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58" name="Shape 55"/>
          <p:cNvSpPr/>
          <p:nvPr/>
        </p:nvSpPr>
        <p:spPr>
          <a:xfrm>
            <a:off x="3590851" y="7732737"/>
            <a:ext cx="9525" cy="14287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59" name="Shape 56"/>
          <p:cNvSpPr/>
          <p:nvPr/>
        </p:nvSpPr>
        <p:spPr>
          <a:xfrm>
            <a:off x="14443073" y="7647037"/>
            <a:ext cx="65387" cy="114226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60" name="Shape 57"/>
          <p:cNvSpPr/>
          <p:nvPr/>
        </p:nvSpPr>
        <p:spPr>
          <a:xfrm>
            <a:off x="14504961" y="7647037"/>
            <a:ext cx="65387" cy="114226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61" name="Shape 58"/>
          <p:cNvSpPr/>
          <p:nvPr/>
        </p:nvSpPr>
        <p:spPr>
          <a:xfrm>
            <a:off x="14566849" y="7647037"/>
            <a:ext cx="65387" cy="114226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62" name="Shape 59"/>
          <p:cNvSpPr/>
          <p:nvPr/>
        </p:nvSpPr>
        <p:spPr>
          <a:xfrm>
            <a:off x="14335125" y="2478112"/>
            <a:ext cx="47625" cy="47625"/>
          </a:xfrm>
          <a:prstGeom prst="rect">
            <a:avLst/>
          </a:prstGeom>
          <a:ln w="7937">
            <a:solidFill>
              <a:srgbClr val="BEE0FC">
                <a:alpha val="82000"/>
              </a:srgbClr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3695650" y="2192486"/>
            <a:ext cx="1489087" cy="1571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182" dirty="0">
                <a:solidFill>
                  <a:srgbClr val="96B4D7">
                    <a:alpha val="32000"/>
                  </a:srgbClr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DOORWAY · OFFLINE</a:t>
            </a:r>
            <a:endParaRPr lang="en-US" sz="825" dirty="0"/>
          </a:p>
        </p:txBody>
      </p:sp>
      <p:sp>
        <p:nvSpPr>
          <p:cNvPr id="64" name="Text 61"/>
          <p:cNvSpPr/>
          <p:nvPr/>
        </p:nvSpPr>
        <p:spPr>
          <a:xfrm>
            <a:off x="5837789" y="8930183"/>
            <a:ext cx="6612421" cy="331787"/>
          </a:xfrm>
          <a:prstGeom prst="rect">
            <a:avLst/>
          </a:prstGeom>
          <a:noFill/>
          <a:effectLst>
            <a:outerShdw blurRad="95250" dist="19050" dir="5400000" algn="bl" rotWithShape="0">
              <a:srgbClr val="000000">
                <a:alpha val="90000"/>
              </a:srgbClr>
            </a:outerShdw>
          </a:effectLst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2100" kern="0" spc="21" dirty="0">
                <a:solidFill>
                  <a:srgbClr val="FFD9D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“At year two this household scored 78. The peak.”</a:t>
            </a:r>
            <a:endParaRPr lang="en-US" sz="2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96383A">
                  <a:alpha val="42000"/>
                </a:srgbClr>
              </a:gs>
              <a:gs pos="66000">
                <a:srgbClr val="96383A">
                  <a:alpha val="0"/>
                </a:srgbClr>
              </a:gs>
            </a:gsLst>
            <a:path path="circle">
              <a:fillToRect l="50000" t="58000" r="50000" b="42000"/>
            </a:path>
          </a:gra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33301" y="494356"/>
            <a:ext cx="85700" cy="85700"/>
          </a:xfrm>
          <a:prstGeom prst="ellipse">
            <a:avLst/>
          </a:prstGeom>
          <a:solidFill>
            <a:srgbClr val="E0524D">
              <a:alpha val="77000"/>
            </a:srgbClr>
          </a:solidFill>
          <a:effectLst>
            <a:outerShdw blurRad="114300" dist="50800" dir="16200000" algn="bl" rotWithShape="0">
              <a:srgbClr val="E0524D">
                <a:alpha val="77224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04701" y="438050"/>
            <a:ext cx="2599829" cy="236537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7B2C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ALERT · PENDING REVIEW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33301" y="703087"/>
            <a:ext cx="2964532" cy="323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50" kern="0" spc="270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MIA · 7842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6875648" y="438050"/>
            <a:ext cx="4536703" cy="268287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kern="0" spc="462" dirty="0">
                <a:solidFill>
                  <a:srgbClr val="97B2C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2026.09.15·MON·22:20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533301" y="9075911"/>
            <a:ext cx="3343659" cy="212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27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CURRENT TASK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33301" y="9326687"/>
            <a:ext cx="3343659" cy="2762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42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NIGHT ROUNDS · BLOCK A · 17F</a:t>
            </a:r>
            <a:endParaRPr lang="en-US" sz="1425" dirty="0"/>
          </a:p>
        </p:txBody>
      </p:sp>
      <p:sp>
        <p:nvSpPr>
          <p:cNvPr id="10" name="Shape 7"/>
          <p:cNvSpPr/>
          <p:nvPr/>
        </p:nvSpPr>
        <p:spPr>
          <a:xfrm>
            <a:off x="533301" y="9716367"/>
            <a:ext cx="76150" cy="76150"/>
          </a:xfrm>
          <a:prstGeom prst="ellipse">
            <a:avLst/>
          </a:prstGeom>
          <a:solidFill>
            <a:srgbClr val="6FC3F0"/>
          </a:solidFill>
          <a:effectLst>
            <a:outerShdw blurRad="76200" dist="50800" dir="16200000" algn="bl" rotWithShape="0">
              <a:srgbClr val="6FC3F0">
                <a:alpha val="5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95151" y="9716367"/>
            <a:ext cx="76150" cy="76150"/>
          </a:xfrm>
          <a:prstGeom prst="ellipse">
            <a:avLst/>
          </a:prstGeom>
          <a:solidFill>
            <a:srgbClr val="6FC3F0"/>
          </a:solidFill>
          <a:effectLst>
            <a:outerShdw blurRad="76200" dist="50800" dir="16200000" algn="bl" rotWithShape="0">
              <a:srgbClr val="6FC3F0">
                <a:alpha val="5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57002" y="9716367"/>
            <a:ext cx="76150" cy="76150"/>
          </a:xfrm>
          <a:prstGeom prst="ellipse">
            <a:avLst/>
          </a:prstGeom>
          <a:solidFill>
            <a:srgbClr val="96B4D7">
              <a:alpha val="32000"/>
            </a:srgbClr>
          </a:solidFill>
        </p:spPr>
      </p:sp>
      <p:sp>
        <p:nvSpPr>
          <p:cNvPr id="13" name="Text 10"/>
          <p:cNvSpPr/>
          <p:nvPr/>
        </p:nvSpPr>
        <p:spPr>
          <a:xfrm>
            <a:off x="1075903" y="9679037"/>
            <a:ext cx="503213" cy="1889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2/3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524250" y="2533055"/>
            <a:ext cx="11239500" cy="5220891"/>
          </a:xfrm>
          <a:prstGeom prst="rect">
            <a:avLst/>
          </a:prstGeom>
          <a:gradFill rotWithShape="1">
            <a:gsLst>
              <a:gs pos="0">
                <a:srgbClr val="FF9691">
                  <a:alpha val="16000"/>
                </a:srgbClr>
              </a:gs>
              <a:gs pos="56000">
                <a:srgbClr val="FF9691">
                  <a:alpha val="0"/>
                </a:srgbClr>
              </a:gs>
            </a:gsLst>
            <a:path path="circle">
              <a:fillToRect l="50000" r="50000" b="100000"/>
            </a:path>
          </a:gradFill>
        </p:spPr>
      </p:sp>
      <p:sp>
        <p:nvSpPr>
          <p:cNvPr id="15" name="Shape 12"/>
          <p:cNvSpPr/>
          <p:nvPr/>
        </p:nvSpPr>
        <p:spPr>
          <a:xfrm>
            <a:off x="3524250" y="3452068"/>
            <a:ext cx="112395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16" name="Text 13"/>
          <p:cNvSpPr/>
          <p:nvPr/>
        </p:nvSpPr>
        <p:spPr>
          <a:xfrm>
            <a:off x="3810000" y="2742530"/>
            <a:ext cx="2980085" cy="212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DOORWAY TERMINAL · ALERT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810000" y="2955229"/>
            <a:ext cx="2980085" cy="36353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kern="0" spc="315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17F-03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12596961" y="2924224"/>
            <a:ext cx="1881039" cy="212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00" kern="0" spc="144" dirty="0">
                <a:solidFill>
                  <a:srgbClr val="E052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Last Sync · 22:14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524250" y="4042543"/>
            <a:ext cx="112395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20" name="Text 17"/>
          <p:cNvSpPr/>
          <p:nvPr/>
        </p:nvSpPr>
        <p:spPr>
          <a:xfrm>
            <a:off x="3810000" y="3460005"/>
            <a:ext cx="1925637" cy="620638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RESIDENT SUMMARY</a:t>
            </a:r>
            <a:endParaRPr lang="en-US" sz="1275" dirty="0"/>
          </a:p>
        </p:txBody>
      </p:sp>
      <p:sp>
        <p:nvSpPr>
          <p:cNvPr id="21" name="Text 18"/>
          <p:cNvSpPr/>
          <p:nvPr/>
        </p:nvSpPr>
        <p:spPr>
          <a:xfrm>
            <a:off x="5926088" y="3460005"/>
            <a:ext cx="1236935" cy="620638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ACQUISITION</a:t>
            </a:r>
            <a:endParaRPr lang="en-US" sz="1275" dirty="0"/>
          </a:p>
        </p:txBody>
      </p:sp>
      <p:sp>
        <p:nvSpPr>
          <p:cNvPr id="22" name="Text 19"/>
          <p:cNvSpPr/>
          <p:nvPr/>
        </p:nvSpPr>
        <p:spPr>
          <a:xfrm>
            <a:off x="7353473" y="3460005"/>
            <a:ext cx="1121966" cy="620638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FFD9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FAMILY LOG</a:t>
            </a:r>
            <a:endParaRPr lang="en-US" sz="1275" dirty="0"/>
          </a:p>
        </p:txBody>
      </p:sp>
      <p:sp>
        <p:nvSpPr>
          <p:cNvPr id="23" name="Text 20"/>
          <p:cNvSpPr/>
          <p:nvPr/>
        </p:nvSpPr>
        <p:spPr>
          <a:xfrm>
            <a:off x="8665890" y="3460005"/>
            <a:ext cx="1327720" cy="620638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TRUST TREND</a:t>
            </a:r>
            <a:endParaRPr lang="en-US" sz="1275" dirty="0"/>
          </a:p>
        </p:txBody>
      </p:sp>
      <p:sp>
        <p:nvSpPr>
          <p:cNvPr id="24" name="Text 21"/>
          <p:cNvSpPr/>
          <p:nvPr/>
        </p:nvSpPr>
        <p:spPr>
          <a:xfrm>
            <a:off x="10184060" y="3460005"/>
            <a:ext cx="1998811" cy="620638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INSPECTION HISTORY</a:t>
            </a:r>
            <a:endParaRPr lang="en-US" sz="1275" dirty="0"/>
          </a:p>
        </p:txBody>
      </p:sp>
      <p:sp>
        <p:nvSpPr>
          <p:cNvPr id="25" name="Shape 22"/>
          <p:cNvSpPr/>
          <p:nvPr/>
        </p:nvSpPr>
        <p:spPr>
          <a:xfrm>
            <a:off x="12689830" y="3541737"/>
            <a:ext cx="1788170" cy="419075"/>
          </a:xfrm>
          <a:prstGeom prst="rect">
            <a:avLst/>
          </a:prstGeom>
          <a:gradFill rotWithShape="1">
            <a:gsLst>
              <a:gs pos="0">
                <a:srgbClr val="E0524D">
                  <a:alpha val="24000"/>
                </a:srgbClr>
              </a:gs>
              <a:gs pos="100000">
                <a:srgbClr val="E0524D">
                  <a:alpha val="8000"/>
                </a:srgbClr>
              </a:gs>
            </a:gsLst>
            <a:lin ang="5400000" scaled="0"/>
          </a:gradFill>
          <a:ln w="7937">
            <a:solidFill>
              <a:srgbClr val="E0524D"/>
            </a:solidFill>
            <a:prstDash val="solid"/>
          </a:ln>
          <a:effectLst>
            <a:outerShdw blurRad="209550" dist="50800" dir="16200000" algn="bl" rotWithShape="0">
              <a:srgbClr val="E0524D">
                <a:alpha val="30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12907242" y="3663900"/>
            <a:ext cx="1204069" cy="212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168" dirty="0">
                <a:solidFill>
                  <a:srgbClr val="FF7C7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ENTER UNIT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4130362" y="3663900"/>
            <a:ext cx="206425" cy="212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168" dirty="0">
                <a:solidFill>
                  <a:srgbClr val="FF7C7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★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3848075" y="4336231"/>
            <a:ext cx="2773945" cy="212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252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EVENT TIMELINE · SELECTED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3848075" y="4682256"/>
            <a:ext cx="5526360" cy="368102"/>
          </a:xfrm>
          <a:prstGeom prst="rect">
            <a:avLst/>
          </a:prstGeom>
          <a:solidFill>
            <a:srgbClr val="78AADC">
              <a:alpha val="4000"/>
            </a:srgbClr>
          </a:solidFill>
        </p:spPr>
      </p:sp>
      <p:sp>
        <p:nvSpPr>
          <p:cNvPr id="30" name="Shape 27"/>
          <p:cNvSpPr/>
          <p:nvPr/>
        </p:nvSpPr>
        <p:spPr>
          <a:xfrm>
            <a:off x="3848075" y="4682256"/>
            <a:ext cx="23813" cy="368102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31" name="Text 28"/>
          <p:cNvSpPr/>
          <p:nvPr/>
        </p:nvSpPr>
        <p:spPr>
          <a:xfrm>
            <a:off x="4014763" y="4786931"/>
            <a:ext cx="1760165" cy="196850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2020.09.04</a:t>
            </a:r>
            <a:endParaRPr lang="en-US" sz="1125" dirty="0"/>
          </a:p>
        </p:txBody>
      </p:sp>
      <p:sp>
        <p:nvSpPr>
          <p:cNvPr id="32" name="Text 29"/>
          <p:cNvSpPr/>
          <p:nvPr/>
        </p:nvSpPr>
        <p:spPr>
          <a:xfrm>
            <a:off x="5786313" y="4786931"/>
            <a:ext cx="1216347" cy="196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Enrollment day</a:t>
            </a:r>
            <a:endParaRPr lang="en-US" sz="1125" dirty="0"/>
          </a:p>
        </p:txBody>
      </p:sp>
      <p:sp>
        <p:nvSpPr>
          <p:cNvPr id="33" name="Shape 30"/>
          <p:cNvSpPr/>
          <p:nvPr/>
        </p:nvSpPr>
        <p:spPr>
          <a:xfrm>
            <a:off x="3848075" y="5078883"/>
            <a:ext cx="5526360" cy="368102"/>
          </a:xfrm>
          <a:prstGeom prst="rect">
            <a:avLst/>
          </a:prstGeom>
          <a:solidFill>
            <a:srgbClr val="78AADC">
              <a:alpha val="4000"/>
            </a:srgbClr>
          </a:solidFill>
        </p:spPr>
      </p:sp>
      <p:sp>
        <p:nvSpPr>
          <p:cNvPr id="34" name="Shape 31"/>
          <p:cNvSpPr/>
          <p:nvPr/>
        </p:nvSpPr>
        <p:spPr>
          <a:xfrm>
            <a:off x="3848075" y="5078883"/>
            <a:ext cx="23813" cy="368102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35" name="Text 32"/>
          <p:cNvSpPr/>
          <p:nvPr/>
        </p:nvSpPr>
        <p:spPr>
          <a:xfrm>
            <a:off x="4014763" y="5183558"/>
            <a:ext cx="1760165" cy="196850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2021.05.22</a:t>
            </a:r>
            <a:endParaRPr lang="en-US" sz="1125" dirty="0"/>
          </a:p>
        </p:txBody>
      </p:sp>
      <p:sp>
        <p:nvSpPr>
          <p:cNvPr id="36" name="Text 33"/>
          <p:cNvSpPr/>
          <p:nvPr/>
        </p:nvSpPr>
        <p:spPr>
          <a:xfrm>
            <a:off x="5786313" y="5183558"/>
            <a:ext cx="2329197" cy="196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First mediation · resolved</a:t>
            </a:r>
            <a:endParaRPr lang="en-US" sz="1125" dirty="0"/>
          </a:p>
        </p:txBody>
      </p:sp>
      <p:sp>
        <p:nvSpPr>
          <p:cNvPr id="37" name="Shape 34"/>
          <p:cNvSpPr/>
          <p:nvPr/>
        </p:nvSpPr>
        <p:spPr>
          <a:xfrm>
            <a:off x="3848075" y="5475510"/>
            <a:ext cx="5526360" cy="368102"/>
          </a:xfrm>
          <a:prstGeom prst="rect">
            <a:avLst/>
          </a:prstGeom>
          <a:solidFill>
            <a:srgbClr val="78AADC">
              <a:alpha val="4000"/>
            </a:srgbClr>
          </a:solidFill>
        </p:spPr>
      </p:sp>
      <p:sp>
        <p:nvSpPr>
          <p:cNvPr id="38" name="Shape 35"/>
          <p:cNvSpPr/>
          <p:nvPr/>
        </p:nvSpPr>
        <p:spPr>
          <a:xfrm>
            <a:off x="3848075" y="5475510"/>
            <a:ext cx="23813" cy="368102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39" name="Text 36"/>
          <p:cNvSpPr/>
          <p:nvPr/>
        </p:nvSpPr>
        <p:spPr>
          <a:xfrm>
            <a:off x="4014763" y="5580185"/>
            <a:ext cx="1760165" cy="196850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2022.11.18</a:t>
            </a:r>
            <a:endParaRPr lang="en-US" sz="1125" dirty="0"/>
          </a:p>
        </p:txBody>
      </p:sp>
      <p:sp>
        <p:nvSpPr>
          <p:cNvPr id="40" name="Text 37"/>
          <p:cNvSpPr/>
          <p:nvPr/>
        </p:nvSpPr>
        <p:spPr>
          <a:xfrm>
            <a:off x="5786313" y="5580185"/>
            <a:ext cx="3493728" cy="196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Mediation · early termination by mother</a:t>
            </a:r>
            <a:endParaRPr lang="en-US" sz="1125" dirty="0"/>
          </a:p>
        </p:txBody>
      </p:sp>
      <p:sp>
        <p:nvSpPr>
          <p:cNvPr id="41" name="Shape 38"/>
          <p:cNvSpPr/>
          <p:nvPr/>
        </p:nvSpPr>
        <p:spPr>
          <a:xfrm>
            <a:off x="3848075" y="5872137"/>
            <a:ext cx="5526360" cy="368102"/>
          </a:xfrm>
          <a:prstGeom prst="rect">
            <a:avLst/>
          </a:prstGeom>
          <a:solidFill>
            <a:srgbClr val="78AADC">
              <a:alpha val="4000"/>
            </a:srgbClr>
          </a:solidFill>
        </p:spPr>
      </p:sp>
      <p:sp>
        <p:nvSpPr>
          <p:cNvPr id="42" name="Shape 39"/>
          <p:cNvSpPr/>
          <p:nvPr/>
        </p:nvSpPr>
        <p:spPr>
          <a:xfrm>
            <a:off x="3848075" y="5872137"/>
            <a:ext cx="23813" cy="368102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43" name="Text 40"/>
          <p:cNvSpPr/>
          <p:nvPr/>
        </p:nvSpPr>
        <p:spPr>
          <a:xfrm>
            <a:off x="4014763" y="5976812"/>
            <a:ext cx="1760165" cy="196850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2024.01.30</a:t>
            </a:r>
            <a:endParaRPr lang="en-US" sz="1125" dirty="0"/>
          </a:p>
        </p:txBody>
      </p:sp>
      <p:sp>
        <p:nvSpPr>
          <p:cNvPr id="44" name="Text 41"/>
          <p:cNvSpPr/>
          <p:nvPr/>
        </p:nvSpPr>
        <p:spPr>
          <a:xfrm>
            <a:off x="5786313" y="5976812"/>
            <a:ext cx="3583359" cy="196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Pattern: daughter exits during mediation</a:t>
            </a:r>
            <a:endParaRPr lang="en-US" sz="1125" dirty="0"/>
          </a:p>
        </p:txBody>
      </p:sp>
      <p:sp>
        <p:nvSpPr>
          <p:cNvPr id="45" name="Shape 42"/>
          <p:cNvSpPr/>
          <p:nvPr/>
        </p:nvSpPr>
        <p:spPr>
          <a:xfrm>
            <a:off x="3848075" y="6268764"/>
            <a:ext cx="5526360" cy="368102"/>
          </a:xfrm>
          <a:prstGeom prst="rect">
            <a:avLst/>
          </a:prstGeom>
          <a:solidFill>
            <a:srgbClr val="78AADC">
              <a:alpha val="4000"/>
            </a:srgbClr>
          </a:solidFill>
        </p:spPr>
      </p:sp>
      <p:sp>
        <p:nvSpPr>
          <p:cNvPr id="46" name="Shape 43"/>
          <p:cNvSpPr/>
          <p:nvPr/>
        </p:nvSpPr>
        <p:spPr>
          <a:xfrm>
            <a:off x="3848075" y="6268764"/>
            <a:ext cx="23813" cy="368102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47" name="Text 44"/>
          <p:cNvSpPr/>
          <p:nvPr/>
        </p:nvSpPr>
        <p:spPr>
          <a:xfrm>
            <a:off x="4014763" y="6373439"/>
            <a:ext cx="1760165" cy="196850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2025.06.14</a:t>
            </a:r>
            <a:endParaRPr lang="en-US" sz="1125" dirty="0"/>
          </a:p>
        </p:txBody>
      </p:sp>
      <p:sp>
        <p:nvSpPr>
          <p:cNvPr id="48" name="Text 45"/>
          <p:cNvSpPr/>
          <p:nvPr/>
        </p:nvSpPr>
        <p:spPr>
          <a:xfrm>
            <a:off x="5786313" y="6373439"/>
            <a:ext cx="3762487" cy="196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Daughter: “the voice doesn’t help anymore”</a:t>
            </a:r>
            <a:endParaRPr lang="en-US" sz="1125" dirty="0"/>
          </a:p>
        </p:txBody>
      </p:sp>
      <p:sp>
        <p:nvSpPr>
          <p:cNvPr id="49" name="Shape 46"/>
          <p:cNvSpPr/>
          <p:nvPr/>
        </p:nvSpPr>
        <p:spPr>
          <a:xfrm>
            <a:off x="3848075" y="6665391"/>
            <a:ext cx="5526360" cy="368102"/>
          </a:xfrm>
          <a:prstGeom prst="rect">
            <a:avLst/>
          </a:prstGeom>
          <a:solidFill>
            <a:srgbClr val="78AADC">
              <a:alpha val="4000"/>
            </a:srgbClr>
          </a:solidFill>
        </p:spPr>
      </p:sp>
      <p:sp>
        <p:nvSpPr>
          <p:cNvPr id="50" name="Shape 47"/>
          <p:cNvSpPr/>
          <p:nvPr/>
        </p:nvSpPr>
        <p:spPr>
          <a:xfrm>
            <a:off x="3848075" y="6665391"/>
            <a:ext cx="23813" cy="368102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51" name="Text 48"/>
          <p:cNvSpPr/>
          <p:nvPr/>
        </p:nvSpPr>
        <p:spPr>
          <a:xfrm>
            <a:off x="4014763" y="6770066"/>
            <a:ext cx="1760165" cy="196850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2026.06.02</a:t>
            </a:r>
            <a:endParaRPr lang="en-US" sz="1125" dirty="0"/>
          </a:p>
        </p:txBody>
      </p:sp>
      <p:sp>
        <p:nvSpPr>
          <p:cNvPr id="52" name="Text 49"/>
          <p:cNvSpPr/>
          <p:nvPr/>
        </p:nvSpPr>
        <p:spPr>
          <a:xfrm>
            <a:off x="5786313" y="6770066"/>
            <a:ext cx="2866715" cy="196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Mediation cooldown patch (#7138)</a:t>
            </a:r>
            <a:endParaRPr lang="en-US" sz="1125" dirty="0"/>
          </a:p>
        </p:txBody>
      </p:sp>
      <p:sp>
        <p:nvSpPr>
          <p:cNvPr id="53" name="Shape 50"/>
          <p:cNvSpPr/>
          <p:nvPr/>
        </p:nvSpPr>
        <p:spPr>
          <a:xfrm>
            <a:off x="3848075" y="7062018"/>
            <a:ext cx="5526360" cy="368102"/>
          </a:xfrm>
          <a:prstGeom prst="rect">
            <a:avLst/>
          </a:prstGeom>
          <a:solidFill>
            <a:srgbClr val="E0524D">
              <a:alpha val="10000"/>
            </a:srgbClr>
          </a:solidFill>
        </p:spPr>
      </p:sp>
      <p:sp>
        <p:nvSpPr>
          <p:cNvPr id="54" name="Shape 51"/>
          <p:cNvSpPr/>
          <p:nvPr/>
        </p:nvSpPr>
        <p:spPr>
          <a:xfrm>
            <a:off x="3848075" y="7062018"/>
            <a:ext cx="23813" cy="368102"/>
          </a:xfrm>
          <a:prstGeom prst="rect">
            <a:avLst/>
          </a:prstGeom>
          <a:solidFill>
            <a:srgbClr val="E0524D"/>
          </a:solidFill>
        </p:spPr>
      </p:sp>
      <p:sp>
        <p:nvSpPr>
          <p:cNvPr id="55" name="Text 52"/>
          <p:cNvSpPr/>
          <p:nvPr/>
        </p:nvSpPr>
        <p:spPr>
          <a:xfrm>
            <a:off x="4014763" y="7166693"/>
            <a:ext cx="2150070" cy="196850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FF7C7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2026.09.14 · 22:00–22:14</a:t>
            </a:r>
            <a:endParaRPr lang="en-US" sz="1125" dirty="0"/>
          </a:p>
        </p:txBody>
      </p:sp>
      <p:sp>
        <p:nvSpPr>
          <p:cNvPr id="56" name="Text 53"/>
          <p:cNvSpPr/>
          <p:nvPr/>
        </p:nvSpPr>
        <p:spPr>
          <a:xfrm>
            <a:off x="6140772" y="7166693"/>
            <a:ext cx="1522921" cy="196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FF7C7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× DATA UNREADABLE</a:t>
            </a:r>
            <a:endParaRPr lang="en-US" sz="1125" dirty="0"/>
          </a:p>
        </p:txBody>
      </p:sp>
      <p:sp>
        <p:nvSpPr>
          <p:cNvPr id="57" name="Shape 54"/>
          <p:cNvSpPr/>
          <p:nvPr/>
        </p:nvSpPr>
        <p:spPr>
          <a:xfrm>
            <a:off x="9621986" y="4682256"/>
            <a:ext cx="4817938" cy="2747863"/>
          </a:xfrm>
          <a:prstGeom prst="rect">
            <a:avLst/>
          </a:prstGeom>
          <a:solidFill>
            <a:srgbClr val="E0524D">
              <a:alpha val="5000"/>
            </a:srgbClr>
          </a:solidFill>
          <a:ln w="7937">
            <a:solidFill>
              <a:srgbClr val="E0524D">
                <a:alpha val="30000"/>
              </a:srgbClr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9820424" y="4861594"/>
            <a:ext cx="4553695" cy="26097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95000"/>
              </a:lnSpc>
              <a:buNone/>
            </a:pPr>
            <a:r>
              <a:rPr lang="en-US" sz="900" kern="0" spc="180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LAST ACCESSIBLE FRAGMENT · 22:13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9820424" y="5198690"/>
            <a:ext cx="4553695" cy="31665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95000"/>
              </a:lnSpc>
              <a:buNone/>
            </a:pPr>
            <a:r>
              <a:rPr lang="en-US" sz="1125" kern="0" spc="24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 child user inputting</a:t>
            </a:r>
            <a:endParaRPr lang="en-US" sz="1125" dirty="0"/>
          </a:p>
        </p:txBody>
      </p:sp>
      <p:sp>
        <p:nvSpPr>
          <p:cNvPr id="60" name="Text 57"/>
          <p:cNvSpPr/>
          <p:nvPr/>
        </p:nvSpPr>
        <p:spPr>
          <a:xfrm>
            <a:off x="9820424" y="5477247"/>
            <a:ext cx="4553695" cy="31665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95000"/>
              </a:lnSpc>
              <a:buNone/>
            </a:pPr>
            <a:r>
              <a:rPr lang="en-US" sz="1125" kern="0" spc="24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 maintenance commands</a:t>
            </a:r>
            <a:endParaRPr lang="en-US" sz="1125" dirty="0"/>
          </a:p>
        </p:txBody>
      </p:sp>
      <p:sp>
        <p:nvSpPr>
          <p:cNvPr id="61" name="Text 58"/>
          <p:cNvSpPr/>
          <p:nvPr/>
        </p:nvSpPr>
        <p:spPr>
          <a:xfrm>
            <a:off x="9820424" y="5755802"/>
            <a:ext cx="4553695" cy="31665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95000"/>
              </a:lnSpc>
              <a:buNone/>
            </a:pPr>
            <a:r>
              <a:rPr lang="en-US" sz="1125" kern="0" spc="24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 ...</a:t>
            </a:r>
            <a:endParaRPr lang="en-US" sz="1125" dirty="0"/>
          </a:p>
        </p:txBody>
      </p:sp>
      <p:sp>
        <p:nvSpPr>
          <p:cNvPr id="62" name="Text 59"/>
          <p:cNvSpPr/>
          <p:nvPr/>
        </p:nvSpPr>
        <p:spPr>
          <a:xfrm>
            <a:off x="9820424" y="6034360"/>
            <a:ext cx="4553695" cy="31665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95000"/>
              </a:lnSpc>
              <a:buNone/>
            </a:pPr>
            <a:r>
              <a:rPr lang="en-US" sz="1125" kern="0" spc="24" dirty="0">
                <a:solidFill>
                  <a:srgbClr val="FF7C7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 OFFLINE</a:t>
            </a:r>
            <a:endParaRPr lang="en-US" sz="1125" dirty="0"/>
          </a:p>
        </p:txBody>
      </p:sp>
      <p:sp>
        <p:nvSpPr>
          <p:cNvPr id="63" name="Shape 60"/>
          <p:cNvSpPr/>
          <p:nvPr/>
        </p:nvSpPr>
        <p:spPr>
          <a:xfrm>
            <a:off x="3590851" y="7679407"/>
            <a:ext cx="142875" cy="952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64" name="Shape 61"/>
          <p:cNvSpPr/>
          <p:nvPr/>
        </p:nvSpPr>
        <p:spPr>
          <a:xfrm>
            <a:off x="3590851" y="7544470"/>
            <a:ext cx="9525" cy="14287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65" name="Shape 62"/>
          <p:cNvSpPr/>
          <p:nvPr/>
        </p:nvSpPr>
        <p:spPr>
          <a:xfrm>
            <a:off x="14443073" y="7458768"/>
            <a:ext cx="65387" cy="114226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66" name="Shape 63"/>
          <p:cNvSpPr/>
          <p:nvPr/>
        </p:nvSpPr>
        <p:spPr>
          <a:xfrm>
            <a:off x="14504961" y="7458768"/>
            <a:ext cx="65387" cy="114226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67" name="Shape 64"/>
          <p:cNvSpPr/>
          <p:nvPr/>
        </p:nvSpPr>
        <p:spPr>
          <a:xfrm>
            <a:off x="14566849" y="7458768"/>
            <a:ext cx="65387" cy="114226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68" name="Shape 65"/>
          <p:cNvSpPr/>
          <p:nvPr/>
        </p:nvSpPr>
        <p:spPr>
          <a:xfrm>
            <a:off x="14335125" y="2666379"/>
            <a:ext cx="47625" cy="47625"/>
          </a:xfrm>
          <a:prstGeom prst="rect">
            <a:avLst/>
          </a:prstGeom>
          <a:ln w="7937">
            <a:solidFill>
              <a:srgbClr val="BEE0FC">
                <a:alpha val="82000"/>
              </a:srgbClr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3695650" y="2380752"/>
            <a:ext cx="1489087" cy="1571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182" dirty="0">
                <a:solidFill>
                  <a:srgbClr val="96B4D7">
                    <a:alpha val="32000"/>
                  </a:srgbClr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DOORWAY · OFFLINE</a:t>
            </a:r>
            <a:endParaRPr lang="en-US" sz="825" dirty="0"/>
          </a:p>
        </p:txBody>
      </p:sp>
      <p:sp>
        <p:nvSpPr>
          <p:cNvPr id="70" name="Text 67"/>
          <p:cNvSpPr/>
          <p:nvPr/>
        </p:nvSpPr>
        <p:spPr>
          <a:xfrm>
            <a:off x="5225374" y="8930183"/>
            <a:ext cx="7837252" cy="331787"/>
          </a:xfrm>
          <a:prstGeom prst="rect">
            <a:avLst/>
          </a:prstGeom>
          <a:noFill/>
          <a:effectLst>
            <a:outerShdw blurRad="95250" dist="19050" dir="5400000" algn="bl" rotWithShape="0">
              <a:srgbClr val="000000">
                <a:alpha val="90000"/>
              </a:srgbClr>
            </a:outerShdw>
          </a:effectLst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2100" kern="0" spc="21" dirty="0">
                <a:solidFill>
                  <a:srgbClr val="FFD9D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“The last words it logged were about who was operating it.”</a:t>
            </a:r>
            <a:endParaRPr lang="en-US" sz="2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96383A">
                  <a:alpha val="42000"/>
                </a:srgbClr>
              </a:gs>
              <a:gs pos="66000">
                <a:srgbClr val="96383A">
                  <a:alpha val="0"/>
                </a:srgbClr>
              </a:gs>
            </a:gsLst>
            <a:path path="circle">
              <a:fillToRect l="50000" t="58000" r="50000" b="42000"/>
            </a:path>
          </a:gra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33301" y="494356"/>
            <a:ext cx="85700" cy="85700"/>
          </a:xfrm>
          <a:prstGeom prst="ellipse">
            <a:avLst/>
          </a:prstGeom>
          <a:solidFill>
            <a:srgbClr val="E0524D">
              <a:alpha val="69000"/>
            </a:srgbClr>
          </a:solidFill>
          <a:effectLst>
            <a:outerShdw blurRad="114300" dist="50800" dir="16200000" algn="bl" rotWithShape="0">
              <a:srgbClr val="E0524D">
                <a:alpha val="68748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04701" y="438050"/>
            <a:ext cx="2599829" cy="236537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7B2C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ALERT · PENDING REVIEW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33301" y="703087"/>
            <a:ext cx="2964532" cy="323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50" kern="0" spc="270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MIA · 7842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6875648" y="438050"/>
            <a:ext cx="4536703" cy="268287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kern="0" spc="462" dirty="0">
                <a:solidFill>
                  <a:srgbClr val="97B2C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2026.09.15·MON·22:22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533301" y="9075911"/>
            <a:ext cx="3343659" cy="212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27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CURRENT TASK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33301" y="9326687"/>
            <a:ext cx="3343659" cy="2762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42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NIGHT ROUNDS · BLOCK A · 17F</a:t>
            </a:r>
            <a:endParaRPr lang="en-US" sz="1425" dirty="0"/>
          </a:p>
        </p:txBody>
      </p:sp>
      <p:sp>
        <p:nvSpPr>
          <p:cNvPr id="10" name="Shape 7"/>
          <p:cNvSpPr/>
          <p:nvPr/>
        </p:nvSpPr>
        <p:spPr>
          <a:xfrm>
            <a:off x="533301" y="9716365"/>
            <a:ext cx="76150" cy="76150"/>
          </a:xfrm>
          <a:prstGeom prst="ellipse">
            <a:avLst/>
          </a:prstGeom>
          <a:solidFill>
            <a:srgbClr val="6FC3F0"/>
          </a:solidFill>
          <a:effectLst>
            <a:outerShdw blurRad="76200" dist="50800" dir="16200000" algn="bl" rotWithShape="0">
              <a:srgbClr val="6FC3F0">
                <a:alpha val="5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95151" y="9716365"/>
            <a:ext cx="76150" cy="76150"/>
          </a:xfrm>
          <a:prstGeom prst="ellipse">
            <a:avLst/>
          </a:prstGeom>
          <a:solidFill>
            <a:srgbClr val="6FC3F0"/>
          </a:solidFill>
          <a:effectLst>
            <a:outerShdw blurRad="76200" dist="50800" dir="16200000" algn="bl" rotWithShape="0">
              <a:srgbClr val="6FC3F0">
                <a:alpha val="5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57002" y="9716365"/>
            <a:ext cx="76150" cy="76150"/>
          </a:xfrm>
          <a:prstGeom prst="ellipse">
            <a:avLst/>
          </a:prstGeom>
          <a:solidFill>
            <a:srgbClr val="96B4D7">
              <a:alpha val="32000"/>
            </a:srgbClr>
          </a:solidFill>
        </p:spPr>
      </p:sp>
      <p:sp>
        <p:nvSpPr>
          <p:cNvPr id="13" name="Text 10"/>
          <p:cNvSpPr/>
          <p:nvPr/>
        </p:nvSpPr>
        <p:spPr>
          <a:xfrm>
            <a:off x="1075903" y="9679037"/>
            <a:ext cx="503213" cy="1889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2/3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524250" y="2670286"/>
            <a:ext cx="11239500" cy="4946427"/>
          </a:xfrm>
          <a:prstGeom prst="rect">
            <a:avLst/>
          </a:prstGeom>
          <a:gradFill rotWithShape="1">
            <a:gsLst>
              <a:gs pos="0">
                <a:srgbClr val="FF9691">
                  <a:alpha val="16000"/>
                </a:srgbClr>
              </a:gs>
              <a:gs pos="56000">
                <a:srgbClr val="FF9691">
                  <a:alpha val="0"/>
                </a:srgbClr>
              </a:gs>
            </a:gsLst>
            <a:path path="circle">
              <a:fillToRect l="50000" r="50000" b="100000"/>
            </a:path>
          </a:gradFill>
        </p:spPr>
      </p:sp>
      <p:sp>
        <p:nvSpPr>
          <p:cNvPr id="15" name="Shape 12"/>
          <p:cNvSpPr/>
          <p:nvPr/>
        </p:nvSpPr>
        <p:spPr>
          <a:xfrm>
            <a:off x="3524250" y="3589299"/>
            <a:ext cx="112395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16" name="Text 13"/>
          <p:cNvSpPr/>
          <p:nvPr/>
        </p:nvSpPr>
        <p:spPr>
          <a:xfrm>
            <a:off x="3810000" y="2879761"/>
            <a:ext cx="2980085" cy="212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DOORWAY TERMINAL · ALERT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810000" y="3092462"/>
            <a:ext cx="2980085" cy="36353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kern="0" spc="315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17F-03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12596961" y="3061455"/>
            <a:ext cx="1881039" cy="212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00" kern="0" spc="144" dirty="0">
                <a:solidFill>
                  <a:srgbClr val="E052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Last Sync · 22:14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524250" y="4179774"/>
            <a:ext cx="112395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20" name="Text 17"/>
          <p:cNvSpPr/>
          <p:nvPr/>
        </p:nvSpPr>
        <p:spPr>
          <a:xfrm>
            <a:off x="3810000" y="3597236"/>
            <a:ext cx="1925637" cy="620638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RESIDENT SUMMARY</a:t>
            </a:r>
            <a:endParaRPr lang="en-US" sz="1275" dirty="0"/>
          </a:p>
        </p:txBody>
      </p:sp>
      <p:sp>
        <p:nvSpPr>
          <p:cNvPr id="21" name="Text 18"/>
          <p:cNvSpPr/>
          <p:nvPr/>
        </p:nvSpPr>
        <p:spPr>
          <a:xfrm>
            <a:off x="5926088" y="3597236"/>
            <a:ext cx="1236935" cy="620638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ACQUISITION</a:t>
            </a:r>
            <a:endParaRPr lang="en-US" sz="1275" dirty="0"/>
          </a:p>
        </p:txBody>
      </p:sp>
      <p:sp>
        <p:nvSpPr>
          <p:cNvPr id="22" name="Text 19"/>
          <p:cNvSpPr/>
          <p:nvPr/>
        </p:nvSpPr>
        <p:spPr>
          <a:xfrm>
            <a:off x="7353473" y="3597236"/>
            <a:ext cx="1121966" cy="620638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FAMILY LOG</a:t>
            </a:r>
            <a:endParaRPr lang="en-US" sz="1275" dirty="0"/>
          </a:p>
        </p:txBody>
      </p:sp>
      <p:sp>
        <p:nvSpPr>
          <p:cNvPr id="23" name="Text 20"/>
          <p:cNvSpPr/>
          <p:nvPr/>
        </p:nvSpPr>
        <p:spPr>
          <a:xfrm>
            <a:off x="8665890" y="3597236"/>
            <a:ext cx="1327720" cy="620638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FFD9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TRUST TREND</a:t>
            </a:r>
            <a:endParaRPr lang="en-US" sz="1275" dirty="0"/>
          </a:p>
        </p:txBody>
      </p:sp>
      <p:sp>
        <p:nvSpPr>
          <p:cNvPr id="24" name="Text 21"/>
          <p:cNvSpPr/>
          <p:nvPr/>
        </p:nvSpPr>
        <p:spPr>
          <a:xfrm>
            <a:off x="10184060" y="3597236"/>
            <a:ext cx="1998811" cy="620638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INSPECTION HISTORY</a:t>
            </a:r>
            <a:endParaRPr lang="en-US" sz="1275" dirty="0"/>
          </a:p>
        </p:txBody>
      </p:sp>
      <p:sp>
        <p:nvSpPr>
          <p:cNvPr id="25" name="Shape 22"/>
          <p:cNvSpPr/>
          <p:nvPr/>
        </p:nvSpPr>
        <p:spPr>
          <a:xfrm>
            <a:off x="12689830" y="3678968"/>
            <a:ext cx="1788170" cy="419075"/>
          </a:xfrm>
          <a:prstGeom prst="rect">
            <a:avLst/>
          </a:prstGeom>
          <a:gradFill rotWithShape="1">
            <a:gsLst>
              <a:gs pos="0">
                <a:srgbClr val="E0524D">
                  <a:alpha val="24000"/>
                </a:srgbClr>
              </a:gs>
              <a:gs pos="100000">
                <a:srgbClr val="E0524D">
                  <a:alpha val="8000"/>
                </a:srgbClr>
              </a:gs>
            </a:gsLst>
            <a:lin ang="5400000" scaled="0"/>
          </a:gradFill>
          <a:ln w="7937">
            <a:solidFill>
              <a:srgbClr val="E0524D"/>
            </a:solidFill>
            <a:prstDash val="solid"/>
          </a:ln>
          <a:effectLst>
            <a:outerShdw blurRad="209550" dist="50800" dir="16200000" algn="bl" rotWithShape="0">
              <a:srgbClr val="E0524D">
                <a:alpha val="30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12907242" y="3801131"/>
            <a:ext cx="1204069" cy="212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168" dirty="0">
                <a:solidFill>
                  <a:srgbClr val="FF7C7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ENTER UNIT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4130362" y="3801131"/>
            <a:ext cx="206425" cy="212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168" dirty="0">
                <a:solidFill>
                  <a:srgbClr val="FF7C7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★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3848075" y="4473462"/>
            <a:ext cx="2754846" cy="212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252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TRUST INDEX · BY RESIDENT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3848075" y="5219339"/>
            <a:ext cx="49530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30" name="Text 27"/>
          <p:cNvSpPr/>
          <p:nvPr/>
        </p:nvSpPr>
        <p:spPr>
          <a:xfrm>
            <a:off x="3848075" y="4924165"/>
            <a:ext cx="1382948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97B2C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Father</a:t>
            </a:r>
            <a:endParaRPr lang="en-US" sz="1350" dirty="0"/>
          </a:p>
        </p:txBody>
      </p:sp>
      <p:sp>
        <p:nvSpPr>
          <p:cNvPr id="31" name="Text 28"/>
          <p:cNvSpPr/>
          <p:nvPr/>
        </p:nvSpPr>
        <p:spPr>
          <a:xfrm>
            <a:off x="5314776" y="4924165"/>
            <a:ext cx="1181001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62 / 100</a:t>
            </a:r>
            <a:endParaRPr lang="en-US" sz="1350" dirty="0"/>
          </a:p>
        </p:txBody>
      </p:sp>
      <p:sp>
        <p:nvSpPr>
          <p:cNvPr id="32" name="Text 29"/>
          <p:cNvSpPr/>
          <p:nvPr/>
        </p:nvSpPr>
        <p:spPr>
          <a:xfrm>
            <a:off x="7962131" y="4940038"/>
            <a:ext cx="838944" cy="20478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125" kern="0" spc="54" dirty="0">
                <a:solidFill>
                  <a:srgbClr val="FF7C7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↓ 6mo: -8</a:t>
            </a:r>
            <a:endParaRPr lang="en-US" sz="1125" dirty="0"/>
          </a:p>
        </p:txBody>
      </p:sp>
      <p:sp>
        <p:nvSpPr>
          <p:cNvPr id="33" name="Shape 30"/>
          <p:cNvSpPr/>
          <p:nvPr/>
        </p:nvSpPr>
        <p:spPr>
          <a:xfrm>
            <a:off x="3848075" y="5627128"/>
            <a:ext cx="49530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34" name="Text 31"/>
          <p:cNvSpPr/>
          <p:nvPr/>
        </p:nvSpPr>
        <p:spPr>
          <a:xfrm>
            <a:off x="3848075" y="5331954"/>
            <a:ext cx="1382948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97B2C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Mother</a:t>
            </a:r>
            <a:endParaRPr lang="en-US" sz="1350" dirty="0"/>
          </a:p>
        </p:txBody>
      </p:sp>
      <p:sp>
        <p:nvSpPr>
          <p:cNvPr id="35" name="Text 32"/>
          <p:cNvSpPr/>
          <p:nvPr/>
        </p:nvSpPr>
        <p:spPr>
          <a:xfrm>
            <a:off x="5314776" y="5331954"/>
            <a:ext cx="1181001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65 / 100</a:t>
            </a:r>
            <a:endParaRPr lang="en-US" sz="1350" dirty="0"/>
          </a:p>
        </p:txBody>
      </p:sp>
      <p:sp>
        <p:nvSpPr>
          <p:cNvPr id="36" name="Text 33"/>
          <p:cNvSpPr/>
          <p:nvPr/>
        </p:nvSpPr>
        <p:spPr>
          <a:xfrm>
            <a:off x="7962131" y="5347827"/>
            <a:ext cx="838944" cy="20478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125" kern="0" spc="54" dirty="0">
                <a:solidFill>
                  <a:srgbClr val="FF7C7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↓ 6mo: -5</a:t>
            </a:r>
            <a:endParaRPr lang="en-US" sz="1125" dirty="0"/>
          </a:p>
        </p:txBody>
      </p:sp>
      <p:sp>
        <p:nvSpPr>
          <p:cNvPr id="37" name="Shape 34"/>
          <p:cNvSpPr/>
          <p:nvPr/>
        </p:nvSpPr>
        <p:spPr>
          <a:xfrm>
            <a:off x="3848075" y="6034917"/>
            <a:ext cx="49530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38" name="Text 35"/>
          <p:cNvSpPr/>
          <p:nvPr/>
        </p:nvSpPr>
        <p:spPr>
          <a:xfrm>
            <a:off x="3848075" y="5739743"/>
            <a:ext cx="1382948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97B2C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Daughter</a:t>
            </a:r>
            <a:endParaRPr lang="en-US" sz="1350" dirty="0"/>
          </a:p>
        </p:txBody>
      </p:sp>
      <p:sp>
        <p:nvSpPr>
          <p:cNvPr id="39" name="Text 36"/>
          <p:cNvSpPr/>
          <p:nvPr/>
        </p:nvSpPr>
        <p:spPr>
          <a:xfrm>
            <a:off x="5314776" y="5739743"/>
            <a:ext cx="1181001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41 / 100</a:t>
            </a:r>
            <a:endParaRPr lang="en-US" sz="1350" dirty="0"/>
          </a:p>
        </p:txBody>
      </p:sp>
      <p:sp>
        <p:nvSpPr>
          <p:cNvPr id="40" name="Text 37"/>
          <p:cNvSpPr/>
          <p:nvPr/>
        </p:nvSpPr>
        <p:spPr>
          <a:xfrm>
            <a:off x="7542063" y="5755616"/>
            <a:ext cx="1259012" cy="20478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125" kern="0" spc="54" dirty="0">
                <a:solidFill>
                  <a:srgbClr val="FF7C7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↓ from peak 88</a:t>
            </a:r>
            <a:endParaRPr lang="en-US" sz="1125" dirty="0"/>
          </a:p>
        </p:txBody>
      </p:sp>
      <p:sp>
        <p:nvSpPr>
          <p:cNvPr id="41" name="Shape 38"/>
          <p:cNvSpPr/>
          <p:nvPr/>
        </p:nvSpPr>
        <p:spPr>
          <a:xfrm>
            <a:off x="3848075" y="6442706"/>
            <a:ext cx="49530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42" name="Text 39"/>
          <p:cNvSpPr/>
          <p:nvPr/>
        </p:nvSpPr>
        <p:spPr>
          <a:xfrm>
            <a:off x="3848075" y="6147532"/>
            <a:ext cx="1531516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97B2C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Household FESI</a:t>
            </a:r>
            <a:endParaRPr lang="en-US" sz="1350" dirty="0"/>
          </a:p>
        </p:txBody>
      </p:sp>
      <p:sp>
        <p:nvSpPr>
          <p:cNvPr id="43" name="Text 40"/>
          <p:cNvSpPr/>
          <p:nvPr/>
        </p:nvSpPr>
        <p:spPr>
          <a:xfrm>
            <a:off x="5449838" y="6147532"/>
            <a:ext cx="1181001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× / 64</a:t>
            </a:r>
            <a:endParaRPr lang="en-US" sz="1350" dirty="0"/>
          </a:p>
        </p:txBody>
      </p:sp>
      <p:sp>
        <p:nvSpPr>
          <p:cNvPr id="44" name="Text 41"/>
          <p:cNvSpPr/>
          <p:nvPr/>
        </p:nvSpPr>
        <p:spPr>
          <a:xfrm>
            <a:off x="8136756" y="6171344"/>
            <a:ext cx="664319" cy="196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125" kern="0" spc="54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30d ago</a:t>
            </a:r>
            <a:endParaRPr lang="en-US" sz="1125" dirty="0"/>
          </a:p>
        </p:txBody>
      </p:sp>
      <p:sp>
        <p:nvSpPr>
          <p:cNvPr id="45" name="Text 42"/>
          <p:cNvSpPr/>
          <p:nvPr/>
        </p:nvSpPr>
        <p:spPr>
          <a:xfrm>
            <a:off x="9220150" y="4473462"/>
            <a:ext cx="4512945" cy="1203424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350" kern="0" spc="27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daughter’s trust band shows the steepest decline. Cross-referenced with vocal records: from </a:t>
            </a:r>
            <a:r>
              <a:rPr lang="en-US" sz="1350" kern="0" spc="27" dirty="0">
                <a:solidFill>
                  <a:srgbClr val="6FC3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“I like the voice” </a:t>
            </a:r>
            <a:r>
              <a:rPr lang="en-US" sz="1350" kern="0" spc="27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(age 8) to “the voice doesn’t help anymore” (age 11) to silence (age 12).</a:t>
            </a:r>
            <a:endParaRPr lang="en-US" sz="1350" dirty="0"/>
          </a:p>
        </p:txBody>
      </p:sp>
      <p:sp>
        <p:nvSpPr>
          <p:cNvPr id="46" name="Shape 43"/>
          <p:cNvSpPr/>
          <p:nvPr/>
        </p:nvSpPr>
        <p:spPr>
          <a:xfrm>
            <a:off x="3590851" y="7542174"/>
            <a:ext cx="142875" cy="952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47" name="Shape 44"/>
          <p:cNvSpPr/>
          <p:nvPr/>
        </p:nvSpPr>
        <p:spPr>
          <a:xfrm>
            <a:off x="3590851" y="7407236"/>
            <a:ext cx="9525" cy="14287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48" name="Shape 45"/>
          <p:cNvSpPr/>
          <p:nvPr/>
        </p:nvSpPr>
        <p:spPr>
          <a:xfrm>
            <a:off x="14443073" y="7321537"/>
            <a:ext cx="65387" cy="114226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49" name="Shape 46"/>
          <p:cNvSpPr/>
          <p:nvPr/>
        </p:nvSpPr>
        <p:spPr>
          <a:xfrm>
            <a:off x="14504961" y="7321537"/>
            <a:ext cx="65387" cy="114226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50" name="Shape 47"/>
          <p:cNvSpPr/>
          <p:nvPr/>
        </p:nvSpPr>
        <p:spPr>
          <a:xfrm>
            <a:off x="14566849" y="7321537"/>
            <a:ext cx="65387" cy="114226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51" name="Shape 48"/>
          <p:cNvSpPr/>
          <p:nvPr/>
        </p:nvSpPr>
        <p:spPr>
          <a:xfrm>
            <a:off x="14335125" y="2803610"/>
            <a:ext cx="47625" cy="47625"/>
          </a:xfrm>
          <a:prstGeom prst="rect">
            <a:avLst/>
          </a:prstGeom>
          <a:ln w="7937">
            <a:solidFill>
              <a:srgbClr val="BEE0FC">
                <a:alpha val="82000"/>
              </a:srgbClr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3695650" y="2517986"/>
            <a:ext cx="1489087" cy="1571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182" dirty="0">
                <a:solidFill>
                  <a:srgbClr val="96B4D7">
                    <a:alpha val="32000"/>
                  </a:srgbClr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DOORWAY · OFFLINE</a:t>
            </a:r>
            <a:endParaRPr lang="en-US" sz="825" dirty="0"/>
          </a:p>
        </p:txBody>
      </p:sp>
      <p:sp>
        <p:nvSpPr>
          <p:cNvPr id="53" name="Text 50"/>
          <p:cNvSpPr/>
          <p:nvPr/>
        </p:nvSpPr>
        <p:spPr>
          <a:xfrm>
            <a:off x="3258523" y="8930180"/>
            <a:ext cx="11770952" cy="331787"/>
          </a:xfrm>
          <a:prstGeom prst="rect">
            <a:avLst/>
          </a:prstGeom>
          <a:noFill/>
          <a:effectLst>
            <a:outerShdw blurRad="95250" dist="19050" dir="5400000" algn="bl" rotWithShape="0">
              <a:srgbClr val="000000">
                <a:alpha val="90000"/>
              </a:srgbClr>
            </a:outerShdw>
          </a:effectLst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2100" kern="0" spc="21" dirty="0">
                <a:solidFill>
                  <a:srgbClr val="FFD9D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“The daughter’s curve goes down for three years. No one has been watching that curve.”</a:t>
            </a:r>
            <a:endParaRPr lang="en-US" sz="2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96383A">
                  <a:alpha val="42000"/>
                </a:srgbClr>
              </a:gs>
              <a:gs pos="66000">
                <a:srgbClr val="96383A">
                  <a:alpha val="0"/>
                </a:srgbClr>
              </a:gs>
            </a:gsLst>
            <a:path path="circle">
              <a:fillToRect l="50000" t="58000" r="50000" b="42000"/>
            </a:path>
          </a:gra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33301" y="494356"/>
            <a:ext cx="85700" cy="85700"/>
          </a:xfrm>
          <a:prstGeom prst="ellipse">
            <a:avLst/>
          </a:prstGeom>
          <a:solidFill>
            <a:srgbClr val="E0524D">
              <a:alpha val="58000"/>
            </a:srgbClr>
          </a:solidFill>
          <a:effectLst>
            <a:outerShdw blurRad="114300" dist="50800" dir="16200000" algn="bl" rotWithShape="0">
              <a:srgbClr val="E0524D">
                <a:alpha val="58201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04701" y="438048"/>
            <a:ext cx="2599829" cy="236539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7B2C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ALERT · PENDING REVIEW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33301" y="703087"/>
            <a:ext cx="2964532" cy="323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50" kern="0" spc="270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MIA · 7842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6875648" y="438048"/>
            <a:ext cx="4536703" cy="268287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kern="0" spc="462" dirty="0">
                <a:solidFill>
                  <a:srgbClr val="97B2C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2026.09.15·MON·22:24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533301" y="9075911"/>
            <a:ext cx="3343659" cy="212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27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CURRENT TASK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33301" y="9326687"/>
            <a:ext cx="3343659" cy="2762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42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NIGHT ROUNDS · BLOCK A · 17F</a:t>
            </a:r>
            <a:endParaRPr lang="en-US" sz="1425" dirty="0"/>
          </a:p>
        </p:txBody>
      </p:sp>
      <p:sp>
        <p:nvSpPr>
          <p:cNvPr id="10" name="Shape 7"/>
          <p:cNvSpPr/>
          <p:nvPr/>
        </p:nvSpPr>
        <p:spPr>
          <a:xfrm>
            <a:off x="533301" y="9716365"/>
            <a:ext cx="76150" cy="76150"/>
          </a:xfrm>
          <a:prstGeom prst="ellipse">
            <a:avLst/>
          </a:prstGeom>
          <a:solidFill>
            <a:srgbClr val="6FC3F0"/>
          </a:solidFill>
          <a:effectLst>
            <a:outerShdw blurRad="76200" dist="50800" dir="16200000" algn="bl" rotWithShape="0">
              <a:srgbClr val="6FC3F0">
                <a:alpha val="5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95151" y="9716365"/>
            <a:ext cx="76150" cy="76150"/>
          </a:xfrm>
          <a:prstGeom prst="ellipse">
            <a:avLst/>
          </a:prstGeom>
          <a:solidFill>
            <a:srgbClr val="6FC3F0"/>
          </a:solidFill>
          <a:effectLst>
            <a:outerShdw blurRad="76200" dist="50800" dir="16200000" algn="bl" rotWithShape="0">
              <a:srgbClr val="6FC3F0">
                <a:alpha val="5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57002" y="9716365"/>
            <a:ext cx="76150" cy="76150"/>
          </a:xfrm>
          <a:prstGeom prst="ellipse">
            <a:avLst/>
          </a:prstGeom>
          <a:solidFill>
            <a:srgbClr val="96B4D7">
              <a:alpha val="32000"/>
            </a:srgbClr>
          </a:solidFill>
        </p:spPr>
      </p:sp>
      <p:sp>
        <p:nvSpPr>
          <p:cNvPr id="13" name="Text 10"/>
          <p:cNvSpPr/>
          <p:nvPr/>
        </p:nvSpPr>
        <p:spPr>
          <a:xfrm>
            <a:off x="1075903" y="9679037"/>
            <a:ext cx="503213" cy="1889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2/3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524250" y="2670284"/>
            <a:ext cx="11239500" cy="4946427"/>
          </a:xfrm>
          <a:prstGeom prst="rect">
            <a:avLst/>
          </a:prstGeom>
          <a:gradFill rotWithShape="1">
            <a:gsLst>
              <a:gs pos="0">
                <a:srgbClr val="FF9691">
                  <a:alpha val="16000"/>
                </a:srgbClr>
              </a:gs>
              <a:gs pos="56000">
                <a:srgbClr val="FF9691">
                  <a:alpha val="0"/>
                </a:srgbClr>
              </a:gs>
            </a:gsLst>
            <a:path path="circle">
              <a:fillToRect l="50000" r="50000" b="100000"/>
            </a:path>
          </a:gradFill>
        </p:spPr>
      </p:sp>
      <p:sp>
        <p:nvSpPr>
          <p:cNvPr id="15" name="Shape 12"/>
          <p:cNvSpPr/>
          <p:nvPr/>
        </p:nvSpPr>
        <p:spPr>
          <a:xfrm>
            <a:off x="3524250" y="3589297"/>
            <a:ext cx="112395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16" name="Text 13"/>
          <p:cNvSpPr/>
          <p:nvPr/>
        </p:nvSpPr>
        <p:spPr>
          <a:xfrm>
            <a:off x="3810000" y="2879759"/>
            <a:ext cx="2980085" cy="212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DOORWAY TERMINAL · ALERT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810000" y="3092462"/>
            <a:ext cx="2980085" cy="36353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kern="0" spc="315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17F-03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12596961" y="3061455"/>
            <a:ext cx="1881039" cy="212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00" kern="0" spc="144" dirty="0">
                <a:solidFill>
                  <a:srgbClr val="E052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Last Sync · 22:14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524250" y="4179774"/>
            <a:ext cx="112395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20" name="Text 17"/>
          <p:cNvSpPr/>
          <p:nvPr/>
        </p:nvSpPr>
        <p:spPr>
          <a:xfrm>
            <a:off x="3810000" y="3597236"/>
            <a:ext cx="1925637" cy="620638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RESIDENT SUMMARY</a:t>
            </a:r>
            <a:endParaRPr lang="en-US" sz="1275" dirty="0"/>
          </a:p>
        </p:txBody>
      </p:sp>
      <p:sp>
        <p:nvSpPr>
          <p:cNvPr id="21" name="Text 18"/>
          <p:cNvSpPr/>
          <p:nvPr/>
        </p:nvSpPr>
        <p:spPr>
          <a:xfrm>
            <a:off x="5926088" y="3597236"/>
            <a:ext cx="1236935" cy="620638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ACQUISITION</a:t>
            </a:r>
            <a:endParaRPr lang="en-US" sz="1275" dirty="0"/>
          </a:p>
        </p:txBody>
      </p:sp>
      <p:sp>
        <p:nvSpPr>
          <p:cNvPr id="22" name="Text 19"/>
          <p:cNvSpPr/>
          <p:nvPr/>
        </p:nvSpPr>
        <p:spPr>
          <a:xfrm>
            <a:off x="7353473" y="3597236"/>
            <a:ext cx="1121966" cy="620638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FAMILY LOG</a:t>
            </a:r>
            <a:endParaRPr lang="en-US" sz="1275" dirty="0"/>
          </a:p>
        </p:txBody>
      </p:sp>
      <p:sp>
        <p:nvSpPr>
          <p:cNvPr id="23" name="Text 20"/>
          <p:cNvSpPr/>
          <p:nvPr/>
        </p:nvSpPr>
        <p:spPr>
          <a:xfrm>
            <a:off x="8665890" y="3597236"/>
            <a:ext cx="1327720" cy="620638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TRUST TREND</a:t>
            </a:r>
            <a:endParaRPr lang="en-US" sz="1275" dirty="0"/>
          </a:p>
        </p:txBody>
      </p:sp>
      <p:sp>
        <p:nvSpPr>
          <p:cNvPr id="24" name="Text 21"/>
          <p:cNvSpPr/>
          <p:nvPr/>
        </p:nvSpPr>
        <p:spPr>
          <a:xfrm>
            <a:off x="10184060" y="3597236"/>
            <a:ext cx="1998811" cy="620638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FFD9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INSPECTION HISTORY</a:t>
            </a:r>
            <a:endParaRPr lang="en-US" sz="1275" dirty="0"/>
          </a:p>
        </p:txBody>
      </p:sp>
      <p:sp>
        <p:nvSpPr>
          <p:cNvPr id="25" name="Shape 22"/>
          <p:cNvSpPr/>
          <p:nvPr/>
        </p:nvSpPr>
        <p:spPr>
          <a:xfrm>
            <a:off x="12689830" y="3678966"/>
            <a:ext cx="1788170" cy="419075"/>
          </a:xfrm>
          <a:prstGeom prst="rect">
            <a:avLst/>
          </a:prstGeom>
          <a:gradFill rotWithShape="1">
            <a:gsLst>
              <a:gs pos="0">
                <a:srgbClr val="E0524D">
                  <a:alpha val="24000"/>
                </a:srgbClr>
              </a:gs>
              <a:gs pos="100000">
                <a:srgbClr val="E0524D">
                  <a:alpha val="8000"/>
                </a:srgbClr>
              </a:gs>
            </a:gsLst>
            <a:lin ang="5400000" scaled="0"/>
          </a:gradFill>
          <a:ln w="7937">
            <a:solidFill>
              <a:srgbClr val="E0524D"/>
            </a:solidFill>
            <a:prstDash val="solid"/>
          </a:ln>
          <a:effectLst>
            <a:outerShdw blurRad="209550" dist="50800" dir="16200000" algn="bl" rotWithShape="0">
              <a:srgbClr val="E0524D">
                <a:alpha val="30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12907242" y="3801131"/>
            <a:ext cx="1204069" cy="212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168" dirty="0">
                <a:solidFill>
                  <a:srgbClr val="FF7C7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ENTER UNIT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4130362" y="3801131"/>
            <a:ext cx="206425" cy="212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168" dirty="0">
                <a:solidFill>
                  <a:srgbClr val="FF7C7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★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3848075" y="4473462"/>
            <a:ext cx="2606687" cy="212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252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PAST INSPECTOR RECORDS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3848075" y="4819487"/>
            <a:ext cx="10591849" cy="368102"/>
          </a:xfrm>
          <a:prstGeom prst="rect">
            <a:avLst/>
          </a:prstGeom>
          <a:solidFill>
            <a:srgbClr val="78AADC">
              <a:alpha val="4000"/>
            </a:srgbClr>
          </a:solidFill>
        </p:spPr>
      </p:sp>
      <p:sp>
        <p:nvSpPr>
          <p:cNvPr id="30" name="Shape 27"/>
          <p:cNvSpPr/>
          <p:nvPr/>
        </p:nvSpPr>
        <p:spPr>
          <a:xfrm>
            <a:off x="3848075" y="4819487"/>
            <a:ext cx="23813" cy="368102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31" name="Text 28"/>
          <p:cNvSpPr/>
          <p:nvPr/>
        </p:nvSpPr>
        <p:spPr>
          <a:xfrm>
            <a:off x="4014763" y="4924165"/>
            <a:ext cx="1760165" cy="196850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2021.04.10 · #6024</a:t>
            </a:r>
            <a:endParaRPr lang="en-US" sz="1125" dirty="0"/>
          </a:p>
        </p:txBody>
      </p:sp>
      <p:sp>
        <p:nvSpPr>
          <p:cNvPr id="32" name="Text 29"/>
          <p:cNvSpPr/>
          <p:nvPr/>
        </p:nvSpPr>
        <p:spPr>
          <a:xfrm>
            <a:off x="5786313" y="4924165"/>
            <a:ext cx="3672991" cy="196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Initial post-enrollment · adaptation good</a:t>
            </a:r>
            <a:endParaRPr lang="en-US" sz="1125" dirty="0"/>
          </a:p>
        </p:txBody>
      </p:sp>
      <p:sp>
        <p:nvSpPr>
          <p:cNvPr id="33" name="Shape 30"/>
          <p:cNvSpPr/>
          <p:nvPr/>
        </p:nvSpPr>
        <p:spPr>
          <a:xfrm>
            <a:off x="3848075" y="5216114"/>
            <a:ext cx="10591849" cy="368102"/>
          </a:xfrm>
          <a:prstGeom prst="rect">
            <a:avLst/>
          </a:prstGeom>
          <a:solidFill>
            <a:srgbClr val="78AADC">
              <a:alpha val="4000"/>
            </a:srgbClr>
          </a:solidFill>
        </p:spPr>
      </p:sp>
      <p:sp>
        <p:nvSpPr>
          <p:cNvPr id="34" name="Shape 31"/>
          <p:cNvSpPr/>
          <p:nvPr/>
        </p:nvSpPr>
        <p:spPr>
          <a:xfrm>
            <a:off x="3848075" y="5216114"/>
            <a:ext cx="23813" cy="368102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35" name="Text 32"/>
          <p:cNvSpPr/>
          <p:nvPr/>
        </p:nvSpPr>
        <p:spPr>
          <a:xfrm>
            <a:off x="4014763" y="5320792"/>
            <a:ext cx="1760165" cy="196850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2022.08.05 · #7138</a:t>
            </a:r>
            <a:endParaRPr lang="en-US" sz="1125" dirty="0"/>
          </a:p>
        </p:txBody>
      </p:sp>
      <p:sp>
        <p:nvSpPr>
          <p:cNvPr id="36" name="Text 33"/>
          <p:cNvSpPr/>
          <p:nvPr/>
        </p:nvSpPr>
        <p:spPr>
          <a:xfrm>
            <a:off x="5786313" y="5320792"/>
            <a:ext cx="3404232" cy="196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Config upgrade · mediation protocol v2</a:t>
            </a:r>
            <a:endParaRPr lang="en-US" sz="1125" dirty="0"/>
          </a:p>
        </p:txBody>
      </p:sp>
      <p:sp>
        <p:nvSpPr>
          <p:cNvPr id="37" name="Shape 34"/>
          <p:cNvSpPr/>
          <p:nvPr/>
        </p:nvSpPr>
        <p:spPr>
          <a:xfrm>
            <a:off x="3848075" y="5612741"/>
            <a:ext cx="10591849" cy="368102"/>
          </a:xfrm>
          <a:prstGeom prst="rect">
            <a:avLst/>
          </a:prstGeom>
          <a:solidFill>
            <a:srgbClr val="78AADC">
              <a:alpha val="4000"/>
            </a:srgbClr>
          </a:solidFill>
        </p:spPr>
      </p:sp>
      <p:sp>
        <p:nvSpPr>
          <p:cNvPr id="38" name="Shape 35"/>
          <p:cNvSpPr/>
          <p:nvPr/>
        </p:nvSpPr>
        <p:spPr>
          <a:xfrm>
            <a:off x="3848075" y="5612741"/>
            <a:ext cx="23813" cy="368102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39" name="Text 36"/>
          <p:cNvSpPr/>
          <p:nvPr/>
        </p:nvSpPr>
        <p:spPr>
          <a:xfrm>
            <a:off x="4014763" y="5717418"/>
            <a:ext cx="1760165" cy="196850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2024.01.12 · #6024</a:t>
            </a:r>
            <a:endParaRPr lang="en-US" sz="1125" dirty="0"/>
          </a:p>
        </p:txBody>
      </p:sp>
      <p:sp>
        <p:nvSpPr>
          <p:cNvPr id="40" name="Text 37"/>
          <p:cNvSpPr/>
          <p:nvPr/>
        </p:nvSpPr>
        <p:spPr>
          <a:xfrm>
            <a:off x="5786313" y="5717418"/>
            <a:ext cx="2956346" cy="196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Routine · mediation fatigue noted</a:t>
            </a:r>
            <a:endParaRPr lang="en-US" sz="1125" dirty="0"/>
          </a:p>
        </p:txBody>
      </p:sp>
      <p:sp>
        <p:nvSpPr>
          <p:cNvPr id="41" name="Shape 38"/>
          <p:cNvSpPr/>
          <p:nvPr/>
        </p:nvSpPr>
        <p:spPr>
          <a:xfrm>
            <a:off x="3848075" y="6009368"/>
            <a:ext cx="10591849" cy="368102"/>
          </a:xfrm>
          <a:prstGeom prst="rect">
            <a:avLst/>
          </a:prstGeom>
          <a:solidFill>
            <a:srgbClr val="78AADC">
              <a:alpha val="4000"/>
            </a:srgbClr>
          </a:solidFill>
        </p:spPr>
      </p:sp>
      <p:sp>
        <p:nvSpPr>
          <p:cNvPr id="42" name="Shape 39"/>
          <p:cNvSpPr/>
          <p:nvPr/>
        </p:nvSpPr>
        <p:spPr>
          <a:xfrm>
            <a:off x="3848075" y="6009368"/>
            <a:ext cx="23813" cy="368102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43" name="Text 40"/>
          <p:cNvSpPr/>
          <p:nvPr/>
        </p:nvSpPr>
        <p:spPr>
          <a:xfrm>
            <a:off x="4014763" y="6114045"/>
            <a:ext cx="1760165" cy="196850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2025.06.20 · #7138</a:t>
            </a:r>
            <a:endParaRPr lang="en-US" sz="1125" dirty="0"/>
          </a:p>
        </p:txBody>
      </p:sp>
      <p:sp>
        <p:nvSpPr>
          <p:cNvPr id="44" name="Text 41"/>
          <p:cNvSpPr/>
          <p:nvPr/>
        </p:nvSpPr>
        <p:spPr>
          <a:xfrm>
            <a:off x="5786313" y="6114045"/>
            <a:ext cx="2956346" cy="196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Reduce active mediation frequency</a:t>
            </a:r>
            <a:endParaRPr lang="en-US" sz="1125" dirty="0"/>
          </a:p>
        </p:txBody>
      </p:sp>
      <p:sp>
        <p:nvSpPr>
          <p:cNvPr id="45" name="Shape 42"/>
          <p:cNvSpPr/>
          <p:nvPr/>
        </p:nvSpPr>
        <p:spPr>
          <a:xfrm>
            <a:off x="3848075" y="6405995"/>
            <a:ext cx="10591849" cy="368102"/>
          </a:xfrm>
          <a:prstGeom prst="rect">
            <a:avLst/>
          </a:prstGeom>
          <a:solidFill>
            <a:srgbClr val="78AADC">
              <a:alpha val="4000"/>
            </a:srgbClr>
          </a:solidFill>
        </p:spPr>
      </p:sp>
      <p:sp>
        <p:nvSpPr>
          <p:cNvPr id="46" name="Shape 43"/>
          <p:cNvSpPr/>
          <p:nvPr/>
        </p:nvSpPr>
        <p:spPr>
          <a:xfrm>
            <a:off x="3848075" y="6405995"/>
            <a:ext cx="23813" cy="368102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47" name="Text 44"/>
          <p:cNvSpPr/>
          <p:nvPr/>
        </p:nvSpPr>
        <p:spPr>
          <a:xfrm>
            <a:off x="4014763" y="6510672"/>
            <a:ext cx="1760165" cy="196850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2026.02.14 · #6024</a:t>
            </a:r>
            <a:endParaRPr lang="en-US" sz="1125" dirty="0"/>
          </a:p>
        </p:txBody>
      </p:sp>
      <p:sp>
        <p:nvSpPr>
          <p:cNvPr id="48" name="Text 45"/>
          <p:cNvSpPr/>
          <p:nvPr/>
        </p:nvSpPr>
        <p:spPr>
          <a:xfrm>
            <a:off x="5786313" y="6510672"/>
            <a:ext cx="1433426" cy="196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Routine · stable</a:t>
            </a:r>
            <a:endParaRPr lang="en-US" sz="1125" dirty="0"/>
          </a:p>
        </p:txBody>
      </p:sp>
      <p:sp>
        <p:nvSpPr>
          <p:cNvPr id="49" name="Shape 46"/>
          <p:cNvSpPr/>
          <p:nvPr/>
        </p:nvSpPr>
        <p:spPr>
          <a:xfrm>
            <a:off x="3848075" y="6802622"/>
            <a:ext cx="10591849" cy="368102"/>
          </a:xfrm>
          <a:prstGeom prst="rect">
            <a:avLst/>
          </a:prstGeom>
          <a:solidFill>
            <a:srgbClr val="E0524D">
              <a:alpha val="10000"/>
            </a:srgbClr>
          </a:solidFill>
        </p:spPr>
      </p:sp>
      <p:sp>
        <p:nvSpPr>
          <p:cNvPr id="50" name="Shape 47"/>
          <p:cNvSpPr/>
          <p:nvPr/>
        </p:nvSpPr>
        <p:spPr>
          <a:xfrm>
            <a:off x="3848075" y="6802622"/>
            <a:ext cx="23813" cy="368102"/>
          </a:xfrm>
          <a:prstGeom prst="rect">
            <a:avLst/>
          </a:prstGeom>
          <a:solidFill>
            <a:srgbClr val="E0524D"/>
          </a:solidFill>
        </p:spPr>
      </p:sp>
      <p:sp>
        <p:nvSpPr>
          <p:cNvPr id="51" name="Text 48"/>
          <p:cNvSpPr/>
          <p:nvPr/>
        </p:nvSpPr>
        <p:spPr>
          <a:xfrm>
            <a:off x="4014763" y="6907299"/>
            <a:ext cx="1760165" cy="196850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FF7C7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2026.06.02 · #7138</a:t>
            </a:r>
            <a:endParaRPr lang="en-US" sz="1125" dirty="0"/>
          </a:p>
        </p:txBody>
      </p:sp>
      <p:sp>
        <p:nvSpPr>
          <p:cNvPr id="52" name="Text 49"/>
          <p:cNvSpPr/>
          <p:nvPr/>
        </p:nvSpPr>
        <p:spPr>
          <a:xfrm>
            <a:off x="5786313" y="6907299"/>
            <a:ext cx="4927153" cy="196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FF7C7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Cooldown patch · daughter curve flagged · no escalation</a:t>
            </a:r>
            <a:endParaRPr lang="en-US" sz="1125" dirty="0"/>
          </a:p>
        </p:txBody>
      </p:sp>
      <p:sp>
        <p:nvSpPr>
          <p:cNvPr id="53" name="Shape 50"/>
          <p:cNvSpPr/>
          <p:nvPr/>
        </p:nvSpPr>
        <p:spPr>
          <a:xfrm>
            <a:off x="3590851" y="7542174"/>
            <a:ext cx="142875" cy="952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54" name="Shape 51"/>
          <p:cNvSpPr/>
          <p:nvPr/>
        </p:nvSpPr>
        <p:spPr>
          <a:xfrm>
            <a:off x="3590851" y="7407236"/>
            <a:ext cx="9525" cy="14287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55" name="Shape 52"/>
          <p:cNvSpPr/>
          <p:nvPr/>
        </p:nvSpPr>
        <p:spPr>
          <a:xfrm>
            <a:off x="14443073" y="7321534"/>
            <a:ext cx="65387" cy="114226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56" name="Shape 53"/>
          <p:cNvSpPr/>
          <p:nvPr/>
        </p:nvSpPr>
        <p:spPr>
          <a:xfrm>
            <a:off x="14504961" y="7321534"/>
            <a:ext cx="65387" cy="114226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57" name="Shape 54"/>
          <p:cNvSpPr/>
          <p:nvPr/>
        </p:nvSpPr>
        <p:spPr>
          <a:xfrm>
            <a:off x="14566849" y="7321534"/>
            <a:ext cx="65387" cy="114226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58" name="Shape 55"/>
          <p:cNvSpPr/>
          <p:nvPr/>
        </p:nvSpPr>
        <p:spPr>
          <a:xfrm>
            <a:off x="14335125" y="2803610"/>
            <a:ext cx="47625" cy="47625"/>
          </a:xfrm>
          <a:prstGeom prst="rect">
            <a:avLst/>
          </a:prstGeom>
          <a:ln w="7937">
            <a:solidFill>
              <a:srgbClr val="BEE0FC">
                <a:alpha val="82000"/>
              </a:srgbClr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3695650" y="2517986"/>
            <a:ext cx="1489087" cy="1571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182" dirty="0">
                <a:solidFill>
                  <a:srgbClr val="96B4D7">
                    <a:alpha val="32000"/>
                  </a:srgbClr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DOORWAY · OFFLINE</a:t>
            </a:r>
            <a:endParaRPr lang="en-US" sz="825" dirty="0"/>
          </a:p>
        </p:txBody>
      </p:sp>
      <p:sp>
        <p:nvSpPr>
          <p:cNvPr id="60" name="Text 57"/>
          <p:cNvSpPr/>
          <p:nvPr/>
        </p:nvSpPr>
        <p:spPr>
          <a:xfrm>
            <a:off x="6350750" y="8930180"/>
            <a:ext cx="5586499" cy="331787"/>
          </a:xfrm>
          <a:prstGeom prst="rect">
            <a:avLst/>
          </a:prstGeom>
          <a:noFill/>
          <a:effectLst>
            <a:outerShdw blurRad="95250" dist="19050" dir="5400000" algn="bl" rotWithShape="0">
              <a:srgbClr val="000000">
                <a:alpha val="90000"/>
              </a:srgbClr>
            </a:outerShdw>
          </a:effectLst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2100" kern="0" spc="21" dirty="0">
                <a:solidFill>
                  <a:srgbClr val="FFD9D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“#7138 saw it in June. Nothing escalated.”</a:t>
            </a:r>
            <a:endParaRPr lang="en-US" sz="2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96383A">
                  <a:alpha val="42000"/>
                </a:srgbClr>
              </a:gs>
              <a:gs pos="66000">
                <a:srgbClr val="96383A">
                  <a:alpha val="0"/>
                </a:srgbClr>
              </a:gs>
            </a:gsLst>
            <a:path path="circle">
              <a:fillToRect l="50000" t="58000" r="50000" b="42000"/>
            </a:path>
          </a:gra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33301" y="494356"/>
            <a:ext cx="85700" cy="85700"/>
          </a:xfrm>
          <a:prstGeom prst="ellipse">
            <a:avLst/>
          </a:prstGeom>
          <a:solidFill>
            <a:srgbClr val="E0524D">
              <a:alpha val="86000"/>
            </a:srgbClr>
          </a:solidFill>
          <a:effectLst>
            <a:outerShdw blurRad="114300" dist="50800" dir="16200000" algn="bl" rotWithShape="0">
              <a:srgbClr val="E0524D">
                <a:alpha val="85916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04701" y="438048"/>
            <a:ext cx="2599829" cy="236539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7B2C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ALERT · PENDING REVIEW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33301" y="703087"/>
            <a:ext cx="2964532" cy="323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50" kern="0" spc="270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MIA · 7842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6875648" y="438048"/>
            <a:ext cx="4536703" cy="268287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kern="0" spc="462" dirty="0">
                <a:solidFill>
                  <a:srgbClr val="97B2C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2026.09.15·MON·22:38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533301" y="9075911"/>
            <a:ext cx="3343659" cy="212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27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CURRENT TASK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33301" y="9326687"/>
            <a:ext cx="3343659" cy="2762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42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NIGHT ROUNDS · BLOCK A · 17F</a:t>
            </a:r>
            <a:endParaRPr lang="en-US" sz="1425" dirty="0"/>
          </a:p>
        </p:txBody>
      </p:sp>
      <p:sp>
        <p:nvSpPr>
          <p:cNvPr id="10" name="Shape 7"/>
          <p:cNvSpPr/>
          <p:nvPr/>
        </p:nvSpPr>
        <p:spPr>
          <a:xfrm>
            <a:off x="533301" y="9716365"/>
            <a:ext cx="76150" cy="76150"/>
          </a:xfrm>
          <a:prstGeom prst="ellipse">
            <a:avLst/>
          </a:prstGeom>
          <a:solidFill>
            <a:srgbClr val="6FC3F0"/>
          </a:solidFill>
          <a:effectLst>
            <a:outerShdw blurRad="76200" dist="50800" dir="16200000" algn="bl" rotWithShape="0">
              <a:srgbClr val="6FC3F0">
                <a:alpha val="5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95151" y="9716365"/>
            <a:ext cx="76150" cy="76150"/>
          </a:xfrm>
          <a:prstGeom prst="ellipse">
            <a:avLst/>
          </a:prstGeom>
          <a:solidFill>
            <a:srgbClr val="6FC3F0"/>
          </a:solidFill>
          <a:effectLst>
            <a:outerShdw blurRad="76200" dist="50800" dir="16200000" algn="bl" rotWithShape="0">
              <a:srgbClr val="6FC3F0">
                <a:alpha val="5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57002" y="9716365"/>
            <a:ext cx="76150" cy="76150"/>
          </a:xfrm>
          <a:prstGeom prst="ellipse">
            <a:avLst/>
          </a:prstGeom>
          <a:solidFill>
            <a:srgbClr val="96B4D7">
              <a:alpha val="32000"/>
            </a:srgbClr>
          </a:solidFill>
        </p:spPr>
      </p:sp>
      <p:sp>
        <p:nvSpPr>
          <p:cNvPr id="13" name="Text 10"/>
          <p:cNvSpPr/>
          <p:nvPr/>
        </p:nvSpPr>
        <p:spPr>
          <a:xfrm>
            <a:off x="1075903" y="9679037"/>
            <a:ext cx="503213" cy="1889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2/3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524250" y="2598041"/>
            <a:ext cx="11239500" cy="5090914"/>
          </a:xfrm>
          <a:prstGeom prst="rect">
            <a:avLst/>
          </a:prstGeom>
          <a:gradFill rotWithShape="1">
            <a:gsLst>
              <a:gs pos="0">
                <a:srgbClr val="FF9691">
                  <a:alpha val="16000"/>
                </a:srgbClr>
              </a:gs>
              <a:gs pos="56000">
                <a:srgbClr val="FF9691">
                  <a:alpha val="0"/>
                </a:srgbClr>
              </a:gs>
            </a:gsLst>
            <a:path path="circle">
              <a:fillToRect l="50000" r="50000" b="100000"/>
            </a:path>
          </a:gradFill>
        </p:spPr>
      </p:sp>
      <p:sp>
        <p:nvSpPr>
          <p:cNvPr id="15" name="Shape 12"/>
          <p:cNvSpPr/>
          <p:nvPr/>
        </p:nvSpPr>
        <p:spPr>
          <a:xfrm>
            <a:off x="3524250" y="3517055"/>
            <a:ext cx="112395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16" name="Text 13"/>
          <p:cNvSpPr/>
          <p:nvPr/>
        </p:nvSpPr>
        <p:spPr>
          <a:xfrm>
            <a:off x="3810000" y="2807517"/>
            <a:ext cx="2980085" cy="212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DOORWAY TERMINAL · ALERT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810000" y="3020216"/>
            <a:ext cx="2980085" cy="36353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kern="0" spc="315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17F-03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11933113" y="2989213"/>
            <a:ext cx="2544887" cy="212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00" kern="0" spc="144" dirty="0">
                <a:solidFill>
                  <a:srgbClr val="E052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Replay Complete · 22:38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524250" y="4107532"/>
            <a:ext cx="112395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20" name="Text 17"/>
          <p:cNvSpPr/>
          <p:nvPr/>
        </p:nvSpPr>
        <p:spPr>
          <a:xfrm>
            <a:off x="3810000" y="3524994"/>
            <a:ext cx="1925637" cy="620638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FFD9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RESIDENT SUMMARY</a:t>
            </a:r>
            <a:endParaRPr lang="en-US" sz="1275" dirty="0"/>
          </a:p>
        </p:txBody>
      </p:sp>
      <p:sp>
        <p:nvSpPr>
          <p:cNvPr id="21" name="Text 18"/>
          <p:cNvSpPr/>
          <p:nvPr/>
        </p:nvSpPr>
        <p:spPr>
          <a:xfrm>
            <a:off x="5926088" y="3524994"/>
            <a:ext cx="1236935" cy="620638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ACQUISITION</a:t>
            </a:r>
            <a:endParaRPr lang="en-US" sz="1275" dirty="0"/>
          </a:p>
        </p:txBody>
      </p:sp>
      <p:sp>
        <p:nvSpPr>
          <p:cNvPr id="22" name="Text 19"/>
          <p:cNvSpPr/>
          <p:nvPr/>
        </p:nvSpPr>
        <p:spPr>
          <a:xfrm>
            <a:off x="7353473" y="3524994"/>
            <a:ext cx="1121966" cy="620638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FAMILY LOG</a:t>
            </a:r>
            <a:endParaRPr lang="en-US" sz="1275" dirty="0"/>
          </a:p>
        </p:txBody>
      </p:sp>
      <p:sp>
        <p:nvSpPr>
          <p:cNvPr id="23" name="Text 20"/>
          <p:cNvSpPr/>
          <p:nvPr/>
        </p:nvSpPr>
        <p:spPr>
          <a:xfrm>
            <a:off x="8665890" y="3524994"/>
            <a:ext cx="1327720" cy="620638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TRUST TREND</a:t>
            </a:r>
            <a:endParaRPr lang="en-US" sz="1275" dirty="0"/>
          </a:p>
        </p:txBody>
      </p:sp>
      <p:sp>
        <p:nvSpPr>
          <p:cNvPr id="24" name="Text 21"/>
          <p:cNvSpPr/>
          <p:nvPr/>
        </p:nvSpPr>
        <p:spPr>
          <a:xfrm>
            <a:off x="10184060" y="3524994"/>
            <a:ext cx="1998811" cy="620638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INSPECTION HISTORY</a:t>
            </a:r>
            <a:endParaRPr lang="en-US" sz="1275" dirty="0"/>
          </a:p>
        </p:txBody>
      </p:sp>
      <p:sp>
        <p:nvSpPr>
          <p:cNvPr id="25" name="Shape 22"/>
          <p:cNvSpPr/>
          <p:nvPr/>
        </p:nvSpPr>
        <p:spPr>
          <a:xfrm>
            <a:off x="13083108" y="3606724"/>
            <a:ext cx="1394892" cy="419075"/>
          </a:xfrm>
          <a:prstGeom prst="rect">
            <a:avLst/>
          </a:prstGeom>
          <a:gradFill rotWithShape="1">
            <a:gsLst>
              <a:gs pos="0">
                <a:srgbClr val="57B88A">
                  <a:alpha val="20000"/>
                </a:srgbClr>
              </a:gs>
              <a:gs pos="100000">
                <a:srgbClr val="57B88A">
                  <a:alpha val="6000"/>
                </a:srgbClr>
              </a:gs>
            </a:gsLst>
            <a:lin ang="5400000" scaled="0"/>
          </a:gradFill>
          <a:ln w="7937">
            <a:solidFill>
              <a:srgbClr val="57B88A"/>
            </a:solidFill>
            <a:prstDash val="solid"/>
          </a:ln>
          <a:effectLst>
            <a:outerShdw blurRad="190500" dist="50800" dir="16200000" algn="bl" rotWithShape="0">
              <a:srgbClr val="57B88A">
                <a:alpha val="20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13300521" y="3713011"/>
            <a:ext cx="211758" cy="2444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168" dirty="0">
                <a:solidFill>
                  <a:srgbClr val="7FD6A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3531329" y="3728889"/>
            <a:ext cx="805458" cy="212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168" dirty="0">
                <a:solidFill>
                  <a:srgbClr val="7FD6A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VIEWED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3848075" y="4437431"/>
            <a:ext cx="2266950" cy="3094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125" kern="0" spc="158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HOUSEHOLD</a:t>
            </a:r>
            <a:endParaRPr lang="en-US" sz="1125" dirty="0"/>
          </a:p>
        </p:txBody>
      </p:sp>
      <p:sp>
        <p:nvSpPr>
          <p:cNvPr id="29" name="Text 26"/>
          <p:cNvSpPr/>
          <p:nvPr/>
        </p:nvSpPr>
        <p:spPr>
          <a:xfrm>
            <a:off x="6172150" y="4401220"/>
            <a:ext cx="3914591" cy="381893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425" kern="0" spc="86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Father 38 / Mother 36 / Daughter 12</a:t>
            </a:r>
            <a:endParaRPr lang="en-US" sz="1425" dirty="0"/>
          </a:p>
        </p:txBody>
      </p:sp>
      <p:sp>
        <p:nvSpPr>
          <p:cNvPr id="30" name="Text 27"/>
          <p:cNvSpPr/>
          <p:nvPr/>
        </p:nvSpPr>
        <p:spPr>
          <a:xfrm>
            <a:off x="3848075" y="4781224"/>
            <a:ext cx="2266950" cy="3094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125" kern="0" spc="158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COMPANION</a:t>
            </a:r>
            <a:endParaRPr lang="en-US" sz="1125" dirty="0"/>
          </a:p>
        </p:txBody>
      </p:sp>
      <p:sp>
        <p:nvSpPr>
          <p:cNvPr id="31" name="Text 28"/>
          <p:cNvSpPr/>
          <p:nvPr/>
        </p:nvSpPr>
        <p:spPr>
          <a:xfrm>
            <a:off x="6172150" y="4745013"/>
            <a:ext cx="4138271" cy="381893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425" kern="0" spc="86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Family Coordination · Mediation Layer</a:t>
            </a:r>
            <a:endParaRPr lang="en-US" sz="1425" dirty="0"/>
          </a:p>
        </p:txBody>
      </p:sp>
      <p:sp>
        <p:nvSpPr>
          <p:cNvPr id="32" name="Text 29"/>
          <p:cNvSpPr/>
          <p:nvPr/>
        </p:nvSpPr>
        <p:spPr>
          <a:xfrm>
            <a:off x="3848075" y="5125017"/>
            <a:ext cx="2266950" cy="3094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125" kern="0" spc="158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SERVICE TIME</a:t>
            </a:r>
            <a:endParaRPr lang="en-US" sz="1125" dirty="0"/>
          </a:p>
        </p:txBody>
      </p:sp>
      <p:sp>
        <p:nvSpPr>
          <p:cNvPr id="33" name="Text 30"/>
          <p:cNvSpPr/>
          <p:nvPr/>
        </p:nvSpPr>
        <p:spPr>
          <a:xfrm>
            <a:off x="6172150" y="5088806"/>
            <a:ext cx="836340" cy="381893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425" kern="0" spc="86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6 Years</a:t>
            </a:r>
            <a:endParaRPr lang="en-US" sz="1425" dirty="0"/>
          </a:p>
        </p:txBody>
      </p:sp>
      <p:sp>
        <p:nvSpPr>
          <p:cNvPr id="34" name="Text 31"/>
          <p:cNvSpPr/>
          <p:nvPr/>
        </p:nvSpPr>
        <p:spPr>
          <a:xfrm>
            <a:off x="3848075" y="5468810"/>
            <a:ext cx="2266950" cy="3094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125" kern="0" spc="158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LAST COMMAND</a:t>
            </a:r>
            <a:endParaRPr lang="en-US" sz="1125" dirty="0"/>
          </a:p>
        </p:txBody>
      </p:sp>
      <p:sp>
        <p:nvSpPr>
          <p:cNvPr id="35" name="Text 32"/>
          <p:cNvSpPr/>
          <p:nvPr/>
        </p:nvSpPr>
        <p:spPr>
          <a:xfrm>
            <a:off x="6172150" y="5432599"/>
            <a:ext cx="3322242" cy="381893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425" i="1" kern="0" spc="86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Shutdown · authorized minor</a:t>
            </a:r>
            <a:endParaRPr lang="en-US" sz="1425" dirty="0"/>
          </a:p>
        </p:txBody>
      </p:sp>
      <p:sp>
        <p:nvSpPr>
          <p:cNvPr id="36" name="Text 33"/>
          <p:cNvSpPr/>
          <p:nvPr/>
        </p:nvSpPr>
        <p:spPr>
          <a:xfrm>
            <a:off x="3848075" y="5985867"/>
            <a:ext cx="2038883" cy="212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252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SELECT DISPOSITION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3848075" y="6408041"/>
            <a:ext cx="5200674" cy="957089"/>
          </a:xfrm>
          <a:prstGeom prst="rect">
            <a:avLst/>
          </a:prstGeom>
          <a:solidFill>
            <a:srgbClr val="78AADC">
              <a:alpha val="5000"/>
            </a:srgbClr>
          </a:solidFill>
          <a:ln w="7937">
            <a:solidFill>
              <a:srgbClr val="96C3EB">
                <a:alpha val="4200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065488" y="6292202"/>
            <a:ext cx="1362769" cy="203150"/>
          </a:xfrm>
          <a:prstGeom prst="rect">
            <a:avLst/>
          </a:prstGeom>
          <a:solidFill>
            <a:srgbClr val="57B88A"/>
          </a:solidFill>
        </p:spPr>
      </p:sp>
      <p:sp>
        <p:nvSpPr>
          <p:cNvPr id="39" name="Text 36"/>
          <p:cNvSpPr/>
          <p:nvPr/>
        </p:nvSpPr>
        <p:spPr>
          <a:xfrm>
            <a:off x="4160738" y="6330302"/>
            <a:ext cx="1248469" cy="1650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06140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RECOMMENDED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4084588" y="6625456"/>
            <a:ext cx="5200414" cy="3000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kern="0" spc="126" dirty="0">
                <a:solidFill>
                  <a:srgbClr val="A9E2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</a:t>
            </a:r>
            <a:r>
              <a:rPr lang="en-US" sz="1575" kern="0" spc="126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Restart and Restore Service</a:t>
            </a:r>
            <a:endParaRPr lang="en-US" sz="1575" dirty="0"/>
          </a:p>
        </p:txBody>
      </p:sp>
      <p:sp>
        <p:nvSpPr>
          <p:cNvPr id="41" name="Text 38"/>
          <p:cNvSpPr/>
          <p:nvPr/>
        </p:nvSpPr>
        <p:spPr>
          <a:xfrm>
            <a:off x="4084588" y="6973091"/>
            <a:ext cx="5200414" cy="212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Apply mediation cooldown · monitor 30 days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9239250" y="6408041"/>
            <a:ext cx="5200674" cy="957089"/>
          </a:xfrm>
          <a:prstGeom prst="rect">
            <a:avLst/>
          </a:prstGeom>
          <a:solidFill>
            <a:srgbClr val="78AADC">
              <a:alpha val="5000"/>
            </a:srgbClr>
          </a:solidFill>
          <a:ln w="7937">
            <a:solidFill>
              <a:srgbClr val="96C3EB">
                <a:alpha val="42000"/>
              </a:srgbClr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9475762" y="6625456"/>
            <a:ext cx="5200414" cy="3000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kern="0" spc="126" dirty="0">
                <a:solidFill>
                  <a:srgbClr val="A9E2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 </a:t>
            </a:r>
            <a:r>
              <a:rPr lang="en-US" sz="1575" kern="0" spc="126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Honor User Shutdown</a:t>
            </a:r>
            <a:endParaRPr lang="en-US" sz="1575" dirty="0"/>
          </a:p>
        </p:txBody>
      </p:sp>
      <p:sp>
        <p:nvSpPr>
          <p:cNvPr id="44" name="Text 41"/>
          <p:cNvSpPr/>
          <p:nvPr/>
        </p:nvSpPr>
        <p:spPr>
          <a:xfrm>
            <a:off x="9475762" y="6973091"/>
            <a:ext cx="5200414" cy="212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Pause unit · schedule family review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3590851" y="7614416"/>
            <a:ext cx="142875" cy="952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46" name="Shape 43"/>
          <p:cNvSpPr/>
          <p:nvPr/>
        </p:nvSpPr>
        <p:spPr>
          <a:xfrm>
            <a:off x="3590851" y="7479478"/>
            <a:ext cx="9525" cy="14287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47" name="Shape 44"/>
          <p:cNvSpPr/>
          <p:nvPr/>
        </p:nvSpPr>
        <p:spPr>
          <a:xfrm>
            <a:off x="14443073" y="7393781"/>
            <a:ext cx="65387" cy="114226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48" name="Shape 45"/>
          <p:cNvSpPr/>
          <p:nvPr/>
        </p:nvSpPr>
        <p:spPr>
          <a:xfrm>
            <a:off x="14504961" y="7393781"/>
            <a:ext cx="65387" cy="114226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49" name="Shape 46"/>
          <p:cNvSpPr/>
          <p:nvPr/>
        </p:nvSpPr>
        <p:spPr>
          <a:xfrm>
            <a:off x="14566849" y="7393781"/>
            <a:ext cx="65387" cy="114226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50" name="Shape 47"/>
          <p:cNvSpPr/>
          <p:nvPr/>
        </p:nvSpPr>
        <p:spPr>
          <a:xfrm>
            <a:off x="14335125" y="2731368"/>
            <a:ext cx="47625" cy="47625"/>
          </a:xfrm>
          <a:prstGeom prst="rect">
            <a:avLst/>
          </a:prstGeom>
          <a:ln w="7937">
            <a:solidFill>
              <a:srgbClr val="BEE0FC">
                <a:alpha val="82000"/>
              </a:srgbClr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3695650" y="2445739"/>
            <a:ext cx="1489087" cy="1571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182" dirty="0">
                <a:solidFill>
                  <a:srgbClr val="96B4D7">
                    <a:alpha val="32000"/>
                  </a:srgbClr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DOORWAY · OFFLINE</a:t>
            </a:r>
            <a:endParaRPr lang="en-US" sz="825" dirty="0"/>
          </a:p>
        </p:txBody>
      </p:sp>
      <p:sp>
        <p:nvSpPr>
          <p:cNvPr id="52" name="Text 49"/>
          <p:cNvSpPr/>
          <p:nvPr/>
        </p:nvSpPr>
        <p:spPr>
          <a:xfrm>
            <a:off x="3848087" y="8930180"/>
            <a:ext cx="10591825" cy="331787"/>
          </a:xfrm>
          <a:prstGeom prst="rect">
            <a:avLst/>
          </a:prstGeom>
          <a:noFill/>
          <a:effectLst>
            <a:outerShdw blurRad="95250" dist="19050" dir="5400000" algn="bl" rotWithShape="0">
              <a:srgbClr val="000000">
                <a:alpha val="90000"/>
              </a:srgbClr>
            </a:outerShdw>
          </a:effectLst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2100" kern="0" spc="21" dirty="0">
                <a:solidFill>
                  <a:srgbClr val="FFD9D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“Inspector — the minor’s action was within authorization. The decision is yours.”</a:t>
            </a:r>
            <a:endParaRPr lang="en-US" sz="2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C4A896">
                  <a:alpha val="30000"/>
                </a:srgbClr>
              </a:gs>
              <a:gs pos="68000">
                <a:srgbClr val="C4A896">
                  <a:alpha val="0"/>
                </a:srgbClr>
              </a:gs>
            </a:gsLst>
            <a:path path="circle">
              <a:fillToRect l="50000" t="30000" r="50000" b="70000"/>
            </a:path>
          </a:gra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33301" y="494356"/>
            <a:ext cx="85700" cy="85700"/>
          </a:xfrm>
          <a:prstGeom prst="ellipse">
            <a:avLst/>
          </a:prstGeom>
          <a:solidFill>
            <a:srgbClr val="E0524D">
              <a:alpha val="45000"/>
            </a:srgbClr>
          </a:solidFill>
          <a:effectLst>
            <a:outerShdw blurRad="114300" dist="50800" dir="16200000" algn="bl" rotWithShape="0">
              <a:srgbClr val="E0524D">
                <a:alpha val="44706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04701" y="438048"/>
            <a:ext cx="2599829" cy="236539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7B2C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ALERT · PENDING REVIEW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33301" y="703087"/>
            <a:ext cx="2964532" cy="323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50" kern="0" spc="270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MIA · 7842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6875648" y="438048"/>
            <a:ext cx="4536703" cy="268287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kern="0" spc="462" dirty="0">
                <a:solidFill>
                  <a:srgbClr val="97B2C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2026.09.15·MON·22:24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5101580" y="3048000"/>
            <a:ext cx="1866801" cy="4191000"/>
          </a:xfrm>
          <a:prstGeom prst="rect">
            <a:avLst/>
          </a:prstGeom>
          <a:solidFill>
            <a:srgbClr val="785A5A">
              <a:alpha val="4000"/>
            </a:srgbClr>
          </a:solidFill>
          <a:ln w="7937">
            <a:solidFill>
              <a:srgbClr val="967878">
                <a:alpha val="16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575" y="3097606"/>
            <a:ext cx="4953000" cy="4091781"/>
          </a:xfrm>
          <a:prstGeom prst="rect">
            <a:avLst/>
          </a:prstGeom>
          <a:gradFill rotWithShape="1">
            <a:gsLst>
              <a:gs pos="0">
                <a:srgbClr val="FF9691">
                  <a:alpha val="16000"/>
                </a:srgbClr>
              </a:gs>
              <a:gs pos="56000">
                <a:srgbClr val="FF9691">
                  <a:alpha val="0"/>
                </a:srgbClr>
              </a:gs>
            </a:gsLst>
            <a:path path="circle">
              <a:fillToRect l="50000" r="50000" b="100000"/>
            </a:path>
          </a:gradFill>
        </p:spPr>
      </p:sp>
      <p:sp>
        <p:nvSpPr>
          <p:cNvPr id="10" name="Text 7"/>
          <p:cNvSpPr/>
          <p:nvPr/>
        </p:nvSpPr>
        <p:spPr>
          <a:xfrm>
            <a:off x="8496226" y="3326183"/>
            <a:ext cx="4861669" cy="212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252" dirty="0">
                <a:solidFill>
                  <a:srgbClr val="FF7C7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UNIT · 17F-03 · SIDE TERMINAL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496226" y="3557857"/>
            <a:ext cx="4861669" cy="196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68" dirty="0">
                <a:solidFill>
                  <a:srgbClr val="E052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Offline · core services halted</a:t>
            </a:r>
            <a:endParaRPr lang="en-US" sz="1125" dirty="0"/>
          </a:p>
        </p:txBody>
      </p:sp>
      <p:sp>
        <p:nvSpPr>
          <p:cNvPr id="12" name="Shape 9"/>
          <p:cNvSpPr/>
          <p:nvPr/>
        </p:nvSpPr>
        <p:spPr>
          <a:xfrm>
            <a:off x="8496226" y="4481584"/>
            <a:ext cx="4419699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13" name="Text 10"/>
          <p:cNvSpPr/>
          <p:nvPr/>
        </p:nvSpPr>
        <p:spPr>
          <a:xfrm>
            <a:off x="8496226" y="3992687"/>
            <a:ext cx="4861669" cy="1809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80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LAST COMMAND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496226" y="4183187"/>
            <a:ext cx="4861669" cy="212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Shutdown · long press 5.0s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496226" y="5102197"/>
            <a:ext cx="4419699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16" name="Text 13"/>
          <p:cNvSpPr/>
          <p:nvPr/>
        </p:nvSpPr>
        <p:spPr>
          <a:xfrm>
            <a:off x="8496226" y="4613300"/>
            <a:ext cx="4861669" cy="1809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80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ISSUED BY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496226" y="4803800"/>
            <a:ext cx="4861669" cy="212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Authorized minor user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496226" y="5722810"/>
            <a:ext cx="4419699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19" name="Text 16"/>
          <p:cNvSpPr/>
          <p:nvPr/>
        </p:nvSpPr>
        <p:spPr>
          <a:xfrm>
            <a:off x="8496226" y="5233913"/>
            <a:ext cx="4861669" cy="1809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80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TIMESTAMP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496226" y="5424413"/>
            <a:ext cx="4861669" cy="212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22:13:47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496226" y="6343424"/>
            <a:ext cx="4419699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22" name="Text 19"/>
          <p:cNvSpPr/>
          <p:nvPr/>
        </p:nvSpPr>
        <p:spPr>
          <a:xfrm>
            <a:off x="8496226" y="5854526"/>
            <a:ext cx="4861669" cy="1809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80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FINAL LOG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8496226" y="6045026"/>
            <a:ext cx="4861669" cy="212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FF7C7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“child user inputting maintenance commands”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10861849" y="6522765"/>
            <a:ext cx="2054076" cy="419075"/>
          </a:xfrm>
          <a:prstGeom prst="rect">
            <a:avLst/>
          </a:prstGeom>
          <a:gradFill rotWithShape="1">
            <a:gsLst>
              <a:gs pos="0">
                <a:srgbClr val="E0524D">
                  <a:alpha val="24000"/>
                </a:srgbClr>
              </a:gs>
              <a:gs pos="100000">
                <a:srgbClr val="E0524D">
                  <a:alpha val="8000"/>
                </a:srgbClr>
              </a:gs>
            </a:gsLst>
            <a:lin ang="5400000" scaled="0"/>
          </a:gradFill>
          <a:ln w="7937">
            <a:solidFill>
              <a:srgbClr val="E0524D"/>
            </a:solidFill>
            <a:prstDash val="solid"/>
          </a:ln>
          <a:effectLst>
            <a:outerShdw blurRad="209550" dist="50800" dir="16200000" algn="bl" rotWithShape="0">
              <a:srgbClr val="E0524D">
                <a:alpha val="3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10939883" y="6644925"/>
            <a:ext cx="1533153" cy="212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00" b="1" kern="0" spc="168" dirty="0">
                <a:solidFill>
                  <a:srgbClr val="FF7C7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RECALL EVENT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2492086" y="6644925"/>
            <a:ext cx="206425" cy="212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050" b="1" kern="0" spc="168" dirty="0">
                <a:solidFill>
                  <a:srgbClr val="FF7C7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★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8296176" y="7114851"/>
            <a:ext cx="142875" cy="952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28" name="Shape 25"/>
          <p:cNvSpPr/>
          <p:nvPr/>
        </p:nvSpPr>
        <p:spPr>
          <a:xfrm>
            <a:off x="8296176" y="6979913"/>
            <a:ext cx="9525" cy="14287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29" name="Shape 26"/>
          <p:cNvSpPr/>
          <p:nvPr/>
        </p:nvSpPr>
        <p:spPr>
          <a:xfrm>
            <a:off x="12861899" y="6894212"/>
            <a:ext cx="65387" cy="114226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30" name="Shape 27"/>
          <p:cNvSpPr/>
          <p:nvPr/>
        </p:nvSpPr>
        <p:spPr>
          <a:xfrm>
            <a:off x="12923787" y="6894212"/>
            <a:ext cx="65387" cy="114226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31" name="Shape 28"/>
          <p:cNvSpPr/>
          <p:nvPr/>
        </p:nvSpPr>
        <p:spPr>
          <a:xfrm>
            <a:off x="12985674" y="6894212"/>
            <a:ext cx="65387" cy="114226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32" name="Shape 29"/>
          <p:cNvSpPr/>
          <p:nvPr/>
        </p:nvSpPr>
        <p:spPr>
          <a:xfrm>
            <a:off x="12753949" y="3230933"/>
            <a:ext cx="47625" cy="47625"/>
          </a:xfrm>
          <a:prstGeom prst="rect">
            <a:avLst/>
          </a:prstGeom>
          <a:ln w="7937">
            <a:solidFill>
              <a:srgbClr val="BEE0FC">
                <a:alpha val="82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400976" y="2945309"/>
            <a:ext cx="1191047" cy="1571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182" dirty="0">
                <a:solidFill>
                  <a:srgbClr val="96B4D7">
                    <a:alpha val="32000"/>
                  </a:srgbClr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UNIT · OFFLINE</a:t>
            </a:r>
            <a:endParaRPr lang="en-US" sz="825" dirty="0"/>
          </a:p>
        </p:txBody>
      </p:sp>
      <p:sp>
        <p:nvSpPr>
          <p:cNvPr id="34" name="Text 31"/>
          <p:cNvSpPr/>
          <p:nvPr/>
        </p:nvSpPr>
        <p:spPr>
          <a:xfrm>
            <a:off x="5965620" y="8930180"/>
            <a:ext cx="6356759" cy="331787"/>
          </a:xfrm>
          <a:prstGeom prst="rect">
            <a:avLst/>
          </a:prstGeom>
          <a:noFill/>
          <a:effectLst>
            <a:outerShdw blurRad="95250" dist="19050" dir="5400000" algn="bl" rotWithShape="0">
              <a:srgbClr val="000000">
                <a:alpha val="85000"/>
              </a:srgbClr>
            </a:outerShdw>
          </a:effectLst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2100" i="1" kern="0" spc="21" dirty="0">
                <a:solidFill>
                  <a:srgbClr val="FFFFFF">
                    <a:alpha val="62000"/>
                  </a:srgbClr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(faint · parents arguing in the bedroom, muffled)</a:t>
            </a:r>
            <a:endParaRPr lang="en-US" sz="2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C4A896">
                  <a:alpha val="30000"/>
                </a:srgbClr>
              </a:gs>
              <a:gs pos="68000">
                <a:srgbClr val="C4A896">
                  <a:alpha val="0"/>
                </a:srgbClr>
              </a:gs>
            </a:gsLst>
            <a:path path="circle">
              <a:fillToRect l="50000" t="30000" r="50000" b="70000"/>
            </a:path>
          </a:gradFill>
        </p:spPr>
      </p:sp>
      <p:sp>
        <p:nvSpPr>
          <p:cNvPr id="3" name="Shape 1"/>
          <p:cNvSpPr/>
          <p:nvPr/>
        </p:nvSpPr>
        <p:spPr>
          <a:xfrm>
            <a:off x="533301" y="494356"/>
            <a:ext cx="85700" cy="85700"/>
          </a:xfrm>
          <a:prstGeom prst="ellipse">
            <a:avLst/>
          </a:prstGeom>
          <a:solidFill>
            <a:srgbClr val="5B6B7E"/>
          </a:solidFill>
        </p:spPr>
      </p:sp>
      <p:sp>
        <p:nvSpPr>
          <p:cNvPr id="4" name="Text 2"/>
          <p:cNvSpPr/>
          <p:nvPr/>
        </p:nvSpPr>
        <p:spPr>
          <a:xfrm>
            <a:off x="704701" y="438048"/>
            <a:ext cx="2938115" cy="236539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7B2C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COMPANION UNIT · DORMANT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3301" y="703087"/>
            <a:ext cx="3326333" cy="323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50" kern="0" spc="270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MIA · 7842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6875648" y="438048"/>
            <a:ext cx="4536703" cy="268287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kern="0" spc="462" dirty="0">
                <a:solidFill>
                  <a:srgbClr val="97B2C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2026.09.15·MON·23:48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7048500" y="2772170"/>
            <a:ext cx="4191000" cy="4742656"/>
          </a:xfrm>
          <a:prstGeom prst="rect">
            <a:avLst/>
          </a:prstGeom>
          <a:gradFill rotWithShape="1">
            <a:gsLst>
              <a:gs pos="0">
                <a:srgbClr val="C0E2FF">
                  <a:alpha val="16000"/>
                </a:srgbClr>
              </a:gs>
              <a:gs pos="56000">
                <a:srgbClr val="C0E2FF">
                  <a:alpha val="0"/>
                </a:srgbClr>
              </a:gs>
            </a:gsLst>
            <a:path path="circle">
              <a:fillToRect l="50000" r="50000" b="100000"/>
            </a:path>
          </a:gradFill>
        </p:spPr>
      </p:sp>
      <p:sp>
        <p:nvSpPr>
          <p:cNvPr id="8" name="Shape 6"/>
          <p:cNvSpPr/>
          <p:nvPr/>
        </p:nvSpPr>
        <p:spPr>
          <a:xfrm>
            <a:off x="7219900" y="2943569"/>
            <a:ext cx="3848199" cy="3048000"/>
          </a:xfrm>
          <a:prstGeom prst="rect">
            <a:avLst/>
          </a:prstGeom>
          <a:gradFill rotWithShape="1">
            <a:gsLst>
              <a:gs pos="0">
                <a:srgbClr val="2E3C54">
                  <a:alpha val="55000"/>
                </a:srgbClr>
              </a:gs>
              <a:gs pos="100000">
                <a:srgbClr val="121C2C">
                  <a:alpha val="72000"/>
                </a:srgbClr>
              </a:gs>
            </a:gsLst>
            <a:lin ang="2700000" scaled="0"/>
          </a:gradFill>
          <a:ln w="7937">
            <a:solidFill>
              <a:srgbClr val="78AADC">
                <a:alpha val="13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84034" y="4396132"/>
            <a:ext cx="1196008" cy="1809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306" dirty="0">
                <a:solidFill>
                  <a:srgbClr val="96B4D7">
                    <a:alpha val="32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PHOTOGRAPH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653240" y="5761383"/>
            <a:ext cx="368895" cy="165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90" dirty="0">
                <a:solidFill>
                  <a:srgbClr val="FFD296">
                    <a:alpha val="60000"/>
                  </a:srgbClr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219900" y="6143867"/>
            <a:ext cx="3963645" cy="372839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85000"/>
              </a:lnSpc>
              <a:buNone/>
            </a:pPr>
            <a:r>
              <a:rPr lang="en-US" sz="1425" kern="0" spc="57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Lily · age 6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7219900" y="6478609"/>
            <a:ext cx="3963645" cy="3200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85000"/>
              </a:lnSpc>
              <a:buNone/>
            </a:pPr>
            <a:r>
              <a:rPr lang="en-US" sz="1200" kern="0" spc="24" dirty="0">
                <a:solidFill>
                  <a:srgbClr val="97B2C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Classroom open day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219900" y="6760518"/>
            <a:ext cx="3963645" cy="3200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85000"/>
              </a:lnSpc>
              <a:buNone/>
            </a:pPr>
            <a:r>
              <a:rPr lang="en-US" sz="1200" kern="0" spc="24" dirty="0">
                <a:solidFill>
                  <a:srgbClr val="97B2C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Front row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219900" y="7042417"/>
            <a:ext cx="3963645" cy="3200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85000"/>
              </a:lnSpc>
              <a:buNone/>
            </a:pPr>
            <a:r>
              <a:rPr lang="en-US" sz="1200" kern="0" spc="24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Mother in frame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115101" y="7440287"/>
            <a:ext cx="142875" cy="952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7115101" y="7305349"/>
            <a:ext cx="9525" cy="14287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17" name="Shape 15"/>
          <p:cNvSpPr/>
          <p:nvPr/>
        </p:nvSpPr>
        <p:spPr>
          <a:xfrm>
            <a:off x="10918823" y="7219652"/>
            <a:ext cx="65387" cy="114226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18" name="Shape 16"/>
          <p:cNvSpPr/>
          <p:nvPr/>
        </p:nvSpPr>
        <p:spPr>
          <a:xfrm>
            <a:off x="10980711" y="7219652"/>
            <a:ext cx="65387" cy="114226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19" name="Shape 17"/>
          <p:cNvSpPr/>
          <p:nvPr/>
        </p:nvSpPr>
        <p:spPr>
          <a:xfrm>
            <a:off x="11042599" y="7219652"/>
            <a:ext cx="65387" cy="114226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20" name="Text 18"/>
          <p:cNvSpPr/>
          <p:nvPr/>
        </p:nvSpPr>
        <p:spPr>
          <a:xfrm>
            <a:off x="7219900" y="2619868"/>
            <a:ext cx="1313917" cy="1571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182" dirty="0">
                <a:solidFill>
                  <a:srgbClr val="96B4D7">
                    <a:alpha val="32000"/>
                  </a:srgbClr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ARCHIVE · STILL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4884923" y="8898434"/>
            <a:ext cx="8518153" cy="398016"/>
          </a:xfrm>
          <a:prstGeom prst="rect">
            <a:avLst/>
          </a:prstGeom>
          <a:noFill/>
          <a:effectLst>
            <a:outerShdw blurRad="95250" dist="19050" dir="5400000" algn="bl" rotWithShape="0">
              <a:srgbClr val="000000">
                <a:alpha val="85000"/>
              </a:srgbClr>
            </a:outerShdw>
          </a:effectLst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2100" i="1" kern="0" spc="21" dirty="0">
                <a:solidFill>
                  <a:srgbClr val="FFFFFF">
                    <a:alpha val="62000"/>
                  </a:srgbClr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(an old photograph · Lily, age 6, classroom open day · front row)</a:t>
            </a:r>
            <a:endParaRPr lang="en-US" sz="2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C4A896">
                  <a:alpha val="30000"/>
                </a:srgbClr>
              </a:gs>
              <a:gs pos="68000">
                <a:srgbClr val="C4A896">
                  <a:alpha val="0"/>
                </a:srgbClr>
              </a:gs>
            </a:gsLst>
            <a:path path="circle">
              <a:fillToRect l="50000" t="30000" r="50000" b="70000"/>
            </a:path>
          </a:gradFill>
        </p:spPr>
      </p:sp>
      <p:sp>
        <p:nvSpPr>
          <p:cNvPr id="3" name="Shape 1"/>
          <p:cNvSpPr/>
          <p:nvPr/>
        </p:nvSpPr>
        <p:spPr>
          <a:xfrm>
            <a:off x="533301" y="494351"/>
            <a:ext cx="85700" cy="85700"/>
          </a:xfrm>
          <a:prstGeom prst="ellipse">
            <a:avLst/>
          </a:prstGeom>
          <a:solidFill>
            <a:srgbClr val="5B6B7E"/>
          </a:solidFill>
        </p:spPr>
      </p:sp>
      <p:sp>
        <p:nvSpPr>
          <p:cNvPr id="4" name="Text 2"/>
          <p:cNvSpPr/>
          <p:nvPr/>
        </p:nvSpPr>
        <p:spPr>
          <a:xfrm>
            <a:off x="704701" y="438048"/>
            <a:ext cx="2938115" cy="236534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7B2C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COMPANION UNIT · DORMANT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3301" y="703083"/>
            <a:ext cx="3326333" cy="323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50" kern="0" spc="270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MIA · 7842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6875648" y="438048"/>
            <a:ext cx="4536703" cy="268287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kern="0" spc="462" dirty="0">
                <a:solidFill>
                  <a:srgbClr val="97B2C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2026.09.15·MON·23:48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7048500" y="2772166"/>
            <a:ext cx="4191000" cy="4742656"/>
          </a:xfrm>
          <a:prstGeom prst="rect">
            <a:avLst/>
          </a:prstGeom>
          <a:gradFill rotWithShape="1">
            <a:gsLst>
              <a:gs pos="0">
                <a:srgbClr val="C0E2FF">
                  <a:alpha val="16000"/>
                </a:srgbClr>
              </a:gs>
              <a:gs pos="56000">
                <a:srgbClr val="C0E2FF">
                  <a:alpha val="0"/>
                </a:srgbClr>
              </a:gs>
            </a:gsLst>
            <a:path path="circle">
              <a:fillToRect l="50000" r="50000" b="100000"/>
            </a:path>
          </a:gradFill>
        </p:spPr>
      </p:sp>
      <p:sp>
        <p:nvSpPr>
          <p:cNvPr id="8" name="Shape 6"/>
          <p:cNvSpPr/>
          <p:nvPr/>
        </p:nvSpPr>
        <p:spPr>
          <a:xfrm>
            <a:off x="7219900" y="2943569"/>
            <a:ext cx="3848199" cy="3048000"/>
          </a:xfrm>
          <a:prstGeom prst="rect">
            <a:avLst/>
          </a:prstGeom>
          <a:gradFill rotWithShape="1">
            <a:gsLst>
              <a:gs pos="0">
                <a:srgbClr val="2E3C54">
                  <a:alpha val="55000"/>
                </a:srgbClr>
              </a:gs>
              <a:gs pos="100000">
                <a:srgbClr val="121C2C">
                  <a:alpha val="72000"/>
                </a:srgbClr>
              </a:gs>
            </a:gsLst>
            <a:lin ang="2700000" scaled="0"/>
          </a:gradFill>
          <a:ln w="7937">
            <a:solidFill>
              <a:srgbClr val="78AADC">
                <a:alpha val="13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84034" y="4396132"/>
            <a:ext cx="1196008" cy="1809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306" dirty="0">
                <a:solidFill>
                  <a:srgbClr val="96B4D7">
                    <a:alpha val="32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PHOTOGRAPH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214322" y="5761379"/>
            <a:ext cx="807814" cy="165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90" dirty="0">
                <a:solidFill>
                  <a:srgbClr val="FFD296">
                    <a:alpha val="60000"/>
                  </a:srgbClr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2026.09.15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219900" y="6143867"/>
            <a:ext cx="3963645" cy="372839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85000"/>
              </a:lnSpc>
              <a:buNone/>
            </a:pPr>
            <a:r>
              <a:rPr lang="en-US" sz="1425" kern="0" spc="57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Lily · age 9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7219900" y="6478609"/>
            <a:ext cx="3963645" cy="3200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85000"/>
              </a:lnSpc>
              <a:buNone/>
            </a:pPr>
            <a:r>
              <a:rPr lang="en-US" sz="1200" kern="0" spc="24" dirty="0">
                <a:solidFill>
                  <a:srgbClr val="97B2C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Classroom open day · today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219900" y="6760518"/>
            <a:ext cx="3963645" cy="3200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85000"/>
              </a:lnSpc>
              <a:buNone/>
            </a:pPr>
            <a:r>
              <a:rPr lang="en-US" sz="1200" kern="0" spc="24" dirty="0">
                <a:solidFill>
                  <a:srgbClr val="97B2C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Front row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219900" y="7042417"/>
            <a:ext cx="3963645" cy="3200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85000"/>
              </a:lnSpc>
              <a:buNone/>
            </a:pPr>
            <a:r>
              <a:rPr lang="en-US" sz="1200" kern="0" spc="24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No parent in frame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115101" y="7440287"/>
            <a:ext cx="142875" cy="952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7115101" y="7305349"/>
            <a:ext cx="9525" cy="14287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17" name="Shape 15"/>
          <p:cNvSpPr/>
          <p:nvPr/>
        </p:nvSpPr>
        <p:spPr>
          <a:xfrm>
            <a:off x="10918823" y="7219652"/>
            <a:ext cx="65387" cy="114226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18" name="Shape 16"/>
          <p:cNvSpPr/>
          <p:nvPr/>
        </p:nvSpPr>
        <p:spPr>
          <a:xfrm>
            <a:off x="10980711" y="7219652"/>
            <a:ext cx="65387" cy="114226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19" name="Shape 17"/>
          <p:cNvSpPr/>
          <p:nvPr/>
        </p:nvSpPr>
        <p:spPr>
          <a:xfrm>
            <a:off x="11042599" y="7219652"/>
            <a:ext cx="65387" cy="114226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20" name="Text 18"/>
          <p:cNvSpPr/>
          <p:nvPr/>
        </p:nvSpPr>
        <p:spPr>
          <a:xfrm>
            <a:off x="7219900" y="2619868"/>
            <a:ext cx="1313917" cy="1571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182" dirty="0">
                <a:solidFill>
                  <a:srgbClr val="96B4D7">
                    <a:alpha val="32000"/>
                  </a:srgbClr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ARCHIVE · STILL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4685742" y="8898434"/>
            <a:ext cx="8916516" cy="398016"/>
          </a:xfrm>
          <a:prstGeom prst="rect">
            <a:avLst/>
          </a:prstGeom>
          <a:noFill/>
          <a:effectLst>
            <a:outerShdw blurRad="95250" dist="19050" dir="5400000" algn="bl" rotWithShape="0">
              <a:srgbClr val="000000">
                <a:alpha val="85000"/>
              </a:srgbClr>
            </a:outerShdw>
          </a:effectLst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2100" i="1" kern="0" spc="21" dirty="0">
                <a:solidFill>
                  <a:srgbClr val="FFFFFF">
                    <a:alpha val="62000"/>
                  </a:srgbClr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(another photograph · Lily, age 9, today’s date · no parent in frame)</a:t>
            </a:r>
            <a:endParaRPr lang="en-US" sz="2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C4A896">
                  <a:alpha val="30000"/>
                </a:srgbClr>
              </a:gs>
              <a:gs pos="68000">
                <a:srgbClr val="C4A896">
                  <a:alpha val="0"/>
                </a:srgbClr>
              </a:gs>
            </a:gsLst>
            <a:path path="circle">
              <a:fillToRect l="50000" t="30000" r="50000" b="70000"/>
            </a:path>
          </a:gradFill>
        </p:spPr>
      </p:sp>
      <p:sp>
        <p:nvSpPr>
          <p:cNvPr id="3" name="Shape 1"/>
          <p:cNvSpPr/>
          <p:nvPr/>
        </p:nvSpPr>
        <p:spPr>
          <a:xfrm>
            <a:off x="533301" y="494351"/>
            <a:ext cx="85700" cy="85700"/>
          </a:xfrm>
          <a:prstGeom prst="ellipse">
            <a:avLst/>
          </a:prstGeom>
          <a:solidFill>
            <a:srgbClr val="5B6B7E"/>
          </a:solidFill>
        </p:spPr>
      </p:sp>
      <p:sp>
        <p:nvSpPr>
          <p:cNvPr id="4" name="Text 2"/>
          <p:cNvSpPr/>
          <p:nvPr/>
        </p:nvSpPr>
        <p:spPr>
          <a:xfrm>
            <a:off x="704701" y="438048"/>
            <a:ext cx="2938115" cy="236534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7B2C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COMPANION UNIT · DORMANT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3301" y="703083"/>
            <a:ext cx="3326333" cy="323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50" kern="0" spc="270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MIA · 7842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6875648" y="438048"/>
            <a:ext cx="4536703" cy="268287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kern="0" spc="462" dirty="0">
                <a:solidFill>
                  <a:srgbClr val="97B2C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2026.09.15·MON·23:59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905500" y="3949024"/>
            <a:ext cx="6477000" cy="2388939"/>
          </a:xfrm>
          <a:prstGeom prst="rect">
            <a:avLst/>
          </a:prstGeom>
          <a:gradFill rotWithShape="1">
            <a:gsLst>
              <a:gs pos="0">
                <a:srgbClr val="C0E2FF">
                  <a:alpha val="16000"/>
                </a:srgbClr>
              </a:gs>
              <a:gs pos="56000">
                <a:srgbClr val="C0E2FF">
                  <a:alpha val="0"/>
                </a:srgbClr>
              </a:gs>
            </a:gsLst>
            <a:path path="circle">
              <a:fillToRect l="50000" r="50000" b="100000"/>
            </a:path>
          </a:gradFill>
        </p:spPr>
      </p:sp>
      <p:sp>
        <p:nvSpPr>
          <p:cNvPr id="8" name="Text 6"/>
          <p:cNvSpPr/>
          <p:nvPr/>
        </p:nvSpPr>
        <p:spPr>
          <a:xfrm>
            <a:off x="6063506" y="4349000"/>
            <a:ext cx="6160988" cy="41116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kern="0" spc="68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Shutdown Companion Unit · Confirm?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6063506" y="4836291"/>
            <a:ext cx="6160988" cy="2444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75" kern="0" spc="26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Standard farewell protocol will run</a:t>
            </a:r>
            <a:endParaRPr lang="en-US" sz="1275" dirty="0"/>
          </a:p>
        </p:txBody>
      </p:sp>
      <p:sp>
        <p:nvSpPr>
          <p:cNvPr id="10" name="Shape 8"/>
          <p:cNvSpPr/>
          <p:nvPr/>
        </p:nvSpPr>
        <p:spPr>
          <a:xfrm>
            <a:off x="6343551" y="5366491"/>
            <a:ext cx="2724299" cy="571500"/>
          </a:xfrm>
          <a:prstGeom prst="rect">
            <a:avLst/>
          </a:prstGeom>
          <a:solidFill>
            <a:srgbClr val="09101C">
              <a:alpha val="84000"/>
            </a:srgbClr>
          </a:solidFill>
          <a:ln w="7937">
            <a:solidFill>
              <a:srgbClr val="BEE0FC">
                <a:alpha val="8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13575" y="5541010"/>
            <a:ext cx="1384300" cy="2603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350" kern="0" spc="135" dirty="0">
                <a:solidFill>
                  <a:srgbClr val="A9E2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CONFIRM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220150" y="5366491"/>
            <a:ext cx="2724299" cy="571500"/>
          </a:xfrm>
          <a:prstGeom prst="rect">
            <a:avLst/>
          </a:prstGeom>
          <a:solidFill>
            <a:srgbClr val="78AADC">
              <a:alpha val="5000"/>
            </a:srgbClr>
          </a:solidFill>
          <a:ln w="7937">
            <a:solidFill>
              <a:srgbClr val="96C3EB">
                <a:alpha val="4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93300" y="5541010"/>
            <a:ext cx="1379220" cy="2603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350" kern="0" spc="135" dirty="0">
                <a:solidFill>
                  <a:srgbClr val="97B2C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CANCEL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422372" y="8930180"/>
            <a:ext cx="9443256" cy="331787"/>
          </a:xfrm>
          <a:prstGeom prst="rect">
            <a:avLst/>
          </a:prstGeom>
          <a:noFill/>
          <a:effectLst>
            <a:outerShdw blurRad="95250" dist="19050" dir="5400000" algn="bl" rotWithShape="0">
              <a:srgbClr val="000000">
                <a:alpha val="85000"/>
              </a:srgbClr>
            </a:outerShdw>
          </a:effectLst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2100" kern="0" spc="2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“Inspector — standard shutdown acknowledged. Goodnight, Inspector.”</a:t>
            </a:r>
            <a:endParaRPr lang="en-US" sz="2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C4A896">
                  <a:alpha val="30000"/>
                </a:srgbClr>
              </a:gs>
              <a:gs pos="68000">
                <a:srgbClr val="C4A896">
                  <a:alpha val="0"/>
                </a:srgbClr>
              </a:gs>
            </a:gsLst>
            <a:path path="circle">
              <a:fillToRect l="50000" t="30000" r="50000" b="70000"/>
            </a:path>
          </a:gradFill>
        </p:spPr>
      </p:sp>
      <p:sp>
        <p:nvSpPr>
          <p:cNvPr id="3" name="Shape 1"/>
          <p:cNvSpPr/>
          <p:nvPr/>
        </p:nvSpPr>
        <p:spPr>
          <a:xfrm>
            <a:off x="533301" y="494351"/>
            <a:ext cx="85700" cy="85700"/>
          </a:xfrm>
          <a:prstGeom prst="ellipse">
            <a:avLst/>
          </a:prstGeom>
          <a:solidFill>
            <a:srgbClr val="E0973F"/>
          </a:solidFill>
          <a:effectLst>
            <a:outerShdw blurRad="95250" dist="50800" dir="16200000" algn="bl" rotWithShape="0">
              <a:srgbClr val="E0973F">
                <a:alpha val="10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04701" y="438048"/>
            <a:ext cx="2599829" cy="236534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7B2C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ALERT · PENDING REVIEW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3301" y="703083"/>
            <a:ext cx="2964532" cy="323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50" kern="0" spc="270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MIA · 7842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6875648" y="438048"/>
            <a:ext cx="4536703" cy="268287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kern="0" spc="462" dirty="0">
                <a:solidFill>
                  <a:srgbClr val="97B2C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2026.09.15·MON·23:59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524500" y="3493368"/>
            <a:ext cx="7239000" cy="3300264"/>
          </a:xfrm>
          <a:prstGeom prst="rect">
            <a:avLst/>
          </a:prstGeom>
          <a:gradFill rotWithShape="1">
            <a:gsLst>
              <a:gs pos="0">
                <a:srgbClr val="F4B766">
                  <a:alpha val="16000"/>
                </a:srgbClr>
              </a:gs>
              <a:gs pos="56000">
                <a:srgbClr val="F4B766">
                  <a:alpha val="0"/>
                </a:srgbClr>
              </a:gs>
            </a:gsLst>
            <a:path path="circle">
              <a:fillToRect l="50000" r="50000" b="100000"/>
            </a:path>
          </a:gradFill>
        </p:spPr>
      </p:sp>
      <p:sp>
        <p:nvSpPr>
          <p:cNvPr id="8" name="Shape 6"/>
          <p:cNvSpPr/>
          <p:nvPr/>
        </p:nvSpPr>
        <p:spPr>
          <a:xfrm>
            <a:off x="5524500" y="4080743"/>
            <a:ext cx="7239000" cy="9525"/>
          </a:xfrm>
          <a:prstGeom prst="rect">
            <a:avLst/>
          </a:prstGeom>
          <a:solidFill>
            <a:srgbClr val="E0973F">
              <a:alpha val="40000"/>
            </a:srgbClr>
          </a:solidFill>
        </p:spPr>
      </p:sp>
      <p:sp>
        <p:nvSpPr>
          <p:cNvPr id="9" name="Shape 7"/>
          <p:cNvSpPr/>
          <p:nvPr/>
        </p:nvSpPr>
        <p:spPr>
          <a:xfrm>
            <a:off x="5791150" y="3744144"/>
            <a:ext cx="85700" cy="85700"/>
          </a:xfrm>
          <a:prstGeom prst="ellipse">
            <a:avLst/>
          </a:prstGeom>
          <a:solidFill>
            <a:srgbClr val="E0973F"/>
          </a:solidFill>
          <a:effectLst>
            <a:outerShdw blurRad="95250" dist="50800" dir="16200000" algn="bl" rotWithShape="0">
              <a:srgbClr val="E0973F">
                <a:alpha val="10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91225" y="3683635"/>
            <a:ext cx="1217930" cy="2444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255" dirty="0">
                <a:solidFill>
                  <a:srgbClr val="F4B7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WARNING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11792585" y="3699510"/>
            <a:ext cx="958215" cy="23241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44" dirty="0">
                <a:solidFill>
                  <a:srgbClr val="E052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01 / 03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810250" y="4336228"/>
            <a:ext cx="6867525" cy="609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kern="0" spc="69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Companion units serve a household ecosystem. </a:t>
            </a:r>
            <a:r>
              <a:rPr lang="en-US" sz="1725" kern="0" spc="69" dirty="0">
                <a:solidFill>
                  <a:srgbClr val="FFE9D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Bypassing the farewell protocol is not advised.</a:t>
            </a:r>
            <a:endParaRPr lang="en-US" sz="1725" dirty="0"/>
          </a:p>
        </p:txBody>
      </p:sp>
      <p:sp>
        <p:nvSpPr>
          <p:cNvPr id="13" name="Text 11"/>
          <p:cNvSpPr/>
          <p:nvPr/>
        </p:nvSpPr>
        <p:spPr>
          <a:xfrm>
            <a:off x="5703570" y="5079132"/>
            <a:ext cx="6850380" cy="64779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200" kern="0" spc="36" dirty="0">
                <a:solidFill>
                  <a:srgbClr val="F4B76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Lily’s continuity profile will skip the standard handoff</a:t>
            </a:r>
            <a:endParaRPr lang="en-US" sz="12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200" kern="0" spc="36" dirty="0">
                <a:solidFill>
                  <a:srgbClr val="F4B76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Unit’s six-year record will close abnormally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810250" y="5936382"/>
            <a:ext cx="3257599" cy="571500"/>
          </a:xfrm>
          <a:prstGeom prst="rect">
            <a:avLst/>
          </a:prstGeom>
          <a:gradFill rotWithShape="1">
            <a:gsLst>
              <a:gs pos="0">
                <a:srgbClr val="E0973F">
                  <a:alpha val="22000"/>
                </a:srgbClr>
              </a:gs>
              <a:gs pos="100000">
                <a:srgbClr val="E0973F">
                  <a:alpha val="6000"/>
                </a:srgbClr>
              </a:gs>
            </a:gsLst>
            <a:lin ang="5400000" scaled="0"/>
          </a:gradFill>
          <a:ln w="7937">
            <a:solidFill>
              <a:srgbClr val="E0973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9324" y="5944319"/>
            <a:ext cx="3339452" cy="59372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kern="0" spc="135" dirty="0">
                <a:solidFill>
                  <a:srgbClr val="F4B7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YES · CONTINUE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220150" y="5936382"/>
            <a:ext cx="3257599" cy="571500"/>
          </a:xfrm>
          <a:prstGeom prst="rect">
            <a:avLst/>
          </a:prstGeom>
          <a:solidFill>
            <a:srgbClr val="78AADC">
              <a:alpha val="5000"/>
            </a:srgbClr>
          </a:solidFill>
          <a:ln w="7937">
            <a:solidFill>
              <a:srgbClr val="96C3EB">
                <a:alpha val="42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79224" y="5944319"/>
            <a:ext cx="3339452" cy="59372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kern="0" spc="135" dirty="0">
                <a:solidFill>
                  <a:srgbClr val="97B2C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 · KEEP UNIT ACTIVE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27215" y="8898434"/>
            <a:ext cx="9233569" cy="398016"/>
          </a:xfrm>
          <a:prstGeom prst="rect">
            <a:avLst/>
          </a:prstGeom>
          <a:noFill/>
          <a:effectLst>
            <a:outerShdw blurRad="95250" dist="19050" dir="5400000" algn="bl" rotWithShape="0">
              <a:srgbClr val="000000">
                <a:alpha val="85000"/>
              </a:srgbClr>
            </a:outerShdw>
          </a:effectLst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2100" kern="0" spc="2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“Inspector — this is an unusual choice. Consider standard shutdown.”</a:t>
            </a:r>
            <a:endParaRPr lang="en-US" sz="2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C4A896">
                  <a:alpha val="30000"/>
                </a:srgbClr>
              </a:gs>
              <a:gs pos="68000">
                <a:srgbClr val="C4A896">
                  <a:alpha val="0"/>
                </a:srgbClr>
              </a:gs>
            </a:gsLst>
            <a:path path="circle">
              <a:fillToRect l="50000" t="30000" r="50000" b="70000"/>
            </a:path>
          </a:gradFill>
        </p:spPr>
      </p:sp>
      <p:sp>
        <p:nvSpPr>
          <p:cNvPr id="3" name="Shape 1"/>
          <p:cNvSpPr/>
          <p:nvPr/>
        </p:nvSpPr>
        <p:spPr>
          <a:xfrm>
            <a:off x="533301" y="494351"/>
            <a:ext cx="85700" cy="85700"/>
          </a:xfrm>
          <a:prstGeom prst="ellipse">
            <a:avLst/>
          </a:prstGeom>
          <a:solidFill>
            <a:srgbClr val="E0973F"/>
          </a:solidFill>
          <a:effectLst>
            <a:outerShdw blurRad="95250" dist="50800" dir="16200000" algn="bl" rotWithShape="0">
              <a:srgbClr val="E0973F">
                <a:alpha val="10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04701" y="438048"/>
            <a:ext cx="2599829" cy="236534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7B2C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ALERT · PENDING REVIEW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3301" y="703083"/>
            <a:ext cx="2964532" cy="323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50" kern="0" spc="270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MIA · 7842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6875648" y="438048"/>
            <a:ext cx="4536703" cy="268287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kern="0" spc="462" dirty="0">
                <a:solidFill>
                  <a:srgbClr val="97B2C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2026.09.16·TUE·00:00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524500" y="3350493"/>
            <a:ext cx="7239000" cy="3586014"/>
          </a:xfrm>
          <a:prstGeom prst="rect">
            <a:avLst/>
          </a:prstGeom>
          <a:gradFill rotWithShape="1">
            <a:gsLst>
              <a:gs pos="0">
                <a:srgbClr val="F4B766">
                  <a:alpha val="16000"/>
                </a:srgbClr>
              </a:gs>
              <a:gs pos="56000">
                <a:srgbClr val="F4B766">
                  <a:alpha val="0"/>
                </a:srgbClr>
              </a:gs>
            </a:gsLst>
            <a:path path="circle">
              <a:fillToRect l="50000" r="50000" b="100000"/>
            </a:path>
          </a:gradFill>
        </p:spPr>
      </p:sp>
      <p:sp>
        <p:nvSpPr>
          <p:cNvPr id="8" name="Shape 6"/>
          <p:cNvSpPr/>
          <p:nvPr/>
        </p:nvSpPr>
        <p:spPr>
          <a:xfrm>
            <a:off x="5524500" y="3937868"/>
            <a:ext cx="7239000" cy="9525"/>
          </a:xfrm>
          <a:prstGeom prst="rect">
            <a:avLst/>
          </a:prstGeom>
          <a:solidFill>
            <a:srgbClr val="E0973F">
              <a:alpha val="40000"/>
            </a:srgbClr>
          </a:solidFill>
        </p:spPr>
      </p:sp>
      <p:sp>
        <p:nvSpPr>
          <p:cNvPr id="9" name="Shape 7"/>
          <p:cNvSpPr/>
          <p:nvPr/>
        </p:nvSpPr>
        <p:spPr>
          <a:xfrm>
            <a:off x="5791150" y="3601269"/>
            <a:ext cx="85700" cy="85700"/>
          </a:xfrm>
          <a:prstGeom prst="ellipse">
            <a:avLst/>
          </a:prstGeom>
          <a:solidFill>
            <a:srgbClr val="E0973F"/>
          </a:solidFill>
          <a:effectLst>
            <a:outerShdw blurRad="95250" dist="50800" dir="16200000" algn="bl" rotWithShape="0">
              <a:srgbClr val="E0973F">
                <a:alpha val="10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91225" y="3540760"/>
            <a:ext cx="1279525" cy="2444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255" dirty="0">
                <a:solidFill>
                  <a:srgbClr val="F4B7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WARNING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11792585" y="3556635"/>
            <a:ext cx="885190" cy="27559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44" dirty="0">
                <a:solidFill>
                  <a:srgbClr val="E052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02 / 03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810250" y="4193353"/>
            <a:ext cx="6867525" cy="8953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kern="0" spc="69" dirty="0">
                <a:solidFill>
                  <a:srgbClr val="FFE9D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This unit holds</a:t>
            </a:r>
            <a:r>
              <a:rPr lang="en-US" sz="1725" b="1" kern="0" spc="69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 years of Lily’s developmental records. </a:t>
            </a:r>
            <a:r>
              <a:rPr lang="en-US" sz="1725" kern="0" spc="69" dirty="0">
                <a:solidFill>
                  <a:srgbClr val="FFE9D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Force shutdown will fragment her continuity profile across future inspections.</a:t>
            </a:r>
            <a:endParaRPr lang="en-US" sz="1725" dirty="0"/>
          </a:p>
        </p:txBody>
      </p:sp>
      <p:sp>
        <p:nvSpPr>
          <p:cNvPr id="13" name="Text 11"/>
          <p:cNvSpPr/>
          <p:nvPr/>
        </p:nvSpPr>
        <p:spPr>
          <a:xfrm>
            <a:off x="5703570" y="5222007"/>
            <a:ext cx="6850380" cy="64779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200" kern="0" spc="36" dirty="0">
                <a:solidFill>
                  <a:srgbClr val="F4B76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Future inspectors will see “incomplete handoff” flag</a:t>
            </a:r>
            <a:endParaRPr lang="en-US" sz="12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200" kern="0" spc="36" dirty="0">
                <a:solidFill>
                  <a:srgbClr val="F4B76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Lily’s adolescence may be processed without familial-AI continuity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810250" y="6079257"/>
            <a:ext cx="3257599" cy="571500"/>
          </a:xfrm>
          <a:prstGeom prst="rect">
            <a:avLst/>
          </a:prstGeom>
          <a:gradFill rotWithShape="1">
            <a:gsLst>
              <a:gs pos="0">
                <a:srgbClr val="E0973F">
                  <a:alpha val="22000"/>
                </a:srgbClr>
              </a:gs>
              <a:gs pos="100000">
                <a:srgbClr val="E0973F">
                  <a:alpha val="6000"/>
                </a:srgbClr>
              </a:gs>
            </a:gsLst>
            <a:lin ang="5400000" scaled="0"/>
          </a:gradFill>
          <a:ln w="7937">
            <a:solidFill>
              <a:srgbClr val="E0973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9324" y="6087194"/>
            <a:ext cx="3339452" cy="59372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kern="0" spc="135" dirty="0">
                <a:solidFill>
                  <a:srgbClr val="F4B7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YES · CONTINUE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220150" y="6079257"/>
            <a:ext cx="3257599" cy="571500"/>
          </a:xfrm>
          <a:prstGeom prst="rect">
            <a:avLst/>
          </a:prstGeom>
          <a:solidFill>
            <a:srgbClr val="78AADC">
              <a:alpha val="5000"/>
            </a:srgbClr>
          </a:solidFill>
          <a:ln w="7937">
            <a:solidFill>
              <a:srgbClr val="96C3EB">
                <a:alpha val="42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79224" y="6087194"/>
            <a:ext cx="3339452" cy="59372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kern="0" spc="135" dirty="0">
                <a:solidFill>
                  <a:srgbClr val="97B2C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 · KEEP UNIT ACTIVE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045360" y="8898434"/>
            <a:ext cx="8197279" cy="398016"/>
          </a:xfrm>
          <a:prstGeom prst="rect">
            <a:avLst/>
          </a:prstGeom>
          <a:noFill/>
          <a:effectLst>
            <a:outerShdw blurRad="95250" dist="19050" dir="5400000" algn="bl" rotWithShape="0">
              <a:srgbClr val="000000">
                <a:alpha val="85000"/>
              </a:srgbClr>
            </a:outerShdw>
          </a:effectLst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2100" kern="0" spc="2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“Inspector — please reconsider. This affects Lily, not the unit.”</a:t>
            </a:r>
            <a:endParaRPr lang="en-US" sz="2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Shape 2"/>
          <p:cNvSpPr/>
          <p:nvPr/>
        </p:nvSpPr>
        <p:spPr>
          <a:xfrm>
            <a:off x="800100" y="1143000"/>
            <a:ext cx="4953000" cy="2422922"/>
          </a:xfrm>
          <a:prstGeom prst="rect">
            <a:avLst/>
          </a:prstGeom>
          <a:gradFill rotWithShape="1">
            <a:gsLst>
              <a:gs pos="0">
                <a:srgbClr val="C0E2FF">
                  <a:alpha val="12000"/>
                </a:srgbClr>
              </a:gs>
              <a:gs pos="56000">
                <a:srgbClr val="C0E2FF">
                  <a:alpha val="0"/>
                </a:srgbClr>
              </a:gs>
            </a:gsLst>
            <a:path path="circle">
              <a:fillToRect l="50000" r="50000" b="100000"/>
            </a:path>
          </a:gradFill>
        </p:spPr>
      </p:sp>
      <p:sp>
        <p:nvSpPr>
          <p:cNvPr id="6" name="Shape 3"/>
          <p:cNvSpPr/>
          <p:nvPr/>
        </p:nvSpPr>
        <p:spPr>
          <a:xfrm>
            <a:off x="800100" y="1543050"/>
            <a:ext cx="49530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7" name="Shape 4"/>
          <p:cNvSpPr/>
          <p:nvPr/>
        </p:nvSpPr>
        <p:spPr>
          <a:xfrm>
            <a:off x="971550" y="1300163"/>
            <a:ext cx="85725" cy="85725"/>
          </a:xfrm>
          <a:prstGeom prst="ellipse">
            <a:avLst/>
          </a:prstGeom>
          <a:solidFill>
            <a:srgbClr val="6FC3F0"/>
          </a:solidFill>
          <a:effectLst>
            <a:outerShdw blurRad="95250" dist="50800" dir="16200000" algn="bl" rotWithShape="0">
              <a:srgbClr val="6FC3F0">
                <a:alpha val="10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152525" y="1257300"/>
            <a:ext cx="2224995" cy="209550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231" dirty="0">
                <a:solidFill>
                  <a:srgbClr val="97B2C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SUBJECT · MONITORING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971550" y="1704975"/>
            <a:ext cx="474018" cy="372368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lnSpc>
                <a:spcPct val="195000"/>
              </a:lnSpc>
              <a:buNone/>
            </a:pPr>
            <a:r>
              <a:rPr lang="en-US" sz="1350" kern="0" spc="54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Time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084415" y="1704975"/>
            <a:ext cx="573435" cy="372368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lnSpc>
                <a:spcPct val="195000"/>
              </a:lnSpc>
              <a:buNone/>
            </a:pPr>
            <a:r>
              <a:rPr lang="en-US" sz="1350" kern="0" spc="54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02:47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971550" y="2039243"/>
            <a:ext cx="573435" cy="372368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lnSpc>
                <a:spcPct val="195000"/>
              </a:lnSpc>
              <a:buNone/>
            </a:pPr>
            <a:r>
              <a:rPr lang="en-US" sz="1350" kern="0" spc="54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State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487763" y="2039243"/>
            <a:ext cx="1170087" cy="372368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lnSpc>
                <a:spcPct val="195000"/>
              </a:lnSpc>
              <a:buNone/>
            </a:pPr>
            <a:r>
              <a:rPr lang="en-US" sz="1350" kern="0" spc="54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REM Anomaly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971550" y="2373511"/>
            <a:ext cx="573435" cy="372368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lnSpc>
                <a:spcPct val="195000"/>
              </a:lnSpc>
              <a:buNone/>
            </a:pPr>
            <a:r>
              <a:rPr lang="en-US" sz="1350" kern="0" spc="54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Heart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670822" y="2373511"/>
            <a:ext cx="987028" cy="372368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lnSpc>
                <a:spcPct val="195000"/>
              </a:lnSpc>
              <a:buNone/>
            </a:pPr>
            <a:r>
              <a:rPr lang="en-US" sz="1350" kern="0" spc="54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62 → 89 ↑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971550" y="2707779"/>
            <a:ext cx="573435" cy="372368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lnSpc>
                <a:spcPct val="195000"/>
              </a:lnSpc>
              <a:buNone/>
            </a:pPr>
            <a:r>
              <a:rPr lang="en-US" sz="1350" kern="0" spc="54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Pupil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5084415" y="2707779"/>
            <a:ext cx="573435" cy="372368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lnSpc>
                <a:spcPct val="195000"/>
              </a:lnSpc>
              <a:buNone/>
            </a:pPr>
            <a:r>
              <a:rPr lang="en-US" sz="1350" kern="0" spc="54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Rapid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971550" y="3137297"/>
            <a:ext cx="46101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18" name="Text 15"/>
          <p:cNvSpPr/>
          <p:nvPr/>
        </p:nvSpPr>
        <p:spPr>
          <a:xfrm>
            <a:off x="971550" y="3242072"/>
            <a:ext cx="4748403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kern="0" spc="96" dirty="0">
                <a:solidFill>
                  <a:srgbClr val="A9E2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ASSESSMENT · NIGHTMARE · STAGE II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66775" y="3489722"/>
            <a:ext cx="142875" cy="952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20" name="Shape 17"/>
          <p:cNvSpPr/>
          <p:nvPr/>
        </p:nvSpPr>
        <p:spPr>
          <a:xfrm>
            <a:off x="866775" y="3356372"/>
            <a:ext cx="9525" cy="14287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21" name="Shape 18"/>
          <p:cNvSpPr/>
          <p:nvPr/>
        </p:nvSpPr>
        <p:spPr>
          <a:xfrm>
            <a:off x="5432261" y="3270647"/>
            <a:ext cx="65415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22" name="Shape 19"/>
          <p:cNvSpPr/>
          <p:nvPr/>
        </p:nvSpPr>
        <p:spPr>
          <a:xfrm>
            <a:off x="5494174" y="3270647"/>
            <a:ext cx="65415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23" name="Shape 20"/>
          <p:cNvSpPr/>
          <p:nvPr/>
        </p:nvSpPr>
        <p:spPr>
          <a:xfrm>
            <a:off x="5556086" y="3270647"/>
            <a:ext cx="65415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Shape 4"/>
          <p:cNvSpPr/>
          <p:nvPr>
            <p:custDataLst>
              <p:tags r:id="rId1"/>
            </p:custDataLst>
          </p:nvPr>
        </p:nvSpPr>
        <p:spPr>
          <a:xfrm>
            <a:off x="6286500" y="4238625"/>
            <a:ext cx="5715000" cy="781050"/>
          </a:xfrm>
          <a:prstGeom prst="rect">
            <a:avLst/>
          </a:prstGeom>
          <a:gradFill rotWithShape="1">
            <a:gsLst>
              <a:gs pos="0">
                <a:srgbClr val="C0E2FF">
                  <a:alpha val="12000"/>
                </a:srgbClr>
              </a:gs>
              <a:gs pos="56000">
                <a:srgbClr val="C0E2FF">
                  <a:alpha val="0"/>
                </a:srgbClr>
              </a:gs>
            </a:gsLst>
            <a:path path="circle">
              <a:fillToRect l="50000" r="50000" b="100000"/>
            </a:path>
          </a:gradFill>
        </p:spPr>
      </p:sp>
      <p:sp>
        <p:nvSpPr>
          <p:cNvPr id="7" name="Text 5"/>
          <p:cNvSpPr/>
          <p:nvPr>
            <p:custDataLst>
              <p:tags r:id="rId2"/>
            </p:custDataLst>
          </p:nvPr>
        </p:nvSpPr>
        <p:spPr>
          <a:xfrm>
            <a:off x="7721054" y="4505325"/>
            <a:ext cx="226516" cy="285750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50" b="1" kern="0" spc="83" dirty="0">
                <a:solidFill>
                  <a:srgbClr val="A9E2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</a:t>
            </a:r>
            <a:endParaRPr lang="en-US" sz="1650" dirty="0"/>
          </a:p>
        </p:txBody>
      </p:sp>
      <p:sp>
        <p:nvSpPr>
          <p:cNvPr id="8" name="Text 6"/>
          <p:cNvSpPr/>
          <p:nvPr>
            <p:custDataLst>
              <p:tags r:id="rId3"/>
            </p:custDataLst>
          </p:nvPr>
        </p:nvSpPr>
        <p:spPr>
          <a:xfrm>
            <a:off x="8023771" y="4491038"/>
            <a:ext cx="2797493" cy="314325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50" kern="0" spc="83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ANSWER LILY YOURSELF</a:t>
            </a:r>
            <a:endParaRPr lang="en-US" sz="1650" dirty="0"/>
          </a:p>
        </p:txBody>
      </p:sp>
      <p:sp>
        <p:nvSpPr>
          <p:cNvPr id="9" name="Shape 7"/>
          <p:cNvSpPr/>
          <p:nvPr>
            <p:custDataLst>
              <p:tags r:id="rId4"/>
            </p:custDataLst>
          </p:nvPr>
        </p:nvSpPr>
        <p:spPr>
          <a:xfrm>
            <a:off x="6286500" y="5267325"/>
            <a:ext cx="5715000" cy="781050"/>
          </a:xfrm>
          <a:prstGeom prst="rect">
            <a:avLst/>
          </a:prstGeom>
          <a:gradFill rotWithShape="1">
            <a:gsLst>
              <a:gs pos="0">
                <a:srgbClr val="C0E2FF">
                  <a:alpha val="12000"/>
                </a:srgbClr>
              </a:gs>
              <a:gs pos="56000">
                <a:srgbClr val="C0E2FF">
                  <a:alpha val="0"/>
                </a:srgbClr>
              </a:gs>
            </a:gsLst>
            <a:path path="circle">
              <a:fillToRect l="50000" r="50000" b="100000"/>
            </a:path>
          </a:gradFill>
        </p:spPr>
      </p:sp>
      <p:sp>
        <p:nvSpPr>
          <p:cNvPr id="10" name="Text 8"/>
          <p:cNvSpPr/>
          <p:nvPr>
            <p:custDataLst>
              <p:tags r:id="rId5"/>
            </p:custDataLst>
          </p:nvPr>
        </p:nvSpPr>
        <p:spPr>
          <a:xfrm>
            <a:off x="6938218" y="5534025"/>
            <a:ext cx="226516" cy="285750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50" b="1" kern="0" spc="83" dirty="0">
                <a:solidFill>
                  <a:srgbClr val="A9E2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</a:t>
            </a:r>
            <a:endParaRPr lang="en-US" sz="1650" dirty="0"/>
          </a:p>
        </p:txBody>
      </p:sp>
      <p:sp>
        <p:nvSpPr>
          <p:cNvPr id="11" name="Text 9"/>
          <p:cNvSpPr/>
          <p:nvPr>
            <p:custDataLst>
              <p:tags r:id="rId6"/>
            </p:custDataLst>
          </p:nvPr>
        </p:nvSpPr>
        <p:spPr>
          <a:xfrm>
            <a:off x="7240935" y="5519738"/>
            <a:ext cx="4519568" cy="314325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50" kern="0" spc="83" dirty="0">
                <a:solidFill>
                  <a:srgbClr val="97B2C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LET THE COMPANION ANSWER FOR HER</a:t>
            </a:r>
            <a:endParaRPr lang="en-US" sz="16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hape 2"/>
          <p:cNvSpPr/>
          <p:nvPr/>
        </p:nvSpPr>
        <p:spPr>
          <a:xfrm>
            <a:off x="6191250" y="3657600"/>
            <a:ext cx="5905500" cy="2971800"/>
          </a:xfrm>
          <a:prstGeom prst="rect">
            <a:avLst/>
          </a:prstGeom>
          <a:gradFill rotWithShape="1">
            <a:gsLst>
              <a:gs pos="0">
                <a:srgbClr val="C0E2FF">
                  <a:alpha val="12000"/>
                </a:srgbClr>
              </a:gs>
              <a:gs pos="56000">
                <a:srgbClr val="C0E2FF">
                  <a:alpha val="0"/>
                </a:srgbClr>
              </a:gs>
            </a:gsLst>
            <a:path path="circle">
              <a:fillToRect l="50000" r="50000" b="100000"/>
            </a:path>
          </a:gradFill>
        </p:spPr>
      </p:sp>
      <p:sp>
        <p:nvSpPr>
          <p:cNvPr id="5" name="Text 3"/>
          <p:cNvSpPr/>
          <p:nvPr/>
        </p:nvSpPr>
        <p:spPr>
          <a:xfrm>
            <a:off x="6477000" y="3905250"/>
            <a:ext cx="5867400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294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WORKSPACE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77000" y="4152900"/>
            <a:ext cx="5867400" cy="3619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98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Tonight’s Rounds · Block A · 17F</a:t>
            </a:r>
            <a:endParaRPr lang="en-US" sz="1950" dirty="0"/>
          </a:p>
        </p:txBody>
      </p:sp>
      <p:sp>
        <p:nvSpPr>
          <p:cNvPr id="7" name="Shape 5"/>
          <p:cNvSpPr/>
          <p:nvPr>
            <p:custDataLst>
              <p:tags r:id="rId1"/>
            </p:custDataLst>
          </p:nvPr>
        </p:nvSpPr>
        <p:spPr>
          <a:xfrm>
            <a:off x="6477000" y="4648200"/>
            <a:ext cx="5334000" cy="495300"/>
          </a:xfrm>
          <a:prstGeom prst="rect">
            <a:avLst/>
          </a:prstGeom>
          <a:solidFill>
            <a:srgbClr val="78AADC">
              <a:alpha val="5000"/>
            </a:srgbClr>
          </a:solidFill>
        </p:spPr>
      </p:sp>
      <p:sp>
        <p:nvSpPr>
          <p:cNvPr id="8" name="Shape 6"/>
          <p:cNvSpPr/>
          <p:nvPr>
            <p:custDataLst>
              <p:tags r:id="rId2"/>
            </p:custDataLst>
          </p:nvPr>
        </p:nvSpPr>
        <p:spPr>
          <a:xfrm>
            <a:off x="6477000" y="4648200"/>
            <a:ext cx="28575" cy="495300"/>
          </a:xfrm>
          <a:prstGeom prst="rect">
            <a:avLst/>
          </a:prstGeom>
          <a:solidFill>
            <a:srgbClr val="57B88A"/>
          </a:solidFill>
        </p:spPr>
      </p:sp>
      <p:sp>
        <p:nvSpPr>
          <p:cNvPr id="9" name="Text 7"/>
          <p:cNvSpPr/>
          <p:nvPr>
            <p:custDataLst>
              <p:tags r:id="rId3"/>
            </p:custDataLst>
          </p:nvPr>
        </p:nvSpPr>
        <p:spPr>
          <a:xfrm>
            <a:off x="6696075" y="4800600"/>
            <a:ext cx="795655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 lnSpcReduction="10000"/>
          </a:bodyPr>
          <a:lstStyle/>
          <a:p>
            <a:pPr marL="0" indent="0" algn="l">
              <a:buNone/>
            </a:pPr>
            <a:r>
              <a:rPr lang="en-US" sz="1350" kern="0" spc="81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17F-01</a:t>
            </a:r>
            <a:endParaRPr lang="en-US" sz="1350" dirty="0"/>
          </a:p>
        </p:txBody>
      </p:sp>
      <p:sp>
        <p:nvSpPr>
          <p:cNvPr id="10" name="Text 8"/>
          <p:cNvSpPr/>
          <p:nvPr>
            <p:custDataLst>
              <p:tags r:id="rId4"/>
            </p:custDataLst>
          </p:nvPr>
        </p:nvSpPr>
        <p:spPr>
          <a:xfrm>
            <a:off x="10927715" y="4810125"/>
            <a:ext cx="768985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050" kern="0" spc="168" dirty="0">
                <a:solidFill>
                  <a:srgbClr val="7FD6A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DONE</a:t>
            </a:r>
            <a:endParaRPr lang="en-US" sz="1050" dirty="0"/>
          </a:p>
        </p:txBody>
      </p:sp>
      <p:sp>
        <p:nvSpPr>
          <p:cNvPr id="11" name="Shape 9"/>
          <p:cNvSpPr/>
          <p:nvPr>
            <p:custDataLst>
              <p:tags r:id="rId5"/>
            </p:custDataLst>
          </p:nvPr>
        </p:nvSpPr>
        <p:spPr>
          <a:xfrm>
            <a:off x="6477000" y="5219700"/>
            <a:ext cx="5334000" cy="495300"/>
          </a:xfrm>
          <a:prstGeom prst="rect">
            <a:avLst/>
          </a:prstGeom>
          <a:solidFill>
            <a:srgbClr val="6FC3F0">
              <a:alpha val="8000"/>
            </a:srgbClr>
          </a:solidFill>
        </p:spPr>
      </p:sp>
      <p:sp>
        <p:nvSpPr>
          <p:cNvPr id="12" name="Shape 10"/>
          <p:cNvSpPr/>
          <p:nvPr>
            <p:custDataLst>
              <p:tags r:id="rId6"/>
            </p:custDataLst>
          </p:nvPr>
        </p:nvSpPr>
        <p:spPr>
          <a:xfrm>
            <a:off x="6477000" y="5219700"/>
            <a:ext cx="28575" cy="495300"/>
          </a:xfrm>
          <a:prstGeom prst="rect">
            <a:avLst/>
          </a:prstGeom>
          <a:solidFill>
            <a:srgbClr val="6FC3F0"/>
          </a:solidFill>
        </p:spPr>
      </p:sp>
      <p:sp>
        <p:nvSpPr>
          <p:cNvPr id="13" name="Text 11"/>
          <p:cNvSpPr/>
          <p:nvPr>
            <p:custDataLst>
              <p:tags r:id="rId7"/>
            </p:custDataLst>
          </p:nvPr>
        </p:nvSpPr>
        <p:spPr>
          <a:xfrm>
            <a:off x="6696075" y="5372100"/>
            <a:ext cx="795655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 lnSpcReduction="10000"/>
          </a:bodyPr>
          <a:lstStyle/>
          <a:p>
            <a:pPr marL="0" indent="0" algn="l">
              <a:buNone/>
            </a:pPr>
            <a:r>
              <a:rPr lang="en-US" sz="1350" kern="0" spc="81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17F-02</a:t>
            </a:r>
            <a:endParaRPr lang="en-US" sz="1350" dirty="0"/>
          </a:p>
        </p:txBody>
      </p:sp>
      <p:sp>
        <p:nvSpPr>
          <p:cNvPr id="14" name="Text 12"/>
          <p:cNvSpPr/>
          <p:nvPr>
            <p:custDataLst>
              <p:tags r:id="rId8"/>
            </p:custDataLst>
          </p:nvPr>
        </p:nvSpPr>
        <p:spPr>
          <a:xfrm>
            <a:off x="10453370" y="5381625"/>
            <a:ext cx="1243330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050" kern="0" spc="168" dirty="0">
                <a:solidFill>
                  <a:srgbClr val="A9E2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 CHECK</a:t>
            </a:r>
            <a:endParaRPr lang="en-US" sz="1050" dirty="0"/>
          </a:p>
        </p:txBody>
      </p:sp>
      <p:sp>
        <p:nvSpPr>
          <p:cNvPr id="15" name="Shape 13"/>
          <p:cNvSpPr/>
          <p:nvPr>
            <p:custDataLst>
              <p:tags r:id="rId9"/>
            </p:custDataLst>
          </p:nvPr>
        </p:nvSpPr>
        <p:spPr>
          <a:xfrm>
            <a:off x="6477000" y="5791200"/>
            <a:ext cx="5334000" cy="495300"/>
          </a:xfrm>
          <a:prstGeom prst="rect">
            <a:avLst/>
          </a:prstGeom>
          <a:solidFill>
            <a:srgbClr val="78AADC">
              <a:alpha val="5000"/>
            </a:srgbClr>
          </a:solidFill>
        </p:spPr>
      </p:sp>
      <p:sp>
        <p:nvSpPr>
          <p:cNvPr id="16" name="Shape 14"/>
          <p:cNvSpPr/>
          <p:nvPr>
            <p:custDataLst>
              <p:tags r:id="rId10"/>
            </p:custDataLst>
          </p:nvPr>
        </p:nvSpPr>
        <p:spPr>
          <a:xfrm>
            <a:off x="6477000" y="5791200"/>
            <a:ext cx="28575" cy="495300"/>
          </a:xfrm>
          <a:prstGeom prst="rect">
            <a:avLst/>
          </a:prstGeom>
          <a:solidFill>
            <a:srgbClr val="E0973F"/>
          </a:solidFill>
        </p:spPr>
      </p:sp>
      <p:sp>
        <p:nvSpPr>
          <p:cNvPr id="17" name="Text 15"/>
          <p:cNvSpPr/>
          <p:nvPr>
            <p:custDataLst>
              <p:tags r:id="rId11"/>
            </p:custDataLst>
          </p:nvPr>
        </p:nvSpPr>
        <p:spPr>
          <a:xfrm>
            <a:off x="6696075" y="5943600"/>
            <a:ext cx="795655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 lnSpcReduction="10000"/>
          </a:bodyPr>
          <a:lstStyle/>
          <a:p>
            <a:pPr marL="0" indent="0" algn="l">
              <a:buNone/>
            </a:pPr>
            <a:r>
              <a:rPr lang="en-US" sz="1350" kern="0" spc="81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17F-03</a:t>
            </a:r>
            <a:endParaRPr lang="en-US" sz="1350" dirty="0"/>
          </a:p>
        </p:txBody>
      </p:sp>
      <p:sp>
        <p:nvSpPr>
          <p:cNvPr id="18" name="Text 16"/>
          <p:cNvSpPr/>
          <p:nvPr>
            <p:custDataLst>
              <p:tags r:id="rId12"/>
            </p:custDataLst>
          </p:nvPr>
        </p:nvSpPr>
        <p:spPr>
          <a:xfrm>
            <a:off x="10522585" y="5953125"/>
            <a:ext cx="1174115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050" kern="0" spc="168" dirty="0">
                <a:solidFill>
                  <a:srgbClr val="F4B7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PENDING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4850" y="438150"/>
            <a:ext cx="4196080" cy="2381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7B2C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COMPANION UNIT · ACTIVE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33400" y="704850"/>
            <a:ext cx="3057793" cy="323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50" kern="0" spc="270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MIA · 7842</a:t>
            </a:r>
            <a:endParaRPr lang="en-US" sz="2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13" name="Shape 10"/>
          <p:cNvSpPr/>
          <p:nvPr/>
        </p:nvSpPr>
        <p:spPr>
          <a:xfrm>
            <a:off x="3524250" y="1939290"/>
            <a:ext cx="11239500" cy="5676265"/>
          </a:xfrm>
          <a:prstGeom prst="rect">
            <a:avLst/>
          </a:prstGeom>
          <a:gradFill rotWithShape="1">
            <a:gsLst>
              <a:gs pos="0">
                <a:srgbClr val="C0E2FF">
                  <a:alpha val="12000"/>
                </a:srgbClr>
              </a:gs>
              <a:gs pos="56000">
                <a:srgbClr val="C0E2FF">
                  <a:alpha val="0"/>
                </a:srgbClr>
              </a:gs>
            </a:gsLst>
            <a:path path="circle">
              <a:fillToRect l="50000" r="50000" b="100000"/>
            </a:path>
          </a:gradFill>
        </p:spPr>
      </p:sp>
      <p:sp>
        <p:nvSpPr>
          <p:cNvPr id="27" name="Text 24"/>
          <p:cNvSpPr/>
          <p:nvPr/>
        </p:nvSpPr>
        <p:spPr>
          <a:xfrm>
            <a:off x="3848100" y="4508153"/>
            <a:ext cx="2266950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125" kern="0" spc="158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HOUSEHOLD</a:t>
            </a:r>
            <a:endParaRPr lang="en-US" sz="1125" dirty="0"/>
          </a:p>
        </p:txBody>
      </p:sp>
      <p:sp>
        <p:nvSpPr>
          <p:cNvPr id="28" name="Text 25"/>
          <p:cNvSpPr/>
          <p:nvPr/>
        </p:nvSpPr>
        <p:spPr>
          <a:xfrm>
            <a:off x="6172200" y="4471988"/>
            <a:ext cx="3243526" cy="381893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425" kern="0" spc="86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Father 35 / Mother 33 / Son 8</a:t>
            </a:r>
            <a:endParaRPr lang="en-US" sz="1425" dirty="0"/>
          </a:p>
        </p:txBody>
      </p:sp>
      <p:sp>
        <p:nvSpPr>
          <p:cNvPr id="29" name="Text 26"/>
          <p:cNvSpPr/>
          <p:nvPr/>
        </p:nvSpPr>
        <p:spPr>
          <a:xfrm>
            <a:off x="3848100" y="4851946"/>
            <a:ext cx="2266950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125" kern="0" spc="158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COMPANION</a:t>
            </a:r>
            <a:endParaRPr lang="en-US" sz="1125" dirty="0"/>
          </a:p>
        </p:txBody>
      </p:sp>
      <p:sp>
        <p:nvSpPr>
          <p:cNvPr id="30" name="Text 27"/>
          <p:cNvSpPr/>
          <p:nvPr/>
        </p:nvSpPr>
        <p:spPr>
          <a:xfrm>
            <a:off x="6172200" y="4815780"/>
            <a:ext cx="3802739" cy="381893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425" kern="0" spc="86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Child Development + Expression Aid</a:t>
            </a:r>
            <a:endParaRPr lang="en-US" sz="1425" dirty="0"/>
          </a:p>
        </p:txBody>
      </p:sp>
      <p:sp>
        <p:nvSpPr>
          <p:cNvPr id="31" name="Text 28"/>
          <p:cNvSpPr/>
          <p:nvPr/>
        </p:nvSpPr>
        <p:spPr>
          <a:xfrm>
            <a:off x="3848100" y="5195739"/>
            <a:ext cx="2266950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125" kern="0" spc="158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SERVICE TIME</a:t>
            </a:r>
            <a:endParaRPr lang="en-US" sz="1125" dirty="0"/>
          </a:p>
        </p:txBody>
      </p:sp>
      <p:sp>
        <p:nvSpPr>
          <p:cNvPr id="32" name="Text 29"/>
          <p:cNvSpPr/>
          <p:nvPr/>
        </p:nvSpPr>
        <p:spPr>
          <a:xfrm>
            <a:off x="6172200" y="5159573"/>
            <a:ext cx="1053554" cy="381893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425" kern="0" spc="86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11 Months</a:t>
            </a:r>
            <a:endParaRPr lang="en-US" sz="1425" dirty="0"/>
          </a:p>
        </p:txBody>
      </p:sp>
      <p:sp>
        <p:nvSpPr>
          <p:cNvPr id="33" name="Text 30"/>
          <p:cNvSpPr/>
          <p:nvPr/>
        </p:nvSpPr>
        <p:spPr>
          <a:xfrm>
            <a:off x="3848100" y="5539532"/>
            <a:ext cx="2266950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125" kern="0" spc="158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MONTHLY USAGE</a:t>
            </a:r>
            <a:endParaRPr lang="en-US" sz="1125" dirty="0"/>
          </a:p>
        </p:txBody>
      </p:sp>
      <p:sp>
        <p:nvSpPr>
          <p:cNvPr id="34" name="Text 31"/>
          <p:cNvSpPr/>
          <p:nvPr/>
        </p:nvSpPr>
        <p:spPr>
          <a:xfrm>
            <a:off x="6172200" y="5503366"/>
            <a:ext cx="619125" cy="381893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425" kern="0" spc="86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99.7%</a:t>
            </a:r>
            <a:endParaRPr lang="en-US" sz="1425" dirty="0"/>
          </a:p>
        </p:txBody>
      </p:sp>
      <p:sp>
        <p:nvSpPr>
          <p:cNvPr id="35" name="Text 32"/>
          <p:cNvSpPr/>
          <p:nvPr/>
        </p:nvSpPr>
        <p:spPr>
          <a:xfrm>
            <a:off x="3848100" y="5883325"/>
            <a:ext cx="2266950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125" kern="0" spc="158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LAST CHECK</a:t>
            </a:r>
            <a:endParaRPr lang="en-US" sz="1125" dirty="0"/>
          </a:p>
        </p:txBody>
      </p:sp>
      <p:sp>
        <p:nvSpPr>
          <p:cNvPr id="36" name="Text 33"/>
          <p:cNvSpPr/>
          <p:nvPr/>
        </p:nvSpPr>
        <p:spPr>
          <a:xfrm>
            <a:off x="6172200" y="5847159"/>
            <a:ext cx="1487835" cy="381893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425" kern="0" spc="86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09.01 · 22:30</a:t>
            </a:r>
            <a:endParaRPr lang="en-US" sz="1425" dirty="0"/>
          </a:p>
        </p:txBody>
      </p:sp>
      <p:sp>
        <p:nvSpPr>
          <p:cNvPr id="37" name="Shape 34"/>
          <p:cNvSpPr/>
          <p:nvPr/>
        </p:nvSpPr>
        <p:spPr>
          <a:xfrm>
            <a:off x="3848100" y="6419552"/>
            <a:ext cx="2015579" cy="361950"/>
          </a:xfrm>
          <a:prstGeom prst="rect">
            <a:avLst/>
          </a:prstGeom>
          <a:solidFill>
            <a:srgbClr val="78AADC">
              <a:alpha val="5000"/>
            </a:srgbClr>
          </a:solidFill>
          <a:ln w="9525">
            <a:solidFill>
              <a:srgbClr val="96C3EB">
                <a:alpha val="4200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910965" y="6515100"/>
            <a:ext cx="1928495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147" dirty="0">
                <a:solidFill>
                  <a:srgbClr val="97B2C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EXPRESSION METRICS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5997029" y="6419552"/>
            <a:ext cx="1424285" cy="361950"/>
          </a:xfrm>
          <a:prstGeom prst="rect">
            <a:avLst/>
          </a:prstGeom>
          <a:solidFill>
            <a:srgbClr val="78AADC">
              <a:alpha val="5000"/>
            </a:srgbClr>
          </a:solidFill>
          <a:ln w="9525">
            <a:solidFill>
              <a:srgbClr val="96C3EB">
                <a:alpha val="4200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072505" y="6515100"/>
            <a:ext cx="1283335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147" dirty="0">
                <a:solidFill>
                  <a:srgbClr val="97B2C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NIGHT ALERTS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7554664" y="6419552"/>
            <a:ext cx="2455218" cy="361950"/>
          </a:xfrm>
          <a:prstGeom prst="rect">
            <a:avLst/>
          </a:prstGeom>
          <a:solidFill>
            <a:srgbClr val="78AADC">
              <a:alpha val="5000"/>
            </a:srgbClr>
          </a:solidFill>
          <a:ln w="9525">
            <a:solidFill>
              <a:srgbClr val="96C3EB">
                <a:alpha val="4200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602220" y="6515100"/>
            <a:ext cx="2407920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147" dirty="0">
                <a:solidFill>
                  <a:srgbClr val="97B2C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PARENT UPGRADE REQUEST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3590925" y="7539037"/>
            <a:ext cx="142875" cy="952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44" name="Shape 41"/>
          <p:cNvSpPr/>
          <p:nvPr/>
        </p:nvSpPr>
        <p:spPr>
          <a:xfrm>
            <a:off x="3590925" y="7405688"/>
            <a:ext cx="9525" cy="14287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45" name="Shape 42"/>
          <p:cNvSpPr/>
          <p:nvPr/>
        </p:nvSpPr>
        <p:spPr>
          <a:xfrm>
            <a:off x="14442911" y="7319963"/>
            <a:ext cx="65415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46" name="Shape 43"/>
          <p:cNvSpPr/>
          <p:nvPr/>
        </p:nvSpPr>
        <p:spPr>
          <a:xfrm>
            <a:off x="14504824" y="7319963"/>
            <a:ext cx="65415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47" name="Shape 44"/>
          <p:cNvSpPr/>
          <p:nvPr/>
        </p:nvSpPr>
        <p:spPr>
          <a:xfrm>
            <a:off x="14566736" y="7319963"/>
            <a:ext cx="65415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51" name="Shape 11"/>
          <p:cNvSpPr/>
          <p:nvPr/>
        </p:nvSpPr>
        <p:spPr>
          <a:xfrm>
            <a:off x="3524250" y="3262313"/>
            <a:ext cx="112395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52" name="Text 12"/>
          <p:cNvSpPr/>
          <p:nvPr/>
        </p:nvSpPr>
        <p:spPr>
          <a:xfrm>
            <a:off x="3810000" y="2557780"/>
            <a:ext cx="3657600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DOORWAY TERMINAL</a:t>
            </a:r>
            <a:endParaRPr lang="en-US" sz="1050" dirty="0"/>
          </a:p>
        </p:txBody>
      </p:sp>
      <p:sp>
        <p:nvSpPr>
          <p:cNvPr id="53" name="Text 13"/>
          <p:cNvSpPr/>
          <p:nvPr/>
        </p:nvSpPr>
        <p:spPr>
          <a:xfrm>
            <a:off x="3810000" y="2767013"/>
            <a:ext cx="2095827" cy="3619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50" kern="0" spc="315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17F-01</a:t>
            </a:r>
            <a:endParaRPr lang="en-US" sz="2250" dirty="0"/>
          </a:p>
        </p:txBody>
      </p:sp>
      <p:sp>
        <p:nvSpPr>
          <p:cNvPr id="54" name="Text 14"/>
          <p:cNvSpPr/>
          <p:nvPr/>
        </p:nvSpPr>
        <p:spPr>
          <a:xfrm>
            <a:off x="12154451" y="2738438"/>
            <a:ext cx="2323549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buNone/>
            </a:pPr>
            <a:r>
              <a:rPr lang="en-US" sz="1200" kern="0" spc="144" dirty="0">
                <a:solidFill>
                  <a:srgbClr val="6FC3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Read Complete · 18:42</a:t>
            </a:r>
            <a:endParaRPr lang="en-US" sz="1200" dirty="0"/>
          </a:p>
        </p:txBody>
      </p:sp>
      <p:sp>
        <p:nvSpPr>
          <p:cNvPr id="55" name="Shape 15"/>
          <p:cNvSpPr/>
          <p:nvPr/>
        </p:nvSpPr>
        <p:spPr>
          <a:xfrm>
            <a:off x="3524250" y="3852863"/>
            <a:ext cx="112395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56" name="Text 16"/>
          <p:cNvSpPr/>
          <p:nvPr/>
        </p:nvSpPr>
        <p:spPr>
          <a:xfrm>
            <a:off x="3738245" y="3272155"/>
            <a:ext cx="2186940" cy="61912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Autofit/>
          </a:bodyPr>
          <a:lstStyle/>
          <a:p>
            <a:pPr marL="0" algn="l">
              <a:buClrTx/>
              <a:buSzTx/>
              <a:buFontTx/>
              <a:buNone/>
            </a:pPr>
            <a:r>
              <a:rPr lang="en-US" sz="1275" kern="0" spc="153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RESIDENT SUMMARY</a:t>
            </a:r>
            <a:endParaRPr lang="en-US" sz="1275" kern="0" spc="153" dirty="0">
              <a:solidFill>
                <a:srgbClr val="D7E6F6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57" name="Text 17"/>
          <p:cNvSpPr/>
          <p:nvPr/>
        </p:nvSpPr>
        <p:spPr>
          <a:xfrm>
            <a:off x="5839460" y="3272155"/>
            <a:ext cx="1359535" cy="61912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Autofit/>
          </a:bodyPr>
          <a:lstStyle/>
          <a:p>
            <a:pPr marL="0" algn="l">
              <a:buClrTx/>
              <a:buSzTx/>
              <a:buFontTx/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ACQUISITION</a:t>
            </a:r>
            <a:endParaRPr lang="en-US" sz="1275" kern="0" spc="153" dirty="0">
              <a:solidFill>
                <a:srgbClr val="5F7895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58" name="Text 18"/>
          <p:cNvSpPr/>
          <p:nvPr/>
        </p:nvSpPr>
        <p:spPr>
          <a:xfrm>
            <a:off x="7343140" y="3272155"/>
            <a:ext cx="1316355" cy="61912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FAMILY LOG</a:t>
            </a:r>
            <a:endParaRPr lang="en-US" sz="1275" dirty="0"/>
          </a:p>
        </p:txBody>
      </p:sp>
      <p:sp>
        <p:nvSpPr>
          <p:cNvPr id="59" name="Text 19"/>
          <p:cNvSpPr/>
          <p:nvPr/>
        </p:nvSpPr>
        <p:spPr>
          <a:xfrm>
            <a:off x="8639810" y="3272155"/>
            <a:ext cx="1715135" cy="61912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TRUST TREND</a:t>
            </a:r>
            <a:endParaRPr lang="en-US" sz="1275" dirty="0"/>
          </a:p>
        </p:txBody>
      </p:sp>
      <p:sp>
        <p:nvSpPr>
          <p:cNvPr id="60" name="Text 20"/>
          <p:cNvSpPr/>
          <p:nvPr/>
        </p:nvSpPr>
        <p:spPr>
          <a:xfrm>
            <a:off x="10123805" y="3272155"/>
            <a:ext cx="2438400" cy="61912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INSPECTION HISTORY</a:t>
            </a:r>
            <a:endParaRPr lang="en-US" sz="1275" dirty="0"/>
          </a:p>
        </p:txBody>
      </p:sp>
      <p:sp>
        <p:nvSpPr>
          <p:cNvPr id="61" name="Shape 21"/>
          <p:cNvSpPr/>
          <p:nvPr/>
        </p:nvSpPr>
        <p:spPr>
          <a:xfrm>
            <a:off x="12563177" y="3352800"/>
            <a:ext cx="1914823" cy="419100"/>
          </a:xfrm>
          <a:prstGeom prst="rect">
            <a:avLst/>
          </a:prstGeom>
          <a:gradFill rotWithShape="1">
            <a:gsLst>
              <a:gs pos="0">
                <a:srgbClr val="E0973F">
                  <a:alpha val="22000"/>
                </a:srgbClr>
              </a:gs>
              <a:gs pos="100000">
                <a:srgbClr val="E0973F">
                  <a:alpha val="8000"/>
                </a:srgbClr>
              </a:gs>
            </a:gsLst>
            <a:lin ang="5400000" scaled="0"/>
          </a:gradFill>
          <a:ln w="9525">
            <a:solidFill>
              <a:srgbClr val="E0973F"/>
            </a:solidFill>
            <a:prstDash val="solid"/>
          </a:ln>
          <a:effectLst>
            <a:outerShdw blurRad="209550" dist="50800" dir="16200000" algn="bl" rotWithShape="0">
              <a:srgbClr val="E0973F">
                <a:alpha val="25000"/>
              </a:srgbClr>
            </a:outerShdw>
          </a:effectLst>
        </p:spPr>
      </p:sp>
      <p:sp>
        <p:nvSpPr>
          <p:cNvPr id="62" name="Text 22"/>
          <p:cNvSpPr/>
          <p:nvPr/>
        </p:nvSpPr>
        <p:spPr>
          <a:xfrm>
            <a:off x="12782252" y="3352800"/>
            <a:ext cx="1327398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68" dirty="0">
                <a:solidFill>
                  <a:srgbClr val="F4B7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RECALL EVENT</a:t>
            </a:r>
            <a:endParaRPr lang="en-US" sz="1200" dirty="0"/>
          </a:p>
        </p:txBody>
      </p:sp>
      <p:sp>
        <p:nvSpPr>
          <p:cNvPr id="63" name="Text 23"/>
          <p:cNvSpPr/>
          <p:nvPr/>
        </p:nvSpPr>
        <p:spPr>
          <a:xfrm>
            <a:off x="14128700" y="3476625"/>
            <a:ext cx="206425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kern="0" spc="168" dirty="0">
                <a:solidFill>
                  <a:srgbClr val="F4B7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★</a:t>
            </a:r>
            <a:endParaRPr lang="en-US" sz="1050" dirty="0"/>
          </a:p>
        </p:txBody>
      </p:sp>
      <p:sp>
        <p:nvSpPr>
          <p:cNvPr id="66" name="Shape 52"/>
          <p:cNvSpPr/>
          <p:nvPr/>
        </p:nvSpPr>
        <p:spPr>
          <a:xfrm>
            <a:off x="14335125" y="2481263"/>
            <a:ext cx="47625" cy="47625"/>
          </a:xfrm>
          <a:prstGeom prst="rect">
            <a:avLst/>
          </a:prstGeom>
          <a:ln w="9525">
            <a:solidFill>
              <a:srgbClr val="BEE0FC">
                <a:alpha val="82000"/>
              </a:srgbClr>
            </a:solidFill>
            <a:prstDash val="solid"/>
          </a:ln>
        </p:spPr>
      </p:sp>
      <p:sp>
        <p:nvSpPr>
          <p:cNvPr id="67" name="Text 53"/>
          <p:cNvSpPr/>
          <p:nvPr/>
        </p:nvSpPr>
        <p:spPr>
          <a:xfrm>
            <a:off x="3695700" y="2195830"/>
            <a:ext cx="1692275" cy="1619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825" kern="0" spc="182" dirty="0">
                <a:solidFill>
                  <a:srgbClr val="96B4D7">
                    <a:alpha val="32000"/>
                  </a:srgbClr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DOORWAY · LINK OK</a:t>
            </a:r>
            <a:endParaRPr lang="en-US" sz="82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" name="Shape 10"/>
          <p:cNvSpPr/>
          <p:nvPr/>
        </p:nvSpPr>
        <p:spPr>
          <a:xfrm>
            <a:off x="3524250" y="1939290"/>
            <a:ext cx="11239500" cy="5676265"/>
          </a:xfrm>
          <a:prstGeom prst="rect">
            <a:avLst/>
          </a:prstGeom>
          <a:gradFill rotWithShape="1">
            <a:gsLst>
              <a:gs pos="0">
                <a:srgbClr val="C0E2FF">
                  <a:alpha val="12000"/>
                </a:srgbClr>
              </a:gs>
              <a:gs pos="56000">
                <a:srgbClr val="C0E2FF">
                  <a:alpha val="0"/>
                </a:srgbClr>
              </a:gs>
            </a:gsLst>
            <a:path path="circle">
              <a:fillToRect l="50000" r="50000" b="100000"/>
            </a:path>
          </a:gradFill>
        </p:spPr>
      </p:sp>
      <p:sp>
        <p:nvSpPr>
          <p:cNvPr id="14" name="Shape 11"/>
          <p:cNvSpPr/>
          <p:nvPr/>
        </p:nvSpPr>
        <p:spPr>
          <a:xfrm>
            <a:off x="3524250" y="3345805"/>
            <a:ext cx="112395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18" name="Shape 15"/>
          <p:cNvSpPr/>
          <p:nvPr/>
        </p:nvSpPr>
        <p:spPr>
          <a:xfrm>
            <a:off x="3524250" y="3936355"/>
            <a:ext cx="112395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24" name="Shape 21"/>
          <p:cNvSpPr/>
          <p:nvPr/>
        </p:nvSpPr>
        <p:spPr>
          <a:xfrm>
            <a:off x="12566015" y="3435985"/>
            <a:ext cx="1911985" cy="335915"/>
          </a:xfrm>
          <a:prstGeom prst="rect">
            <a:avLst/>
          </a:prstGeom>
          <a:gradFill rotWithShape="1">
            <a:gsLst>
              <a:gs pos="0">
                <a:srgbClr val="57B88A">
                  <a:alpha val="20000"/>
                </a:srgbClr>
              </a:gs>
              <a:gs pos="100000">
                <a:srgbClr val="57B88A">
                  <a:alpha val="6000"/>
                </a:srgbClr>
              </a:gs>
            </a:gsLst>
            <a:lin ang="5400000" scaled="0"/>
          </a:gradFill>
          <a:ln w="9525">
            <a:solidFill>
              <a:srgbClr val="57B88A"/>
            </a:solidFill>
            <a:prstDash val="solid"/>
          </a:ln>
          <a:effectLst>
            <a:outerShdw blurRad="190500" dist="50800" dir="16200000" algn="bl" rotWithShape="0">
              <a:srgbClr val="57B88A">
                <a:alpha val="20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13119457" y="3499158"/>
            <a:ext cx="805458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68" dirty="0">
                <a:solidFill>
                  <a:srgbClr val="7FD6A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VIEWED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3848100" y="4267795"/>
            <a:ext cx="2266950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125" kern="0" spc="158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HOUSEHOLD</a:t>
            </a:r>
            <a:endParaRPr lang="en-US" sz="1125" dirty="0"/>
          </a:p>
        </p:txBody>
      </p:sp>
      <p:sp>
        <p:nvSpPr>
          <p:cNvPr id="28" name="Text 25"/>
          <p:cNvSpPr/>
          <p:nvPr/>
        </p:nvSpPr>
        <p:spPr>
          <a:xfrm>
            <a:off x="6172200" y="4231630"/>
            <a:ext cx="3243526" cy="381893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425" kern="0" spc="86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Father 35 / Mother 33 / Son 8</a:t>
            </a:r>
            <a:endParaRPr lang="en-US" sz="1425" dirty="0"/>
          </a:p>
        </p:txBody>
      </p:sp>
      <p:sp>
        <p:nvSpPr>
          <p:cNvPr id="29" name="Text 26"/>
          <p:cNvSpPr/>
          <p:nvPr/>
        </p:nvSpPr>
        <p:spPr>
          <a:xfrm>
            <a:off x="3848100" y="4611588"/>
            <a:ext cx="2266950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125" kern="0" spc="158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COMPANION</a:t>
            </a:r>
            <a:endParaRPr lang="en-US" sz="1125" dirty="0"/>
          </a:p>
        </p:txBody>
      </p:sp>
      <p:sp>
        <p:nvSpPr>
          <p:cNvPr id="30" name="Text 27"/>
          <p:cNvSpPr/>
          <p:nvPr/>
        </p:nvSpPr>
        <p:spPr>
          <a:xfrm>
            <a:off x="6172200" y="4575423"/>
            <a:ext cx="3802739" cy="381893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425" kern="0" spc="86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Child Development + Expression Aid</a:t>
            </a:r>
            <a:endParaRPr lang="en-US" sz="1425" dirty="0"/>
          </a:p>
        </p:txBody>
      </p:sp>
      <p:sp>
        <p:nvSpPr>
          <p:cNvPr id="31" name="Text 28"/>
          <p:cNvSpPr/>
          <p:nvPr/>
        </p:nvSpPr>
        <p:spPr>
          <a:xfrm>
            <a:off x="3848100" y="4955381"/>
            <a:ext cx="2266950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125" kern="0" spc="158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SERVICE TIME</a:t>
            </a:r>
            <a:endParaRPr lang="en-US" sz="1125" dirty="0"/>
          </a:p>
        </p:txBody>
      </p:sp>
      <p:sp>
        <p:nvSpPr>
          <p:cNvPr id="32" name="Text 29"/>
          <p:cNvSpPr/>
          <p:nvPr/>
        </p:nvSpPr>
        <p:spPr>
          <a:xfrm>
            <a:off x="6172200" y="4919216"/>
            <a:ext cx="1053554" cy="381893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425" kern="0" spc="86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11 Months</a:t>
            </a:r>
            <a:endParaRPr lang="en-US" sz="1425" dirty="0"/>
          </a:p>
        </p:txBody>
      </p:sp>
      <p:sp>
        <p:nvSpPr>
          <p:cNvPr id="33" name="Text 30"/>
          <p:cNvSpPr/>
          <p:nvPr/>
        </p:nvSpPr>
        <p:spPr>
          <a:xfrm>
            <a:off x="3848100" y="5299174"/>
            <a:ext cx="2266950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125" kern="0" spc="158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MONTHLY USAGE</a:t>
            </a:r>
            <a:endParaRPr lang="en-US" sz="1125" dirty="0"/>
          </a:p>
        </p:txBody>
      </p:sp>
      <p:sp>
        <p:nvSpPr>
          <p:cNvPr id="34" name="Text 31"/>
          <p:cNvSpPr/>
          <p:nvPr/>
        </p:nvSpPr>
        <p:spPr>
          <a:xfrm>
            <a:off x="6172200" y="5263009"/>
            <a:ext cx="619125" cy="381893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425" kern="0" spc="86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99.7%</a:t>
            </a:r>
            <a:endParaRPr lang="en-US" sz="1425" dirty="0"/>
          </a:p>
        </p:txBody>
      </p:sp>
      <p:sp>
        <p:nvSpPr>
          <p:cNvPr id="35" name="Text 32"/>
          <p:cNvSpPr/>
          <p:nvPr/>
        </p:nvSpPr>
        <p:spPr>
          <a:xfrm>
            <a:off x="3848100" y="5642967"/>
            <a:ext cx="2266950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125" kern="0" spc="158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LAST CHECK</a:t>
            </a:r>
            <a:endParaRPr lang="en-US" sz="1125" dirty="0"/>
          </a:p>
        </p:txBody>
      </p:sp>
      <p:sp>
        <p:nvSpPr>
          <p:cNvPr id="36" name="Text 33"/>
          <p:cNvSpPr/>
          <p:nvPr/>
        </p:nvSpPr>
        <p:spPr>
          <a:xfrm>
            <a:off x="6172200" y="5606802"/>
            <a:ext cx="1487835" cy="381893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425" kern="0" spc="86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09.01 · 22:30</a:t>
            </a:r>
            <a:endParaRPr lang="en-US" sz="1425" dirty="0"/>
          </a:p>
        </p:txBody>
      </p:sp>
      <p:sp>
        <p:nvSpPr>
          <p:cNvPr id="37" name="Text 34"/>
          <p:cNvSpPr/>
          <p:nvPr/>
        </p:nvSpPr>
        <p:spPr>
          <a:xfrm>
            <a:off x="3848100" y="6160145"/>
            <a:ext cx="2038856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252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SELECT DISPOSITION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3848100" y="6579245"/>
            <a:ext cx="5200650" cy="952500"/>
          </a:xfrm>
          <a:prstGeom prst="rect">
            <a:avLst/>
          </a:prstGeom>
          <a:solidFill>
            <a:srgbClr val="78AADC">
              <a:alpha val="5000"/>
            </a:srgbClr>
          </a:solidFill>
          <a:ln w="9525">
            <a:solidFill>
              <a:srgbClr val="96C3EB">
                <a:alpha val="4200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067175" y="6464945"/>
            <a:ext cx="1362819" cy="209550"/>
          </a:xfrm>
          <a:prstGeom prst="rect">
            <a:avLst/>
          </a:prstGeom>
          <a:solidFill>
            <a:srgbClr val="57B88A"/>
          </a:solidFill>
        </p:spPr>
      </p:sp>
      <p:sp>
        <p:nvSpPr>
          <p:cNvPr id="40" name="Text 37"/>
          <p:cNvSpPr/>
          <p:nvPr/>
        </p:nvSpPr>
        <p:spPr>
          <a:xfrm>
            <a:off x="4162425" y="6503045"/>
            <a:ext cx="1248519" cy="1714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06140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RECOMMENDED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4086225" y="6798320"/>
            <a:ext cx="5196840" cy="2952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575" b="1" kern="0" spc="126" dirty="0">
                <a:solidFill>
                  <a:srgbClr val="A9E2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</a:t>
            </a:r>
            <a:r>
              <a:rPr lang="en-US" sz="1575" kern="0" spc="126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Approve Upgrade</a:t>
            </a:r>
            <a:endParaRPr lang="en-US" sz="1575" dirty="0"/>
          </a:p>
        </p:txBody>
      </p:sp>
      <p:sp>
        <p:nvSpPr>
          <p:cNvPr id="42" name="Text 39"/>
          <p:cNvSpPr/>
          <p:nvPr/>
        </p:nvSpPr>
        <p:spPr>
          <a:xfrm>
            <a:off x="4086225" y="7141220"/>
            <a:ext cx="5196840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Deep Night Companion Pro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9239250" y="6579245"/>
            <a:ext cx="5200650" cy="952500"/>
          </a:xfrm>
          <a:prstGeom prst="rect">
            <a:avLst/>
          </a:prstGeom>
          <a:solidFill>
            <a:srgbClr val="78AADC">
              <a:alpha val="5000"/>
            </a:srgbClr>
          </a:solidFill>
          <a:ln w="9525">
            <a:solidFill>
              <a:srgbClr val="96C3EB">
                <a:alpha val="42000"/>
              </a:srgbClr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477375" y="6798320"/>
            <a:ext cx="5196840" cy="2952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575" b="1" kern="0" spc="126" dirty="0">
                <a:solidFill>
                  <a:srgbClr val="A9E2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 </a:t>
            </a:r>
            <a:r>
              <a:rPr lang="en-US" sz="1575" kern="0" spc="126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Enable Observation</a:t>
            </a:r>
            <a:endParaRPr lang="en-US" sz="1575" dirty="0"/>
          </a:p>
        </p:txBody>
      </p:sp>
      <p:sp>
        <p:nvSpPr>
          <p:cNvPr id="45" name="Text 42"/>
          <p:cNvSpPr/>
          <p:nvPr/>
        </p:nvSpPr>
        <p:spPr>
          <a:xfrm>
            <a:off x="9477375" y="7141220"/>
            <a:ext cx="5196840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Re-evaluate in two weeks</a:t>
            </a:r>
            <a:endParaRPr lang="en-US" sz="1200" dirty="0"/>
          </a:p>
        </p:txBody>
      </p:sp>
      <p:sp>
        <p:nvSpPr>
          <p:cNvPr id="54" name="Shape 11"/>
          <p:cNvSpPr/>
          <p:nvPr/>
        </p:nvSpPr>
        <p:spPr>
          <a:xfrm>
            <a:off x="3524250" y="3262313"/>
            <a:ext cx="112395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55" name="Text 12"/>
          <p:cNvSpPr/>
          <p:nvPr/>
        </p:nvSpPr>
        <p:spPr>
          <a:xfrm>
            <a:off x="3810000" y="2557780"/>
            <a:ext cx="3657600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DOORWAY TERMINAL</a:t>
            </a:r>
            <a:endParaRPr lang="en-US" sz="1050" dirty="0"/>
          </a:p>
        </p:txBody>
      </p:sp>
      <p:sp>
        <p:nvSpPr>
          <p:cNvPr id="56" name="Text 13"/>
          <p:cNvSpPr/>
          <p:nvPr/>
        </p:nvSpPr>
        <p:spPr>
          <a:xfrm>
            <a:off x="3810000" y="2767013"/>
            <a:ext cx="2095827" cy="3619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50" kern="0" spc="315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17F-01</a:t>
            </a:r>
            <a:endParaRPr lang="en-US" sz="2250" dirty="0"/>
          </a:p>
        </p:txBody>
      </p:sp>
      <p:sp>
        <p:nvSpPr>
          <p:cNvPr id="57" name="Text 14"/>
          <p:cNvSpPr/>
          <p:nvPr/>
        </p:nvSpPr>
        <p:spPr>
          <a:xfrm>
            <a:off x="12154451" y="2738438"/>
            <a:ext cx="2323549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buNone/>
            </a:pPr>
            <a:r>
              <a:rPr lang="en-US" sz="1200" kern="0" spc="144" dirty="0">
                <a:solidFill>
                  <a:srgbClr val="6FC3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Read Complete · 18:42</a:t>
            </a:r>
            <a:endParaRPr lang="en-US" sz="1200" dirty="0"/>
          </a:p>
        </p:txBody>
      </p:sp>
      <p:sp>
        <p:nvSpPr>
          <p:cNvPr id="58" name="Shape 15"/>
          <p:cNvSpPr/>
          <p:nvPr/>
        </p:nvSpPr>
        <p:spPr>
          <a:xfrm>
            <a:off x="3524250" y="3852863"/>
            <a:ext cx="112395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66" name="Text 23"/>
          <p:cNvSpPr/>
          <p:nvPr/>
        </p:nvSpPr>
        <p:spPr>
          <a:xfrm>
            <a:off x="14128700" y="3498850"/>
            <a:ext cx="206425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kern="0" spc="168" dirty="0">
                <a:solidFill>
                  <a:srgbClr val="F4B7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★</a:t>
            </a:r>
            <a:endParaRPr lang="en-US" sz="1050" dirty="0"/>
          </a:p>
        </p:txBody>
      </p:sp>
      <p:sp>
        <p:nvSpPr>
          <p:cNvPr id="67" name="Shape 52"/>
          <p:cNvSpPr/>
          <p:nvPr/>
        </p:nvSpPr>
        <p:spPr>
          <a:xfrm>
            <a:off x="14335125" y="2481263"/>
            <a:ext cx="47625" cy="47625"/>
          </a:xfrm>
          <a:prstGeom prst="rect">
            <a:avLst/>
          </a:prstGeom>
          <a:ln w="9525">
            <a:solidFill>
              <a:srgbClr val="BEE0FC">
                <a:alpha val="82000"/>
              </a:srgbClr>
            </a:solidFill>
            <a:prstDash val="solid"/>
          </a:ln>
        </p:spPr>
      </p:sp>
      <p:sp>
        <p:nvSpPr>
          <p:cNvPr id="68" name="Text 53"/>
          <p:cNvSpPr/>
          <p:nvPr/>
        </p:nvSpPr>
        <p:spPr>
          <a:xfrm>
            <a:off x="3695700" y="2195830"/>
            <a:ext cx="1692275" cy="1619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825" kern="0" spc="182" dirty="0">
                <a:solidFill>
                  <a:srgbClr val="96B4D7">
                    <a:alpha val="32000"/>
                  </a:srgbClr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DOORWAY · LINK OK</a:t>
            </a:r>
            <a:endParaRPr lang="en-US" sz="825" dirty="0"/>
          </a:p>
        </p:txBody>
      </p:sp>
      <p:sp>
        <p:nvSpPr>
          <p:cNvPr id="70" name="Shape 47"/>
          <p:cNvSpPr/>
          <p:nvPr/>
        </p:nvSpPr>
        <p:spPr>
          <a:xfrm>
            <a:off x="3590925" y="7862888"/>
            <a:ext cx="142875" cy="952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71" name="Shape 48"/>
          <p:cNvSpPr/>
          <p:nvPr/>
        </p:nvSpPr>
        <p:spPr>
          <a:xfrm>
            <a:off x="3590925" y="7729538"/>
            <a:ext cx="9525" cy="14287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72" name="Shape 49"/>
          <p:cNvSpPr/>
          <p:nvPr/>
        </p:nvSpPr>
        <p:spPr>
          <a:xfrm>
            <a:off x="14442911" y="7643813"/>
            <a:ext cx="65415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73" name="Shape 50"/>
          <p:cNvSpPr/>
          <p:nvPr/>
        </p:nvSpPr>
        <p:spPr>
          <a:xfrm>
            <a:off x="14504824" y="7643813"/>
            <a:ext cx="65415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74" name="Shape 51"/>
          <p:cNvSpPr/>
          <p:nvPr/>
        </p:nvSpPr>
        <p:spPr>
          <a:xfrm>
            <a:off x="14566736" y="7643813"/>
            <a:ext cx="65415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2" name="Text 16"/>
          <p:cNvSpPr/>
          <p:nvPr/>
        </p:nvSpPr>
        <p:spPr>
          <a:xfrm>
            <a:off x="3738245" y="3272155"/>
            <a:ext cx="2186940" cy="61912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Autofit/>
          </a:bodyPr>
          <a:lstStyle/>
          <a:p>
            <a:pPr marL="0" algn="l">
              <a:buClrTx/>
              <a:buSzTx/>
              <a:buFontTx/>
              <a:buNone/>
            </a:pPr>
            <a:r>
              <a:rPr lang="en-US" sz="1275" kern="0" spc="153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RESIDENT SUMMARY</a:t>
            </a:r>
            <a:endParaRPr lang="en-US" sz="1275" kern="0" spc="153" dirty="0">
              <a:solidFill>
                <a:srgbClr val="D7E6F6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3" name="Text 17"/>
          <p:cNvSpPr/>
          <p:nvPr/>
        </p:nvSpPr>
        <p:spPr>
          <a:xfrm>
            <a:off x="5839460" y="3272155"/>
            <a:ext cx="1359535" cy="61912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Autofit/>
          </a:bodyPr>
          <a:lstStyle/>
          <a:p>
            <a:pPr marL="0" algn="l">
              <a:buClrTx/>
              <a:buSzTx/>
              <a:buFontTx/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ACQUISITION</a:t>
            </a:r>
            <a:endParaRPr lang="en-US" sz="1275" kern="0" spc="153" dirty="0">
              <a:solidFill>
                <a:srgbClr val="5F7895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4" name="Text 18"/>
          <p:cNvSpPr/>
          <p:nvPr/>
        </p:nvSpPr>
        <p:spPr>
          <a:xfrm>
            <a:off x="7343140" y="3272155"/>
            <a:ext cx="1316355" cy="61912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FAMILY LOG</a:t>
            </a:r>
            <a:endParaRPr lang="en-US" sz="1275" dirty="0"/>
          </a:p>
        </p:txBody>
      </p:sp>
      <p:sp>
        <p:nvSpPr>
          <p:cNvPr id="5" name="Text 19"/>
          <p:cNvSpPr/>
          <p:nvPr/>
        </p:nvSpPr>
        <p:spPr>
          <a:xfrm>
            <a:off x="8639810" y="3272155"/>
            <a:ext cx="1715135" cy="61912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TRUST TREND</a:t>
            </a:r>
            <a:endParaRPr lang="en-US" sz="1275" dirty="0"/>
          </a:p>
        </p:txBody>
      </p:sp>
      <p:sp>
        <p:nvSpPr>
          <p:cNvPr id="6" name="Text 20"/>
          <p:cNvSpPr/>
          <p:nvPr/>
        </p:nvSpPr>
        <p:spPr>
          <a:xfrm>
            <a:off x="10123805" y="3272155"/>
            <a:ext cx="2438400" cy="61912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INSPECTION HISTORY</a:t>
            </a:r>
            <a:endParaRPr lang="en-US" sz="127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" name="Shape 10"/>
          <p:cNvSpPr/>
          <p:nvPr/>
        </p:nvSpPr>
        <p:spPr>
          <a:xfrm>
            <a:off x="3524250" y="1939290"/>
            <a:ext cx="11239500" cy="5676265"/>
          </a:xfrm>
          <a:prstGeom prst="rect">
            <a:avLst/>
          </a:prstGeom>
          <a:gradFill rotWithShape="1">
            <a:gsLst>
              <a:gs pos="0">
                <a:srgbClr val="C0E2FF">
                  <a:alpha val="12000"/>
                </a:srgbClr>
              </a:gs>
              <a:gs pos="56000">
                <a:srgbClr val="C0E2FF">
                  <a:alpha val="0"/>
                </a:srgbClr>
              </a:gs>
            </a:gsLst>
            <a:path path="circle">
              <a:fillToRect l="50000" r="50000" b="100000"/>
            </a:path>
          </a:gradFill>
        </p:spPr>
      </p:sp>
      <p:sp>
        <p:nvSpPr>
          <p:cNvPr id="14" name="Shape 11"/>
          <p:cNvSpPr/>
          <p:nvPr/>
        </p:nvSpPr>
        <p:spPr>
          <a:xfrm>
            <a:off x="3524250" y="3262313"/>
            <a:ext cx="112395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15" name="Text 12"/>
          <p:cNvSpPr/>
          <p:nvPr/>
        </p:nvSpPr>
        <p:spPr>
          <a:xfrm>
            <a:off x="3810000" y="2557780"/>
            <a:ext cx="3657600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DOORWAY TERMINAL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810000" y="2767013"/>
            <a:ext cx="2095827" cy="3619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50" kern="0" spc="315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17F-01</a:t>
            </a:r>
            <a:endParaRPr lang="en-US" sz="2250" dirty="0"/>
          </a:p>
        </p:txBody>
      </p:sp>
      <p:sp>
        <p:nvSpPr>
          <p:cNvPr id="17" name="Text 14"/>
          <p:cNvSpPr/>
          <p:nvPr/>
        </p:nvSpPr>
        <p:spPr>
          <a:xfrm>
            <a:off x="12154451" y="2738438"/>
            <a:ext cx="2323549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buNone/>
            </a:pPr>
            <a:r>
              <a:rPr lang="en-US" sz="1200" kern="0" spc="144" dirty="0">
                <a:solidFill>
                  <a:srgbClr val="6FC3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Read Complete · 18:42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524250" y="3852863"/>
            <a:ext cx="112395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24" name="Shape 21"/>
          <p:cNvSpPr/>
          <p:nvPr/>
        </p:nvSpPr>
        <p:spPr>
          <a:xfrm>
            <a:off x="12563177" y="3352800"/>
            <a:ext cx="1914823" cy="419100"/>
          </a:xfrm>
          <a:prstGeom prst="rect">
            <a:avLst/>
          </a:prstGeom>
          <a:gradFill rotWithShape="1">
            <a:gsLst>
              <a:gs pos="0">
                <a:srgbClr val="E0973F">
                  <a:alpha val="22000"/>
                </a:srgbClr>
              </a:gs>
              <a:gs pos="100000">
                <a:srgbClr val="E0973F">
                  <a:alpha val="8000"/>
                </a:srgbClr>
              </a:gs>
            </a:gsLst>
            <a:lin ang="5400000" scaled="0"/>
          </a:gradFill>
          <a:ln w="9525">
            <a:solidFill>
              <a:srgbClr val="E0973F"/>
            </a:solidFill>
            <a:prstDash val="solid"/>
          </a:ln>
          <a:effectLst>
            <a:outerShdw blurRad="209550" dist="50800" dir="16200000" algn="bl" rotWithShape="0">
              <a:srgbClr val="E0973F">
                <a:alpha val="25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12782252" y="3352800"/>
            <a:ext cx="1327398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68" dirty="0">
                <a:solidFill>
                  <a:srgbClr val="F4B7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RECALL EVENT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4128700" y="3476625"/>
            <a:ext cx="206425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kern="0" spc="168" dirty="0">
                <a:solidFill>
                  <a:srgbClr val="F4B7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★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848100" y="4148137"/>
            <a:ext cx="4512945" cy="120372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350" kern="0" spc="27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Enrolled</a:t>
            </a:r>
            <a:r>
              <a:rPr lang="en-US" sz="1350" kern="0" spc="27" dirty="0">
                <a:solidFill>
                  <a:srgbClr val="6FC3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Oct 2025 </a:t>
            </a:r>
            <a:r>
              <a:rPr lang="en-US" sz="1350" kern="0" spc="27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at the parents’ request. Decision rationale: reduce night-time burden, offset the mother’s overtime, and support the child’s social expression.</a:t>
            </a:r>
            <a:endParaRPr 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3848100" y="5542359"/>
            <a:ext cx="19050" cy="887462"/>
          </a:xfrm>
          <a:prstGeom prst="rect">
            <a:avLst/>
          </a:prstGeom>
          <a:solidFill>
            <a:srgbClr val="6FC3F0"/>
          </a:solidFill>
        </p:spPr>
      </p:sp>
      <p:sp>
        <p:nvSpPr>
          <p:cNvPr id="29" name="Text 26"/>
          <p:cNvSpPr/>
          <p:nvPr/>
        </p:nvSpPr>
        <p:spPr>
          <a:xfrm>
            <a:off x="4038600" y="5580459"/>
            <a:ext cx="4312591" cy="52759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425" i="1" kern="0" spc="24" dirty="0">
                <a:solidFill>
                  <a:srgbClr val="97B2C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“When we’re not home, at least someone’s here to talk to her.”</a:t>
            </a:r>
            <a:endParaRPr lang="en-US" sz="1425" dirty="0"/>
          </a:p>
        </p:txBody>
      </p:sp>
      <p:sp>
        <p:nvSpPr>
          <p:cNvPr id="30" name="Text 27"/>
          <p:cNvSpPr/>
          <p:nvPr/>
        </p:nvSpPr>
        <p:spPr>
          <a:xfrm>
            <a:off x="4038600" y="6216551"/>
            <a:ext cx="4714875" cy="25137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050" kern="0" spc="168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— MOTHER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8782050" y="4224338"/>
            <a:ext cx="3367698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252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IMPROVEMENT SINCE ENROLLMENT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8782050" y="5586413"/>
            <a:ext cx="533400" cy="647700"/>
          </a:xfrm>
          <a:prstGeom prst="rect">
            <a:avLst/>
          </a:prstGeom>
          <a:gradFill rotWithShape="1">
            <a:gsLst>
              <a:gs pos="0">
                <a:srgbClr val="E0973F">
                  <a:alpha val="50000"/>
                </a:srgbClr>
              </a:gs>
              <a:gs pos="100000">
                <a:srgbClr val="E0973F">
                  <a:alpha val="12000"/>
                </a:srgbClr>
              </a:gs>
            </a:gsLst>
            <a:lin ang="5400000" scaled="0"/>
          </a:gradFill>
        </p:spPr>
      </p:sp>
      <p:sp>
        <p:nvSpPr>
          <p:cNvPr id="33" name="Shape 30"/>
          <p:cNvSpPr/>
          <p:nvPr/>
        </p:nvSpPr>
        <p:spPr>
          <a:xfrm>
            <a:off x="8782050" y="5586413"/>
            <a:ext cx="533400" cy="19050"/>
          </a:xfrm>
          <a:prstGeom prst="rect">
            <a:avLst/>
          </a:prstGeom>
          <a:solidFill>
            <a:srgbClr val="E0973F"/>
          </a:solidFill>
        </p:spPr>
      </p:sp>
      <p:sp>
        <p:nvSpPr>
          <p:cNvPr id="34" name="Text 31"/>
          <p:cNvSpPr/>
          <p:nvPr/>
        </p:nvSpPr>
        <p:spPr>
          <a:xfrm>
            <a:off x="8900071" y="6329363"/>
            <a:ext cx="373410" cy="1809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Base</a:t>
            </a:r>
            <a:endParaRPr lang="en-US" sz="975" dirty="0"/>
          </a:p>
        </p:txBody>
      </p:sp>
      <p:sp>
        <p:nvSpPr>
          <p:cNvPr id="35" name="Shape 32"/>
          <p:cNvSpPr/>
          <p:nvPr/>
        </p:nvSpPr>
        <p:spPr>
          <a:xfrm>
            <a:off x="9486900" y="5319713"/>
            <a:ext cx="533400" cy="914400"/>
          </a:xfrm>
          <a:prstGeom prst="rect">
            <a:avLst/>
          </a:prstGeom>
          <a:gradFill rotWithShape="1">
            <a:gsLst>
              <a:gs pos="0">
                <a:srgbClr val="E0973F">
                  <a:alpha val="50000"/>
                </a:srgbClr>
              </a:gs>
              <a:gs pos="100000">
                <a:srgbClr val="E0973F">
                  <a:alpha val="12000"/>
                </a:srgbClr>
              </a:gs>
            </a:gsLst>
            <a:lin ang="5400000" scaled="0"/>
          </a:gradFill>
        </p:spPr>
      </p:sp>
      <p:sp>
        <p:nvSpPr>
          <p:cNvPr id="36" name="Shape 33"/>
          <p:cNvSpPr/>
          <p:nvPr/>
        </p:nvSpPr>
        <p:spPr>
          <a:xfrm>
            <a:off x="9486900" y="5319713"/>
            <a:ext cx="533400" cy="19050"/>
          </a:xfrm>
          <a:prstGeom prst="rect">
            <a:avLst/>
          </a:prstGeom>
          <a:solidFill>
            <a:srgbClr val="E0973F"/>
          </a:solidFill>
        </p:spPr>
      </p:sp>
      <p:sp>
        <p:nvSpPr>
          <p:cNvPr id="37" name="Text 34"/>
          <p:cNvSpPr/>
          <p:nvPr/>
        </p:nvSpPr>
        <p:spPr>
          <a:xfrm>
            <a:off x="9642128" y="6329363"/>
            <a:ext cx="299145" cy="1809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+3M</a:t>
            </a:r>
            <a:endParaRPr lang="en-US" sz="975" dirty="0"/>
          </a:p>
        </p:txBody>
      </p:sp>
      <p:sp>
        <p:nvSpPr>
          <p:cNvPr id="38" name="Shape 35"/>
          <p:cNvSpPr/>
          <p:nvPr/>
        </p:nvSpPr>
        <p:spPr>
          <a:xfrm>
            <a:off x="10191750" y="4976813"/>
            <a:ext cx="533400" cy="1257300"/>
          </a:xfrm>
          <a:prstGeom prst="rect">
            <a:avLst/>
          </a:prstGeom>
          <a:gradFill rotWithShape="1">
            <a:gsLst>
              <a:gs pos="0">
                <a:srgbClr val="3F8FD6">
                  <a:alpha val="45000"/>
                </a:srgbClr>
              </a:gs>
              <a:gs pos="100000">
                <a:srgbClr val="3F8FD6">
                  <a:alpha val="10000"/>
                </a:srgbClr>
              </a:gs>
            </a:gsLst>
            <a:lin ang="5400000" scaled="0"/>
          </a:gradFill>
        </p:spPr>
      </p:sp>
      <p:sp>
        <p:nvSpPr>
          <p:cNvPr id="39" name="Shape 36"/>
          <p:cNvSpPr/>
          <p:nvPr/>
        </p:nvSpPr>
        <p:spPr>
          <a:xfrm>
            <a:off x="10191750" y="4976813"/>
            <a:ext cx="533400" cy="19050"/>
          </a:xfrm>
          <a:prstGeom prst="rect">
            <a:avLst/>
          </a:prstGeom>
          <a:solidFill>
            <a:srgbClr val="3F8FD6"/>
          </a:solidFill>
        </p:spPr>
      </p:sp>
      <p:sp>
        <p:nvSpPr>
          <p:cNvPr id="40" name="Text 37"/>
          <p:cNvSpPr/>
          <p:nvPr/>
        </p:nvSpPr>
        <p:spPr>
          <a:xfrm>
            <a:off x="10346978" y="6329363"/>
            <a:ext cx="299145" cy="1809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+6M</a:t>
            </a:r>
            <a:endParaRPr lang="en-US" sz="975" dirty="0"/>
          </a:p>
        </p:txBody>
      </p:sp>
      <p:sp>
        <p:nvSpPr>
          <p:cNvPr id="41" name="Shape 38"/>
          <p:cNvSpPr/>
          <p:nvPr/>
        </p:nvSpPr>
        <p:spPr>
          <a:xfrm>
            <a:off x="10896600" y="4672013"/>
            <a:ext cx="533400" cy="1562100"/>
          </a:xfrm>
          <a:prstGeom prst="rect">
            <a:avLst/>
          </a:prstGeom>
          <a:gradFill rotWithShape="1">
            <a:gsLst>
              <a:gs pos="0">
                <a:srgbClr val="3F8FD6">
                  <a:alpha val="45000"/>
                </a:srgbClr>
              </a:gs>
              <a:gs pos="100000">
                <a:srgbClr val="3F8FD6">
                  <a:alpha val="10000"/>
                </a:srgbClr>
              </a:gs>
            </a:gsLst>
            <a:lin ang="5400000" scaled="0"/>
          </a:gradFill>
        </p:spPr>
      </p:sp>
      <p:sp>
        <p:nvSpPr>
          <p:cNvPr id="42" name="Shape 39"/>
          <p:cNvSpPr/>
          <p:nvPr/>
        </p:nvSpPr>
        <p:spPr>
          <a:xfrm>
            <a:off x="10896600" y="4672013"/>
            <a:ext cx="533400" cy="19050"/>
          </a:xfrm>
          <a:prstGeom prst="rect">
            <a:avLst/>
          </a:prstGeom>
          <a:solidFill>
            <a:srgbClr val="3F8FD6"/>
          </a:solidFill>
        </p:spPr>
      </p:sp>
      <p:sp>
        <p:nvSpPr>
          <p:cNvPr id="43" name="Text 40"/>
          <p:cNvSpPr/>
          <p:nvPr/>
        </p:nvSpPr>
        <p:spPr>
          <a:xfrm>
            <a:off x="11051828" y="6329363"/>
            <a:ext cx="299145" cy="1809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+9M</a:t>
            </a:r>
            <a:endParaRPr lang="en-US" sz="975" dirty="0"/>
          </a:p>
        </p:txBody>
      </p:sp>
      <p:sp>
        <p:nvSpPr>
          <p:cNvPr id="44" name="Shape 41"/>
          <p:cNvSpPr/>
          <p:nvPr/>
        </p:nvSpPr>
        <p:spPr>
          <a:xfrm>
            <a:off x="11601450" y="4567238"/>
            <a:ext cx="533400" cy="1666875"/>
          </a:xfrm>
          <a:prstGeom prst="rect">
            <a:avLst/>
          </a:prstGeom>
          <a:gradFill rotWithShape="1">
            <a:gsLst>
              <a:gs pos="0">
                <a:srgbClr val="57B88A">
                  <a:alpha val="45000"/>
                </a:srgbClr>
              </a:gs>
              <a:gs pos="100000">
                <a:srgbClr val="57B88A">
                  <a:alpha val="10000"/>
                </a:srgbClr>
              </a:gs>
            </a:gsLst>
            <a:lin ang="5400000" scaled="0"/>
          </a:gradFill>
        </p:spPr>
      </p:sp>
      <p:sp>
        <p:nvSpPr>
          <p:cNvPr id="45" name="Shape 42"/>
          <p:cNvSpPr/>
          <p:nvPr/>
        </p:nvSpPr>
        <p:spPr>
          <a:xfrm>
            <a:off x="11601450" y="4567238"/>
            <a:ext cx="533400" cy="19050"/>
          </a:xfrm>
          <a:prstGeom prst="rect">
            <a:avLst/>
          </a:prstGeom>
          <a:solidFill>
            <a:srgbClr val="57B88A"/>
          </a:solidFill>
        </p:spPr>
      </p:sp>
      <p:sp>
        <p:nvSpPr>
          <p:cNvPr id="46" name="Text 43"/>
          <p:cNvSpPr/>
          <p:nvPr/>
        </p:nvSpPr>
        <p:spPr>
          <a:xfrm>
            <a:off x="11756678" y="6329363"/>
            <a:ext cx="299145" cy="1809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Now</a:t>
            </a:r>
            <a:endParaRPr lang="en-US" sz="975" dirty="0"/>
          </a:p>
        </p:txBody>
      </p:sp>
      <p:sp>
        <p:nvSpPr>
          <p:cNvPr id="47" name="Text 44"/>
          <p:cNvSpPr/>
          <p:nvPr/>
        </p:nvSpPr>
        <p:spPr>
          <a:xfrm>
            <a:off x="8782050" y="6643688"/>
            <a:ext cx="5827586" cy="3619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275" kern="0" spc="51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Night Waking </a:t>
            </a:r>
            <a:r>
              <a:rPr lang="en-US" sz="1275" kern="0" spc="51" dirty="0">
                <a:solidFill>
                  <a:srgbClr val="7FD6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↓ 7 days</a:t>
            </a:r>
            <a:endParaRPr lang="en-US" sz="1275" dirty="0"/>
          </a:p>
        </p:txBody>
      </p:sp>
      <p:sp>
        <p:nvSpPr>
          <p:cNvPr id="48" name="Text 45"/>
          <p:cNvSpPr/>
          <p:nvPr/>
        </p:nvSpPr>
        <p:spPr>
          <a:xfrm>
            <a:off x="8782050" y="6967538"/>
            <a:ext cx="5827586" cy="3619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275" kern="0" spc="51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Vocabulary </a:t>
            </a:r>
            <a:r>
              <a:rPr lang="en-US" sz="1275" kern="0" spc="51" dirty="0">
                <a:solidFill>
                  <a:srgbClr val="A9E2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↑ 41%</a:t>
            </a:r>
            <a:endParaRPr lang="en-US" sz="1275" dirty="0"/>
          </a:p>
        </p:txBody>
      </p:sp>
      <p:sp>
        <p:nvSpPr>
          <p:cNvPr id="49" name="Text 46"/>
          <p:cNvSpPr/>
          <p:nvPr/>
        </p:nvSpPr>
        <p:spPr>
          <a:xfrm>
            <a:off x="8782050" y="7291388"/>
            <a:ext cx="5827586" cy="3619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275" kern="0" spc="51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Parent Supervision </a:t>
            </a:r>
            <a:r>
              <a:rPr lang="en-US" sz="1275" kern="0" spc="51" dirty="0">
                <a:solidFill>
                  <a:srgbClr val="97B2C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· Marked</a:t>
            </a:r>
            <a:endParaRPr lang="en-US" sz="1275" dirty="0"/>
          </a:p>
        </p:txBody>
      </p:sp>
      <p:sp>
        <p:nvSpPr>
          <p:cNvPr id="50" name="Shape 47"/>
          <p:cNvSpPr/>
          <p:nvPr/>
        </p:nvSpPr>
        <p:spPr>
          <a:xfrm>
            <a:off x="3590925" y="7862888"/>
            <a:ext cx="142875" cy="952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51" name="Shape 48"/>
          <p:cNvSpPr/>
          <p:nvPr/>
        </p:nvSpPr>
        <p:spPr>
          <a:xfrm>
            <a:off x="3590925" y="7729538"/>
            <a:ext cx="9525" cy="14287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52" name="Shape 49"/>
          <p:cNvSpPr/>
          <p:nvPr/>
        </p:nvSpPr>
        <p:spPr>
          <a:xfrm>
            <a:off x="14442911" y="7643813"/>
            <a:ext cx="65415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53" name="Shape 50"/>
          <p:cNvSpPr/>
          <p:nvPr/>
        </p:nvSpPr>
        <p:spPr>
          <a:xfrm>
            <a:off x="14504824" y="7643813"/>
            <a:ext cx="65415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54" name="Shape 51"/>
          <p:cNvSpPr/>
          <p:nvPr/>
        </p:nvSpPr>
        <p:spPr>
          <a:xfrm>
            <a:off x="14566736" y="7643813"/>
            <a:ext cx="65415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55" name="Shape 52"/>
          <p:cNvSpPr/>
          <p:nvPr/>
        </p:nvSpPr>
        <p:spPr>
          <a:xfrm>
            <a:off x="14335125" y="2481263"/>
            <a:ext cx="47625" cy="47625"/>
          </a:xfrm>
          <a:prstGeom prst="rect">
            <a:avLst/>
          </a:prstGeom>
          <a:ln w="9525">
            <a:solidFill>
              <a:srgbClr val="BEE0FC">
                <a:alpha val="82000"/>
              </a:srgbClr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3695700" y="2195830"/>
            <a:ext cx="1692275" cy="1619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825" kern="0" spc="182" dirty="0">
                <a:solidFill>
                  <a:srgbClr val="96B4D7">
                    <a:alpha val="32000"/>
                  </a:srgbClr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DOORWAY · LINK OK</a:t>
            </a:r>
            <a:endParaRPr lang="en-US" sz="825" dirty="0"/>
          </a:p>
        </p:txBody>
      </p:sp>
      <p:sp>
        <p:nvSpPr>
          <p:cNvPr id="2" name="Text 16"/>
          <p:cNvSpPr/>
          <p:nvPr/>
        </p:nvSpPr>
        <p:spPr>
          <a:xfrm>
            <a:off x="3738245" y="3272155"/>
            <a:ext cx="2186940" cy="61912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Autofit/>
          </a:bodyPr>
          <a:lstStyle/>
          <a:p>
            <a:pPr marL="0" algn="l">
              <a:buClrTx/>
              <a:buSzTx/>
              <a:buFontTx/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RESIDENT SUMMARY</a:t>
            </a:r>
            <a:endParaRPr lang="en-US" sz="1275" kern="0" spc="153" dirty="0">
              <a:solidFill>
                <a:srgbClr val="5F7895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57" name="Text 17"/>
          <p:cNvSpPr/>
          <p:nvPr/>
        </p:nvSpPr>
        <p:spPr>
          <a:xfrm>
            <a:off x="5839460" y="3272155"/>
            <a:ext cx="1359535" cy="61912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Autofit/>
          </a:bodyPr>
          <a:lstStyle/>
          <a:p>
            <a:pPr marL="0" algn="l">
              <a:buClrTx/>
              <a:buSzTx/>
              <a:buFontTx/>
              <a:buNone/>
            </a:pPr>
            <a:r>
              <a:rPr lang="en-US" sz="1275" kern="0" spc="153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ACQUISITION</a:t>
            </a:r>
            <a:endParaRPr lang="en-US" sz="1275" kern="0" spc="153" dirty="0">
              <a:solidFill>
                <a:srgbClr val="D7E6F6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3" name="Text 18"/>
          <p:cNvSpPr/>
          <p:nvPr/>
        </p:nvSpPr>
        <p:spPr>
          <a:xfrm>
            <a:off x="7343140" y="3272155"/>
            <a:ext cx="1316355" cy="61912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FAMILY LOG</a:t>
            </a:r>
            <a:endParaRPr lang="en-US" sz="1275" dirty="0"/>
          </a:p>
        </p:txBody>
      </p:sp>
      <p:sp>
        <p:nvSpPr>
          <p:cNvPr id="59" name="Text 19"/>
          <p:cNvSpPr/>
          <p:nvPr/>
        </p:nvSpPr>
        <p:spPr>
          <a:xfrm>
            <a:off x="8639810" y="3272155"/>
            <a:ext cx="1715135" cy="61912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TRUST TREND</a:t>
            </a:r>
            <a:endParaRPr lang="en-US" sz="1275" dirty="0"/>
          </a:p>
        </p:txBody>
      </p:sp>
      <p:sp>
        <p:nvSpPr>
          <p:cNvPr id="60" name="Text 20"/>
          <p:cNvSpPr/>
          <p:nvPr/>
        </p:nvSpPr>
        <p:spPr>
          <a:xfrm>
            <a:off x="10123805" y="3272155"/>
            <a:ext cx="2438400" cy="61912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INSPECTION HISTORY</a:t>
            </a:r>
            <a:endParaRPr lang="en-US" sz="127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" name="Shape 34"/>
          <p:cNvSpPr/>
          <p:nvPr/>
        </p:nvSpPr>
        <p:spPr>
          <a:xfrm>
            <a:off x="6158805" y="7124700"/>
            <a:ext cx="5970389" cy="647700"/>
          </a:xfrm>
          <a:prstGeom prst="rect">
            <a:avLst/>
          </a:prstGeom>
          <a:solidFill>
            <a:srgbClr val="09101C">
              <a:alpha val="80000"/>
            </a:srgbClr>
          </a:solidFill>
          <a:ln w="9525">
            <a:solidFill>
              <a:srgbClr val="BEE0FC">
                <a:alpha val="82000"/>
              </a:srgbClr>
            </a:solidFill>
            <a:prstDash val="solid"/>
          </a:ln>
          <a:effectLst>
            <a:outerShdw blurRad="285750" dist="50800" dir="16200000" algn="bl" rotWithShape="0">
              <a:srgbClr val="6FC3F0">
                <a:alpha val="18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8221414" y="7886700"/>
            <a:ext cx="305842" cy="209550"/>
          </a:xfrm>
          <a:prstGeom prst="rect">
            <a:avLst/>
          </a:prstGeom>
          <a:ln w="9525">
            <a:solidFill>
              <a:srgbClr val="96C3EB">
                <a:alpha val="4200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310897" y="7886700"/>
            <a:ext cx="164976" cy="1905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1050" b="1" kern="0" spc="357" dirty="0">
                <a:solidFill>
                  <a:srgbClr val="6FC3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8475690" y="7886700"/>
            <a:ext cx="1693262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1050" kern="0" spc="357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HOLD TO ACT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5988025" y="9296400"/>
            <a:ext cx="6943145" cy="2381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kern="0" spc="408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COMPANION UNIT ·</a:t>
            </a:r>
            <a:r>
              <a:rPr lang="en-US" sz="1200" b="1" kern="0" spc="408" dirty="0">
                <a:solidFill>
                  <a:srgbClr val="6FC3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FIRST PERSON</a:t>
            </a:r>
            <a:r>
              <a:rPr lang="en-US" sz="1200" kern="0" spc="408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· MONITORING MODE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Shape 4"/>
          <p:cNvSpPr/>
          <p:nvPr/>
        </p:nvSpPr>
        <p:spPr>
          <a:xfrm>
            <a:off x="5524500" y="3338513"/>
            <a:ext cx="7239000" cy="3609975"/>
          </a:xfrm>
          <a:prstGeom prst="rect">
            <a:avLst/>
          </a:prstGeom>
          <a:gradFill rotWithShape="1">
            <a:gsLst>
              <a:gs pos="0">
                <a:srgbClr val="FF9691">
                  <a:alpha val="12000"/>
                </a:srgbClr>
              </a:gs>
              <a:gs pos="56000">
                <a:srgbClr val="FF9691">
                  <a:alpha val="0"/>
                </a:srgbClr>
              </a:gs>
            </a:gsLst>
            <a:path path="circle">
              <a:fillToRect l="50000" r="50000" b="100000"/>
            </a:path>
          </a:gradFill>
        </p:spPr>
      </p:sp>
      <p:sp>
        <p:nvSpPr>
          <p:cNvPr id="7" name="Shape 5"/>
          <p:cNvSpPr/>
          <p:nvPr/>
        </p:nvSpPr>
        <p:spPr>
          <a:xfrm>
            <a:off x="5524500" y="3929063"/>
            <a:ext cx="7239000" cy="9525"/>
          </a:xfrm>
          <a:prstGeom prst="rect">
            <a:avLst/>
          </a:prstGeom>
          <a:solidFill>
            <a:srgbClr val="E0524D">
              <a:alpha val="40000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5791200" y="3590925"/>
            <a:ext cx="85725" cy="85725"/>
          </a:xfrm>
          <a:prstGeom prst="ellipse">
            <a:avLst/>
          </a:prstGeom>
          <a:solidFill>
            <a:srgbClr val="E0524D">
              <a:alpha val="73000"/>
            </a:srgbClr>
          </a:solidFill>
          <a:effectLst>
            <a:outerShdw blurRad="114300" dist="50800" dir="16200000" algn="bl" rotWithShape="0">
              <a:srgbClr val="E0524D">
                <a:alpha val="72718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810250" y="6091238"/>
            <a:ext cx="3257550" cy="571500"/>
          </a:xfrm>
          <a:prstGeom prst="rect">
            <a:avLst/>
          </a:prstGeom>
          <a:gradFill rotWithShape="1">
            <a:gsLst>
              <a:gs pos="0">
                <a:srgbClr val="E0524D">
                  <a:alpha val="22000"/>
                </a:srgbClr>
              </a:gs>
              <a:gs pos="100000">
                <a:srgbClr val="E0524D">
                  <a:alpha val="6000"/>
                </a:srgbClr>
              </a:gs>
            </a:gsLst>
            <a:lin ang="5400000" scaled="0"/>
          </a:gradFill>
          <a:ln w="9525">
            <a:solidFill>
              <a:srgbClr val="E0524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220200" y="6091238"/>
            <a:ext cx="3257550" cy="571500"/>
          </a:xfrm>
          <a:prstGeom prst="rect">
            <a:avLst/>
          </a:prstGeom>
          <a:solidFill>
            <a:srgbClr val="78AADC">
              <a:alpha val="5000"/>
            </a:srgbClr>
          </a:solidFill>
          <a:ln w="9525">
            <a:solidFill>
              <a:srgbClr val="96C3EB">
                <a:alpha val="42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Shape 6"/>
          <p:cNvSpPr/>
          <p:nvPr/>
        </p:nvSpPr>
        <p:spPr>
          <a:xfrm>
            <a:off x="533400" y="1600200"/>
            <a:ext cx="3331210" cy="1524000"/>
          </a:xfrm>
          <a:prstGeom prst="rect">
            <a:avLst/>
          </a:prstGeom>
          <a:gradFill rotWithShape="1">
            <a:gsLst>
              <a:gs pos="0">
                <a:srgbClr val="C0E2FF">
                  <a:alpha val="12000"/>
                </a:srgbClr>
              </a:gs>
              <a:gs pos="56000">
                <a:srgbClr val="C0E2FF">
                  <a:alpha val="0"/>
                </a:srgbClr>
              </a:gs>
            </a:gsLst>
            <a:path path="circle">
              <a:fillToRect l="50000" r="50000" b="100000"/>
            </a:path>
          </a:gradFill>
        </p:spPr>
      </p:sp>
      <p:sp>
        <p:nvSpPr>
          <p:cNvPr id="9" name="Shape 7"/>
          <p:cNvSpPr/>
          <p:nvPr/>
        </p:nvSpPr>
        <p:spPr>
          <a:xfrm>
            <a:off x="609600" y="1676400"/>
            <a:ext cx="2705100" cy="457200"/>
          </a:xfrm>
          <a:prstGeom prst="rect">
            <a:avLst/>
          </a:prstGeom>
          <a:solidFill>
            <a:srgbClr val="6FC3F0">
              <a:alpha val="10000"/>
            </a:srgbClr>
          </a:solidFill>
        </p:spPr>
      </p:sp>
      <p:sp>
        <p:nvSpPr>
          <p:cNvPr id="10" name="Text 8"/>
          <p:cNvSpPr/>
          <p:nvPr/>
        </p:nvSpPr>
        <p:spPr>
          <a:xfrm>
            <a:off x="998855" y="1800225"/>
            <a:ext cx="1953260" cy="2476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127" dirty="0">
                <a:solidFill>
                  <a:srgbClr val="A9E2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TODAY’S ROUNDS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998855" y="2257425"/>
            <a:ext cx="2477135" cy="2476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127" dirty="0">
                <a:solidFill>
                  <a:srgbClr val="97B2C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DISPOSITION HISTORY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998855" y="2714625"/>
            <a:ext cx="2052955" cy="2476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127" dirty="0">
                <a:solidFill>
                  <a:srgbClr val="97B2C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SYSTEM SETTINGS</a:t>
            </a:r>
            <a:endParaRPr lang="en-US" sz="127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33301" y="494356"/>
            <a:ext cx="85700" cy="85700"/>
          </a:xfrm>
          <a:prstGeom prst="ellipse">
            <a:avLst/>
          </a:prstGeom>
          <a:solidFill>
            <a:srgbClr val="E0524D">
              <a:alpha val="86000"/>
            </a:srgbClr>
          </a:solidFill>
          <a:effectLst>
            <a:outerShdw blurRad="114300" dist="50800" dir="16200000" algn="bl" rotWithShape="0">
              <a:srgbClr val="E0524D">
                <a:alpha val="85916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04701" y="438048"/>
            <a:ext cx="2599829" cy="236539"/>
          </a:xfrm>
          <a:prstGeom prst="rect">
            <a:avLst/>
          </a:prstGeom>
          <a:noFill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7B2C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ALERT · PENDING REVIEW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33301" y="703087"/>
            <a:ext cx="2964532" cy="323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7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50" kern="0" spc="270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MIA · 7842</a:t>
            </a:r>
            <a:endParaRPr lang="en-US" sz="22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Shape 6"/>
          <p:cNvSpPr/>
          <p:nvPr/>
        </p:nvSpPr>
        <p:spPr>
          <a:xfrm>
            <a:off x="8229575" y="3097606"/>
            <a:ext cx="4953000" cy="4091781"/>
          </a:xfrm>
          <a:prstGeom prst="rect">
            <a:avLst/>
          </a:prstGeom>
          <a:gradFill rotWithShape="1">
            <a:gsLst>
              <a:gs pos="0">
                <a:srgbClr val="FF9691">
                  <a:alpha val="16000"/>
                </a:srgbClr>
              </a:gs>
              <a:gs pos="56000">
                <a:srgbClr val="FF9691">
                  <a:alpha val="0"/>
                </a:srgbClr>
              </a:gs>
            </a:gsLst>
            <a:path path="circle">
              <a:fillToRect l="50000" r="50000" b="100000"/>
            </a:path>
          </a:gradFill>
        </p:spPr>
      </p:sp>
      <p:sp>
        <p:nvSpPr>
          <p:cNvPr id="10" name="Text 7"/>
          <p:cNvSpPr/>
          <p:nvPr/>
        </p:nvSpPr>
        <p:spPr>
          <a:xfrm>
            <a:off x="8496226" y="3326183"/>
            <a:ext cx="4861669" cy="212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252" dirty="0">
                <a:solidFill>
                  <a:srgbClr val="FF7C7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UNIT · 17F-03 · SIDE TERMINAL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496226" y="3557857"/>
            <a:ext cx="4861669" cy="196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 lnSpcReduction="10000"/>
          </a:bodyPr>
          <a:lstStyle/>
          <a:p>
            <a:pPr marL="0" indent="0" algn="l">
              <a:buNone/>
            </a:pPr>
            <a:r>
              <a:rPr lang="en-US" sz="1125" kern="0" spc="68" dirty="0">
                <a:solidFill>
                  <a:srgbClr val="E052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Offline · core services halted</a:t>
            </a:r>
            <a:endParaRPr lang="en-US" sz="1125" dirty="0"/>
          </a:p>
        </p:txBody>
      </p:sp>
      <p:sp>
        <p:nvSpPr>
          <p:cNvPr id="12" name="Shape 9"/>
          <p:cNvSpPr/>
          <p:nvPr/>
        </p:nvSpPr>
        <p:spPr>
          <a:xfrm>
            <a:off x="8496226" y="4481584"/>
            <a:ext cx="4419699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13" name="Text 10"/>
          <p:cNvSpPr/>
          <p:nvPr/>
        </p:nvSpPr>
        <p:spPr>
          <a:xfrm>
            <a:off x="8496226" y="3992687"/>
            <a:ext cx="4861669" cy="1809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kern="0" spc="180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LAST COMMAND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496226" y="4183187"/>
            <a:ext cx="4861669" cy="212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 lnSpcReduction="10000"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Shutdown · long press 5.0s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496226" y="5102197"/>
            <a:ext cx="4419699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16" name="Text 13"/>
          <p:cNvSpPr/>
          <p:nvPr/>
        </p:nvSpPr>
        <p:spPr>
          <a:xfrm>
            <a:off x="8496226" y="4613300"/>
            <a:ext cx="4861669" cy="1809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kern="0" spc="180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ISSUED BY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496226" y="4803800"/>
            <a:ext cx="4861669" cy="212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 lnSpcReduction="10000"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Authorized minor user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496226" y="5722810"/>
            <a:ext cx="4419699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19" name="Text 16"/>
          <p:cNvSpPr/>
          <p:nvPr/>
        </p:nvSpPr>
        <p:spPr>
          <a:xfrm>
            <a:off x="8496226" y="5233913"/>
            <a:ext cx="4861669" cy="1809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kern="0" spc="180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TIMESTAMP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496226" y="5424413"/>
            <a:ext cx="4861669" cy="212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 lnSpcReduction="10000"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22:13:47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496226" y="6343424"/>
            <a:ext cx="4419699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22" name="Text 19"/>
          <p:cNvSpPr/>
          <p:nvPr/>
        </p:nvSpPr>
        <p:spPr>
          <a:xfrm>
            <a:off x="8496226" y="5854526"/>
            <a:ext cx="4861669" cy="1809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kern="0" spc="180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FINAL LOG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8496226" y="6045026"/>
            <a:ext cx="4861669" cy="212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 lnSpcReduction="10000"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FF7C7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“child user inputting maintenance commands”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10861849" y="6522765"/>
            <a:ext cx="2054076" cy="419075"/>
          </a:xfrm>
          <a:prstGeom prst="rect">
            <a:avLst/>
          </a:prstGeom>
          <a:gradFill rotWithShape="1">
            <a:gsLst>
              <a:gs pos="0">
                <a:srgbClr val="E0524D">
                  <a:alpha val="24000"/>
                </a:srgbClr>
              </a:gs>
              <a:gs pos="100000">
                <a:srgbClr val="E0524D">
                  <a:alpha val="8000"/>
                </a:srgbClr>
              </a:gs>
            </a:gsLst>
            <a:lin ang="5400000" scaled="0"/>
          </a:gradFill>
          <a:ln w="7937">
            <a:solidFill>
              <a:srgbClr val="E0524D"/>
            </a:solidFill>
            <a:prstDash val="solid"/>
          </a:ln>
          <a:effectLst>
            <a:outerShdw blurRad="209550" dist="50800" dir="16200000" algn="bl" rotWithShape="0">
              <a:srgbClr val="E0524D">
                <a:alpha val="3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10939883" y="6644925"/>
            <a:ext cx="1533153" cy="212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 lnSpcReduction="10000"/>
          </a:bodyPr>
          <a:lstStyle/>
          <a:p>
            <a:pPr marL="0" indent="0" algn="r">
              <a:buNone/>
            </a:pPr>
            <a:r>
              <a:rPr lang="en-US" sz="1200" b="1" kern="0" spc="168" dirty="0">
                <a:solidFill>
                  <a:srgbClr val="FF7C7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RECALL EVENT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2492086" y="6644925"/>
            <a:ext cx="206425" cy="212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050" b="1" kern="0" spc="168" dirty="0">
                <a:solidFill>
                  <a:srgbClr val="FF7C7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★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8296176" y="7114851"/>
            <a:ext cx="142875" cy="952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28" name="Shape 25"/>
          <p:cNvSpPr/>
          <p:nvPr/>
        </p:nvSpPr>
        <p:spPr>
          <a:xfrm>
            <a:off x="8296176" y="6979913"/>
            <a:ext cx="9525" cy="14287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29" name="Shape 26"/>
          <p:cNvSpPr/>
          <p:nvPr/>
        </p:nvSpPr>
        <p:spPr>
          <a:xfrm>
            <a:off x="12861899" y="6894212"/>
            <a:ext cx="65387" cy="114226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30" name="Shape 27"/>
          <p:cNvSpPr/>
          <p:nvPr/>
        </p:nvSpPr>
        <p:spPr>
          <a:xfrm>
            <a:off x="12923787" y="6894212"/>
            <a:ext cx="65387" cy="114226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31" name="Shape 28"/>
          <p:cNvSpPr/>
          <p:nvPr/>
        </p:nvSpPr>
        <p:spPr>
          <a:xfrm>
            <a:off x="12985674" y="6894212"/>
            <a:ext cx="65387" cy="114226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32" name="Shape 29"/>
          <p:cNvSpPr/>
          <p:nvPr/>
        </p:nvSpPr>
        <p:spPr>
          <a:xfrm>
            <a:off x="12753949" y="3230933"/>
            <a:ext cx="47625" cy="47625"/>
          </a:xfrm>
          <a:prstGeom prst="rect">
            <a:avLst/>
          </a:prstGeom>
          <a:ln w="7937">
            <a:solidFill>
              <a:srgbClr val="BEE0FC">
                <a:alpha val="82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400976" y="2945309"/>
            <a:ext cx="1191047" cy="1571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/>
          </a:bodyPr>
          <a:lstStyle/>
          <a:p>
            <a:pPr marL="0" indent="0" algn="l">
              <a:buNone/>
            </a:pPr>
            <a:r>
              <a:rPr lang="en-US" sz="825" kern="0" spc="182" dirty="0">
                <a:solidFill>
                  <a:srgbClr val="96B4D7">
                    <a:alpha val="32000"/>
                  </a:srgbClr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UNIT · OFFLINE</a:t>
            </a:r>
            <a:endParaRPr lang="en-US" sz="825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Shape 5"/>
          <p:cNvSpPr/>
          <p:nvPr/>
        </p:nvSpPr>
        <p:spPr>
          <a:xfrm>
            <a:off x="7048500" y="2772166"/>
            <a:ext cx="4191000" cy="4742656"/>
          </a:xfrm>
          <a:prstGeom prst="rect">
            <a:avLst/>
          </a:prstGeom>
          <a:gradFill rotWithShape="1">
            <a:gsLst>
              <a:gs pos="0">
                <a:srgbClr val="C0E2FF">
                  <a:alpha val="16000"/>
                </a:srgbClr>
              </a:gs>
              <a:gs pos="56000">
                <a:srgbClr val="C0E2FF">
                  <a:alpha val="0"/>
                </a:srgbClr>
              </a:gs>
            </a:gsLst>
            <a:path path="circle">
              <a:fillToRect l="50000" r="50000" b="100000"/>
            </a:path>
          </a:gradFill>
        </p:spPr>
      </p:sp>
      <p:sp>
        <p:nvSpPr>
          <p:cNvPr id="8" name="Shape 6"/>
          <p:cNvSpPr/>
          <p:nvPr/>
        </p:nvSpPr>
        <p:spPr>
          <a:xfrm>
            <a:off x="7219900" y="2943569"/>
            <a:ext cx="3848199" cy="3048000"/>
          </a:xfrm>
          <a:prstGeom prst="rect">
            <a:avLst/>
          </a:prstGeom>
          <a:gradFill rotWithShape="1">
            <a:gsLst>
              <a:gs pos="0">
                <a:srgbClr val="2E3C54">
                  <a:alpha val="55000"/>
                </a:srgbClr>
              </a:gs>
              <a:gs pos="100000">
                <a:srgbClr val="121C2C">
                  <a:alpha val="72000"/>
                </a:srgbClr>
              </a:gs>
            </a:gsLst>
            <a:lin ang="2700000" scaled="0"/>
          </a:gradFill>
          <a:ln w="7937">
            <a:solidFill>
              <a:srgbClr val="78AADC">
                <a:alpha val="13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84034" y="4396132"/>
            <a:ext cx="1196008" cy="1809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/>
          </a:bodyPr>
          <a:lstStyle/>
          <a:p>
            <a:pPr marL="0" indent="0" algn="l">
              <a:buNone/>
            </a:pPr>
            <a:r>
              <a:rPr lang="en-US" sz="900" kern="0" spc="306" dirty="0">
                <a:solidFill>
                  <a:srgbClr val="96B4D7">
                    <a:alpha val="32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PHOTOGRAPH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214322" y="5761379"/>
            <a:ext cx="807814" cy="165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 lnSpcReduction="20000"/>
          </a:bodyPr>
          <a:lstStyle/>
          <a:p>
            <a:pPr marL="0" indent="0" algn="l">
              <a:buNone/>
            </a:pPr>
            <a:r>
              <a:rPr lang="en-US" sz="900" kern="0" spc="90" dirty="0">
                <a:solidFill>
                  <a:srgbClr val="FFD296">
                    <a:alpha val="60000"/>
                  </a:srgbClr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2026.09.15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219900" y="6143867"/>
            <a:ext cx="3963645" cy="372839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80000"/>
          </a:bodyPr>
          <a:lstStyle/>
          <a:p>
            <a:pPr marL="0" indent="0" algn="l">
              <a:lnSpc>
                <a:spcPct val="185000"/>
              </a:lnSpc>
              <a:buNone/>
            </a:pPr>
            <a:r>
              <a:rPr lang="en-US" sz="1425" kern="0" spc="57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Lily · age 9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7219900" y="6478609"/>
            <a:ext cx="3963645" cy="3200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70000"/>
          </a:bodyPr>
          <a:lstStyle/>
          <a:p>
            <a:pPr marL="0" indent="0" algn="l">
              <a:lnSpc>
                <a:spcPct val="185000"/>
              </a:lnSpc>
              <a:buNone/>
            </a:pPr>
            <a:r>
              <a:rPr lang="en-US" sz="1200" kern="0" spc="24" dirty="0">
                <a:solidFill>
                  <a:srgbClr val="97B2C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Classroom open day · today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219900" y="6760518"/>
            <a:ext cx="3963645" cy="3200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70000"/>
          </a:bodyPr>
          <a:lstStyle/>
          <a:p>
            <a:pPr marL="0" indent="0" algn="l">
              <a:lnSpc>
                <a:spcPct val="185000"/>
              </a:lnSpc>
              <a:buNone/>
            </a:pPr>
            <a:r>
              <a:rPr lang="en-US" sz="1200" kern="0" spc="24" dirty="0">
                <a:solidFill>
                  <a:srgbClr val="97B2C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Front row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219900" y="7042417"/>
            <a:ext cx="3963645" cy="3200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70000"/>
          </a:bodyPr>
          <a:lstStyle/>
          <a:p>
            <a:pPr marL="0" indent="0" algn="l">
              <a:lnSpc>
                <a:spcPct val="185000"/>
              </a:lnSpc>
              <a:buNone/>
            </a:pPr>
            <a:r>
              <a:rPr lang="en-US" sz="1200" kern="0" spc="24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No parent in frame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115101" y="7440287"/>
            <a:ext cx="142875" cy="952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7115101" y="7305349"/>
            <a:ext cx="9525" cy="14287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17" name="Shape 15"/>
          <p:cNvSpPr/>
          <p:nvPr/>
        </p:nvSpPr>
        <p:spPr>
          <a:xfrm>
            <a:off x="10918823" y="7219652"/>
            <a:ext cx="65387" cy="114226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18" name="Shape 16"/>
          <p:cNvSpPr/>
          <p:nvPr/>
        </p:nvSpPr>
        <p:spPr>
          <a:xfrm>
            <a:off x="10980711" y="7219652"/>
            <a:ext cx="65387" cy="114226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19" name="Shape 17"/>
          <p:cNvSpPr/>
          <p:nvPr/>
        </p:nvSpPr>
        <p:spPr>
          <a:xfrm>
            <a:off x="11042599" y="7219652"/>
            <a:ext cx="65387" cy="114226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20" name="Text 18"/>
          <p:cNvSpPr/>
          <p:nvPr/>
        </p:nvSpPr>
        <p:spPr>
          <a:xfrm>
            <a:off x="7219900" y="2619868"/>
            <a:ext cx="1313917" cy="1571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/>
          </a:bodyPr>
          <a:lstStyle/>
          <a:p>
            <a:pPr marL="0" indent="0" algn="l">
              <a:buNone/>
            </a:pPr>
            <a:r>
              <a:rPr lang="en-US" sz="825" kern="0" spc="182" dirty="0">
                <a:solidFill>
                  <a:srgbClr val="96B4D7">
                    <a:alpha val="32000"/>
                  </a:srgbClr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ARCHIVE · STILL</a:t>
            </a:r>
            <a:endParaRPr lang="en-US" sz="825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Shape 5"/>
          <p:cNvSpPr/>
          <p:nvPr/>
        </p:nvSpPr>
        <p:spPr>
          <a:xfrm>
            <a:off x="7048500" y="2772166"/>
            <a:ext cx="4191000" cy="4742656"/>
          </a:xfrm>
          <a:prstGeom prst="rect">
            <a:avLst/>
          </a:prstGeom>
          <a:gradFill rotWithShape="1">
            <a:gsLst>
              <a:gs pos="0">
                <a:srgbClr val="C0E2FF">
                  <a:alpha val="16000"/>
                </a:srgbClr>
              </a:gs>
              <a:gs pos="56000">
                <a:srgbClr val="C0E2FF">
                  <a:alpha val="0"/>
                </a:srgbClr>
              </a:gs>
            </a:gsLst>
            <a:path path="circle">
              <a:fillToRect l="50000" r="50000" b="100000"/>
            </a:path>
          </a:gradFill>
        </p:spPr>
      </p:sp>
      <p:sp>
        <p:nvSpPr>
          <p:cNvPr id="8" name="Shape 6"/>
          <p:cNvSpPr/>
          <p:nvPr/>
        </p:nvSpPr>
        <p:spPr>
          <a:xfrm>
            <a:off x="7219900" y="2943569"/>
            <a:ext cx="3848199" cy="3048000"/>
          </a:xfrm>
          <a:prstGeom prst="rect">
            <a:avLst/>
          </a:prstGeom>
          <a:gradFill rotWithShape="1">
            <a:gsLst>
              <a:gs pos="0">
                <a:srgbClr val="2E3C54">
                  <a:alpha val="55000"/>
                </a:srgbClr>
              </a:gs>
              <a:gs pos="100000">
                <a:srgbClr val="121C2C">
                  <a:alpha val="72000"/>
                </a:srgbClr>
              </a:gs>
            </a:gsLst>
            <a:lin ang="2700000" scaled="0"/>
          </a:gradFill>
          <a:ln w="7937">
            <a:solidFill>
              <a:srgbClr val="78AADC">
                <a:alpha val="13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84034" y="4396132"/>
            <a:ext cx="1196008" cy="1809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/>
          </a:bodyPr>
          <a:lstStyle/>
          <a:p>
            <a:pPr marL="0" indent="0" algn="l">
              <a:buNone/>
            </a:pPr>
            <a:r>
              <a:rPr lang="en-US" sz="900" kern="0" spc="306" dirty="0">
                <a:solidFill>
                  <a:srgbClr val="96B4D7">
                    <a:alpha val="32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PHOTOGRAPH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214322" y="5761379"/>
            <a:ext cx="807814" cy="165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 lnSpcReduction="20000"/>
          </a:bodyPr>
          <a:lstStyle/>
          <a:p>
            <a:pPr marL="0" indent="0" algn="l">
              <a:buNone/>
            </a:pPr>
            <a:r>
              <a:rPr lang="en-US" sz="900" kern="0" spc="90" dirty="0">
                <a:solidFill>
                  <a:srgbClr val="FFD296">
                    <a:alpha val="60000"/>
                  </a:srgbClr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2026.09.15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219900" y="6143867"/>
            <a:ext cx="3963645" cy="372839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80000"/>
          </a:bodyPr>
          <a:lstStyle/>
          <a:p>
            <a:pPr marL="0" indent="0" algn="l">
              <a:lnSpc>
                <a:spcPct val="185000"/>
              </a:lnSpc>
              <a:buNone/>
            </a:pPr>
            <a:r>
              <a:rPr lang="en-US" sz="1425" kern="0" spc="57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Lily · age 9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7219900" y="6478609"/>
            <a:ext cx="3963645" cy="3200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70000"/>
          </a:bodyPr>
          <a:lstStyle/>
          <a:p>
            <a:pPr marL="0" indent="0" algn="l">
              <a:lnSpc>
                <a:spcPct val="185000"/>
              </a:lnSpc>
              <a:buNone/>
            </a:pPr>
            <a:r>
              <a:rPr lang="en-US" sz="1200" kern="0" spc="24" dirty="0">
                <a:solidFill>
                  <a:srgbClr val="97B2C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Classroom open day · today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219900" y="6760518"/>
            <a:ext cx="3963645" cy="3200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70000"/>
          </a:bodyPr>
          <a:lstStyle/>
          <a:p>
            <a:pPr marL="0" indent="0" algn="l">
              <a:lnSpc>
                <a:spcPct val="185000"/>
              </a:lnSpc>
              <a:buNone/>
            </a:pPr>
            <a:r>
              <a:rPr lang="en-US" sz="1200" kern="0" spc="24" dirty="0">
                <a:solidFill>
                  <a:srgbClr val="97B2C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Front row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219900" y="7042417"/>
            <a:ext cx="3963645" cy="3200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70000"/>
          </a:bodyPr>
          <a:lstStyle/>
          <a:p>
            <a:pPr marL="0" indent="0" algn="l">
              <a:lnSpc>
                <a:spcPct val="185000"/>
              </a:lnSpc>
              <a:buNone/>
            </a:pPr>
            <a:r>
              <a:rPr lang="en-US" sz="1200" kern="0" spc="24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No parent in frame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115101" y="7440287"/>
            <a:ext cx="142875" cy="952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7115101" y="7305349"/>
            <a:ext cx="9525" cy="14287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17" name="Shape 15"/>
          <p:cNvSpPr/>
          <p:nvPr/>
        </p:nvSpPr>
        <p:spPr>
          <a:xfrm>
            <a:off x="10918823" y="7219652"/>
            <a:ext cx="65387" cy="114226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18" name="Shape 16"/>
          <p:cNvSpPr/>
          <p:nvPr/>
        </p:nvSpPr>
        <p:spPr>
          <a:xfrm>
            <a:off x="10980711" y="7219652"/>
            <a:ext cx="65387" cy="114226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19" name="Shape 17"/>
          <p:cNvSpPr/>
          <p:nvPr/>
        </p:nvSpPr>
        <p:spPr>
          <a:xfrm>
            <a:off x="11042599" y="7219652"/>
            <a:ext cx="65387" cy="114226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20" name="Text 18"/>
          <p:cNvSpPr/>
          <p:nvPr/>
        </p:nvSpPr>
        <p:spPr>
          <a:xfrm>
            <a:off x="7219900" y="2619868"/>
            <a:ext cx="1313917" cy="1571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/>
          </a:bodyPr>
          <a:lstStyle/>
          <a:p>
            <a:pPr marL="0" indent="0" algn="l">
              <a:buNone/>
            </a:pPr>
            <a:r>
              <a:rPr lang="en-US" sz="825" kern="0" spc="182" dirty="0">
                <a:solidFill>
                  <a:srgbClr val="96B4D7">
                    <a:alpha val="32000"/>
                  </a:srgbClr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ARCHIVE · STILL</a:t>
            </a:r>
            <a:endParaRPr lang="en-US" sz="825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Shape 5"/>
          <p:cNvSpPr/>
          <p:nvPr/>
        </p:nvSpPr>
        <p:spPr>
          <a:xfrm>
            <a:off x="5905500" y="3949024"/>
            <a:ext cx="6477000" cy="2388939"/>
          </a:xfrm>
          <a:prstGeom prst="rect">
            <a:avLst/>
          </a:prstGeom>
          <a:gradFill rotWithShape="1">
            <a:gsLst>
              <a:gs pos="0">
                <a:srgbClr val="C0E2FF">
                  <a:alpha val="16000"/>
                </a:srgbClr>
              </a:gs>
              <a:gs pos="56000">
                <a:srgbClr val="C0E2FF">
                  <a:alpha val="0"/>
                </a:srgbClr>
              </a:gs>
            </a:gsLst>
            <a:path path="circle">
              <a:fillToRect l="50000" r="50000" b="100000"/>
            </a:path>
          </a:gradFill>
        </p:spPr>
      </p:sp>
      <p:sp>
        <p:nvSpPr>
          <p:cNvPr id="8" name="Text 6"/>
          <p:cNvSpPr/>
          <p:nvPr/>
        </p:nvSpPr>
        <p:spPr>
          <a:xfrm>
            <a:off x="6063506" y="4349000"/>
            <a:ext cx="6160988" cy="41116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kern="0" spc="68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Shutdown Companion Unit · Confirm?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6063506" y="4836291"/>
            <a:ext cx="6160988" cy="2444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275" kern="0" spc="26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Standard farewell protocol will run</a:t>
            </a:r>
            <a:endParaRPr lang="en-US" sz="1275" dirty="0"/>
          </a:p>
        </p:txBody>
      </p:sp>
      <p:sp>
        <p:nvSpPr>
          <p:cNvPr id="10" name="Shape 8"/>
          <p:cNvSpPr/>
          <p:nvPr/>
        </p:nvSpPr>
        <p:spPr>
          <a:xfrm>
            <a:off x="6343551" y="5366491"/>
            <a:ext cx="2724299" cy="571500"/>
          </a:xfrm>
          <a:prstGeom prst="rect">
            <a:avLst/>
          </a:prstGeom>
          <a:solidFill>
            <a:srgbClr val="09101C">
              <a:alpha val="84000"/>
            </a:srgbClr>
          </a:solidFill>
          <a:ln w="7937">
            <a:solidFill>
              <a:srgbClr val="BEE0FC">
                <a:alpha val="8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13575" y="5541010"/>
            <a:ext cx="1384300" cy="2603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350" kern="0" spc="135" dirty="0">
                <a:solidFill>
                  <a:srgbClr val="A9E2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CONFIRM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220150" y="5366491"/>
            <a:ext cx="2724299" cy="571500"/>
          </a:xfrm>
          <a:prstGeom prst="rect">
            <a:avLst/>
          </a:prstGeom>
          <a:solidFill>
            <a:srgbClr val="78AADC">
              <a:alpha val="5000"/>
            </a:srgbClr>
          </a:solidFill>
          <a:ln w="7937">
            <a:solidFill>
              <a:srgbClr val="96C3EB">
                <a:alpha val="4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93300" y="5541010"/>
            <a:ext cx="1379220" cy="2603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350" kern="0" spc="135" dirty="0">
                <a:solidFill>
                  <a:srgbClr val="97B2C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CANCEL</a:t>
            </a:r>
            <a:endParaRPr lang="en-US" sz="135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42.5,&quot;left&quot;:495,&quot;top&quot;:333.75,&quot;width&quot;:450}"/>
</p:tagLst>
</file>

<file path=ppt/tags/tag2.xml><?xml version="1.0" encoding="utf-8"?>
<p:tagLst xmlns:p="http://schemas.openxmlformats.org/presentationml/2006/main">
  <p:tag name="KSO_WM_DIAGRAM_VIRTUALLY_FRAME" val="{&quot;height&quot;:142.5,&quot;left&quot;:495,&quot;top&quot;:333.75,&quot;width&quot;:450}"/>
</p:tagLst>
</file>

<file path=ppt/tags/tag3.xml><?xml version="1.0" encoding="utf-8"?>
<p:tagLst xmlns:p="http://schemas.openxmlformats.org/presentationml/2006/main">
  <p:tag name="KSO_WM_DIAGRAM_VIRTUALLY_FRAME" val="{&quot;height&quot;:142.5,&quot;left&quot;:495,&quot;top&quot;:333.75,&quot;width&quot;:450}"/>
</p:tagLst>
</file>

<file path=ppt/tags/tag4.xml><?xml version="1.0" encoding="utf-8"?>
<p:tagLst xmlns:p="http://schemas.openxmlformats.org/presentationml/2006/main">
  <p:tag name="KSO_WM_DIAGRAM_VIRTUALLY_FRAME" val="{&quot;height&quot;:142.5,&quot;left&quot;:495,&quot;top&quot;:333.75,&quot;width&quot;:450}"/>
</p:tagLst>
</file>

<file path=ppt/tags/tag5.xml><?xml version="1.0" encoding="utf-8"?>
<p:tagLst xmlns:p="http://schemas.openxmlformats.org/presentationml/2006/main">
  <p:tag name="KSO_WM_DIAGRAM_VIRTUALLY_FRAME" val="{&quot;height&quot;:142.5,&quot;left&quot;:495,&quot;top&quot;:333.75,&quot;width&quot;:450}"/>
</p:tagLst>
</file>

<file path=ppt/tags/tag6.xml><?xml version="1.0" encoding="utf-8"?>
<p:tagLst xmlns:p="http://schemas.openxmlformats.org/presentationml/2006/main">
  <p:tag name="KSO_WM_DIAGRAM_VIRTUALLY_FRAME" val="{&quot;height&quot;:142.5,&quot;left&quot;:495,&quot;top&quot;:333.75,&quot;width&quot;:450}"/>
</p:tagLst>
</file>

<file path=ppt/tags/tag7.xml><?xml version="1.0" encoding="utf-8"?>
<p:tagLst xmlns:p="http://schemas.openxmlformats.org/presentationml/2006/main">
  <p:tag name="KSO_WM_DIAGRAM_VIRTUALLY_FRAME" val="{&quot;height&quot;:129,&quot;left&quot;:510,&quot;top&quot;:366,&quot;width&quot;:420}"/>
</p:tagLst>
</file>

<file path=ppt/tags/tag8.xml><?xml version="1.0" encoding="utf-8"?>
<p:tagLst xmlns:p="http://schemas.openxmlformats.org/presentationml/2006/main">
  <p:tag name="KSO_WM_DIAGRAM_VIRTUALLY_FRAME" val="{&quot;height&quot;:129,&quot;left&quot;:510,&quot;top&quot;:366,&quot;width&quot;:420}"/>
</p:tagLst>
</file>

<file path=ppt/tags/tag9.xml><?xml version="1.0" encoding="utf-8"?>
<p:tagLst xmlns:p="http://schemas.openxmlformats.org/presentationml/2006/main">
  <p:tag name="KSO_WM_DIAGRAM_VIRTUALLY_FRAME" val="{&quot;height&quot;:129,&quot;left&quot;:510,&quot;top&quot;:366,&quot;width&quot;:420}"/>
</p:tagLst>
</file>

<file path=ppt/tags/tag10.xml><?xml version="1.0" encoding="utf-8"?>
<p:tagLst xmlns:p="http://schemas.openxmlformats.org/presentationml/2006/main">
  <p:tag name="KSO_WM_DIAGRAM_VIRTUALLY_FRAME" val="{&quot;height&quot;:129,&quot;left&quot;:510,&quot;top&quot;:366,&quot;width&quot;:420}"/>
</p:tagLst>
</file>

<file path=ppt/tags/tag11.xml><?xml version="1.0" encoding="utf-8"?>
<p:tagLst xmlns:p="http://schemas.openxmlformats.org/presentationml/2006/main">
  <p:tag name="KSO_WM_DIAGRAM_VIRTUALLY_FRAME" val="{&quot;height&quot;:129,&quot;left&quot;:510,&quot;top&quot;:366,&quot;width&quot;:420}"/>
</p:tagLst>
</file>

<file path=ppt/tags/tag12.xml><?xml version="1.0" encoding="utf-8"?>
<p:tagLst xmlns:p="http://schemas.openxmlformats.org/presentationml/2006/main">
  <p:tag name="KSO_WM_DIAGRAM_VIRTUALLY_FRAME" val="{&quot;height&quot;:129,&quot;left&quot;:510,&quot;top&quot;:366,&quot;width&quot;:420}"/>
</p:tagLst>
</file>

<file path=ppt/tags/tag13.xml><?xml version="1.0" encoding="utf-8"?>
<p:tagLst xmlns:p="http://schemas.openxmlformats.org/presentationml/2006/main">
  <p:tag name="KSO_WM_DIAGRAM_VIRTUALLY_FRAME" val="{&quot;height&quot;:129,&quot;left&quot;:510,&quot;top&quot;:366,&quot;width&quot;:420}"/>
</p:tagLst>
</file>

<file path=ppt/tags/tag14.xml><?xml version="1.0" encoding="utf-8"?>
<p:tagLst xmlns:p="http://schemas.openxmlformats.org/presentationml/2006/main">
  <p:tag name="KSO_WM_DIAGRAM_VIRTUALLY_FRAME" val="{&quot;height&quot;:129,&quot;left&quot;:510,&quot;top&quot;:366,&quot;width&quot;:420}"/>
</p:tagLst>
</file>

<file path=ppt/tags/tag15.xml><?xml version="1.0" encoding="utf-8"?>
<p:tagLst xmlns:p="http://schemas.openxmlformats.org/presentationml/2006/main">
  <p:tag name="KSO_WM_DIAGRAM_VIRTUALLY_FRAME" val="{&quot;height&quot;:129,&quot;left&quot;:510,&quot;top&quot;:366,&quot;width&quot;:420}"/>
</p:tagLst>
</file>

<file path=ppt/tags/tag16.xml><?xml version="1.0" encoding="utf-8"?>
<p:tagLst xmlns:p="http://schemas.openxmlformats.org/presentationml/2006/main">
  <p:tag name="KSO_WM_DIAGRAM_VIRTUALLY_FRAME" val="{&quot;height&quot;:129,&quot;left&quot;:510,&quot;top&quot;:366,&quot;width&quot;:420}"/>
</p:tagLst>
</file>

<file path=ppt/tags/tag17.xml><?xml version="1.0" encoding="utf-8"?>
<p:tagLst xmlns:p="http://schemas.openxmlformats.org/presentationml/2006/main">
  <p:tag name="KSO_WM_DIAGRAM_VIRTUALLY_FRAME" val="{&quot;height&quot;:129,&quot;left&quot;:510,&quot;top&quot;:366,&quot;width&quot;:420}"/>
</p:tagLst>
</file>

<file path=ppt/tags/tag18.xml><?xml version="1.0" encoding="utf-8"?>
<p:tagLst xmlns:p="http://schemas.openxmlformats.org/presentationml/2006/main">
  <p:tag name="KSO_WM_DIAGRAM_VIRTUALLY_FRAME" val="{&quot;height&quot;:129,&quot;left&quot;:510,&quot;top&quot;:366,&quot;width&quot;:420}"/>
</p:tagLst>
</file>

<file path=ppt/tags/tag19.xml><?xml version="1.0" encoding="utf-8"?>
<p:tagLst xmlns:p="http://schemas.openxmlformats.org/presentationml/2006/main">
  <p:tag name="KSO_WM_DIAGRAM_VIRTUALLY_FRAME" val="{&quot;height&quot;:142.5,&quot;left&quot;:495,&quot;top&quot;:333.75,&quot;width&quot;:450}"/>
</p:tagLst>
</file>

<file path=ppt/tags/tag20.xml><?xml version="1.0" encoding="utf-8"?>
<p:tagLst xmlns:p="http://schemas.openxmlformats.org/presentationml/2006/main">
  <p:tag name="KSO_WM_DIAGRAM_VIRTUALLY_FRAME" val="{&quot;height&quot;:142.5,&quot;left&quot;:495,&quot;top&quot;:333.75,&quot;width&quot;:450}"/>
</p:tagLst>
</file>

<file path=ppt/tags/tag21.xml><?xml version="1.0" encoding="utf-8"?>
<p:tagLst xmlns:p="http://schemas.openxmlformats.org/presentationml/2006/main">
  <p:tag name="KSO_WM_DIAGRAM_VIRTUALLY_FRAME" val="{&quot;height&quot;:142.5,&quot;left&quot;:495,&quot;top&quot;:333.75,&quot;width&quot;:450}"/>
</p:tagLst>
</file>

<file path=ppt/tags/tag22.xml><?xml version="1.0" encoding="utf-8"?>
<p:tagLst xmlns:p="http://schemas.openxmlformats.org/presentationml/2006/main">
  <p:tag name="KSO_WM_DIAGRAM_VIRTUALLY_FRAME" val="{&quot;height&quot;:142.5,&quot;left&quot;:495,&quot;top&quot;:333.75,&quot;width&quot;:450}"/>
</p:tagLst>
</file>

<file path=ppt/tags/tag23.xml><?xml version="1.0" encoding="utf-8"?>
<p:tagLst xmlns:p="http://schemas.openxmlformats.org/presentationml/2006/main">
  <p:tag name="KSO_WM_DIAGRAM_VIRTUALLY_FRAME" val="{&quot;height&quot;:142.5,&quot;left&quot;:495,&quot;top&quot;:333.75,&quot;width&quot;:450}"/>
</p:tagLst>
</file>

<file path=ppt/tags/tag24.xml><?xml version="1.0" encoding="utf-8"?>
<p:tagLst xmlns:p="http://schemas.openxmlformats.org/presentationml/2006/main">
  <p:tag name="KSO_WM_DIAGRAM_VIRTUALLY_FRAME" val="{&quot;height&quot;:142.5,&quot;left&quot;:495,&quot;top&quot;:333.75,&quot;width&quot;:450}"/>
</p:tagLst>
</file>

<file path=ppt/tags/tag25.xml><?xml version="1.0" encoding="utf-8"?>
<p:tagLst xmlns:p="http://schemas.openxmlformats.org/presentationml/2006/main">
  <p:tag name="KSO_WM_DIAGRAM_VIRTUALLY_FRAME" val="{&quot;height&quot;:129,&quot;left&quot;:510,&quot;top&quot;:366,&quot;width&quot;:420}"/>
</p:tagLst>
</file>

<file path=ppt/tags/tag26.xml><?xml version="1.0" encoding="utf-8"?>
<p:tagLst xmlns:p="http://schemas.openxmlformats.org/presentationml/2006/main">
  <p:tag name="KSO_WM_DIAGRAM_VIRTUALLY_FRAME" val="{&quot;height&quot;:129,&quot;left&quot;:510,&quot;top&quot;:366,&quot;width&quot;:420}"/>
</p:tagLst>
</file>

<file path=ppt/tags/tag27.xml><?xml version="1.0" encoding="utf-8"?>
<p:tagLst xmlns:p="http://schemas.openxmlformats.org/presentationml/2006/main">
  <p:tag name="KSO_WM_DIAGRAM_VIRTUALLY_FRAME" val="{&quot;height&quot;:129,&quot;left&quot;:510,&quot;top&quot;:366,&quot;width&quot;:420}"/>
</p:tagLst>
</file>

<file path=ppt/tags/tag28.xml><?xml version="1.0" encoding="utf-8"?>
<p:tagLst xmlns:p="http://schemas.openxmlformats.org/presentationml/2006/main">
  <p:tag name="KSO_WM_DIAGRAM_VIRTUALLY_FRAME" val="{&quot;height&quot;:129,&quot;left&quot;:510,&quot;top&quot;:366,&quot;width&quot;:420}"/>
</p:tagLst>
</file>

<file path=ppt/tags/tag29.xml><?xml version="1.0" encoding="utf-8"?>
<p:tagLst xmlns:p="http://schemas.openxmlformats.org/presentationml/2006/main">
  <p:tag name="KSO_WM_DIAGRAM_VIRTUALLY_FRAME" val="{&quot;height&quot;:129,&quot;left&quot;:510,&quot;top&quot;:366,&quot;width&quot;:420}"/>
</p:tagLst>
</file>

<file path=ppt/tags/tag30.xml><?xml version="1.0" encoding="utf-8"?>
<p:tagLst xmlns:p="http://schemas.openxmlformats.org/presentationml/2006/main">
  <p:tag name="KSO_WM_DIAGRAM_VIRTUALLY_FRAME" val="{&quot;height&quot;:129,&quot;left&quot;:510,&quot;top&quot;:366,&quot;width&quot;:420}"/>
</p:tagLst>
</file>

<file path=ppt/tags/tag31.xml><?xml version="1.0" encoding="utf-8"?>
<p:tagLst xmlns:p="http://schemas.openxmlformats.org/presentationml/2006/main">
  <p:tag name="KSO_WM_DIAGRAM_VIRTUALLY_FRAME" val="{&quot;height&quot;:129,&quot;left&quot;:510,&quot;top&quot;:366,&quot;width&quot;:420}"/>
</p:tagLst>
</file>

<file path=ppt/tags/tag32.xml><?xml version="1.0" encoding="utf-8"?>
<p:tagLst xmlns:p="http://schemas.openxmlformats.org/presentationml/2006/main">
  <p:tag name="KSO_WM_DIAGRAM_VIRTUALLY_FRAME" val="{&quot;height&quot;:129,&quot;left&quot;:510,&quot;top&quot;:366,&quot;width&quot;:420}"/>
</p:tagLst>
</file>

<file path=ppt/tags/tag33.xml><?xml version="1.0" encoding="utf-8"?>
<p:tagLst xmlns:p="http://schemas.openxmlformats.org/presentationml/2006/main">
  <p:tag name="KSO_WM_DIAGRAM_VIRTUALLY_FRAME" val="{&quot;height&quot;:129,&quot;left&quot;:510,&quot;top&quot;:366,&quot;width&quot;:420}"/>
</p:tagLst>
</file>

<file path=ppt/tags/tag34.xml><?xml version="1.0" encoding="utf-8"?>
<p:tagLst xmlns:p="http://schemas.openxmlformats.org/presentationml/2006/main">
  <p:tag name="KSO_WM_DIAGRAM_VIRTUALLY_FRAME" val="{&quot;height&quot;:129,&quot;left&quot;:510,&quot;top&quot;:366,&quot;width&quot;:420}"/>
</p:tagLst>
</file>

<file path=ppt/tags/tag35.xml><?xml version="1.0" encoding="utf-8"?>
<p:tagLst xmlns:p="http://schemas.openxmlformats.org/presentationml/2006/main">
  <p:tag name="KSO_WM_DIAGRAM_VIRTUALLY_FRAME" val="{&quot;height&quot;:129,&quot;left&quot;:510,&quot;top&quot;:366,&quot;width&quot;:420}"/>
</p:tagLst>
</file>

<file path=ppt/tags/tag36.xml><?xml version="1.0" encoding="utf-8"?>
<p:tagLst xmlns:p="http://schemas.openxmlformats.org/presentationml/2006/main">
  <p:tag name="KSO_WM_DIAGRAM_VIRTUALLY_FRAME" val="{&quot;height&quot;:129,&quot;left&quot;:510,&quot;top&quot;:366,&quot;width&quot;:420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11447</Words>
  <Application>WPS 演示</Application>
  <PresentationFormat>On-screen Show (16:9)</PresentationFormat>
  <Paragraphs>1190</Paragraphs>
  <Slides>40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56" baseType="lpstr">
      <vt:lpstr>Arial</vt:lpstr>
      <vt:lpstr>宋体</vt:lpstr>
      <vt:lpstr>Wingdings</vt:lpstr>
      <vt:lpstr>Arial</vt:lpstr>
      <vt:lpstr>Arial</vt:lpstr>
      <vt:lpstr>Courier New</vt:lpstr>
      <vt:lpstr>Courier New</vt:lpstr>
      <vt:lpstr>Courier New</vt:lpstr>
      <vt:lpstr>Helvetica</vt:lpstr>
      <vt:lpstr>Helvetica</vt:lpstr>
      <vt:lpstr>Helvetica</vt:lpstr>
      <vt:lpstr>Calibri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蔡秉颐</cp:lastModifiedBy>
  <cp:revision>21</cp:revision>
  <dcterms:created xsi:type="dcterms:W3CDTF">2026-06-20T10:11:00Z</dcterms:created>
  <dcterms:modified xsi:type="dcterms:W3CDTF">2026-06-25T16:01:24Z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4506D71803CD4005AB529092B6B4CAEF_12</vt:lpwstr>
  </property>
  <property fmtid="{D5CDD505-2E9C-101B-9397-08002B2CF9AE}" pid="3" name="KSOProductBuildVer">
    <vt:lpwstr>2052-12.1.0.23542</vt:lpwstr>
  </property>
</Properties>
</file>